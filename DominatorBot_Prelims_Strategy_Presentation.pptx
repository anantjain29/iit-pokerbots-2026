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8" r:id="rId3"/>
    <p:sldId id="259" r:id="rId4"/>
    <p:sldId id="260" r:id="rId5"/>
    <p:sldId id="261" r:id="rId6"/>
    <p:sldId id="262" r:id="rId7"/>
    <p:sldId id="263" r:id="rId8"/>
    <p:sldId id="281" r:id="rId9"/>
    <p:sldId id="282" r:id="rId10"/>
    <p:sldId id="265" r:id="rId11"/>
    <p:sldId id="266" r:id="rId12"/>
    <p:sldId id="267" r:id="rId13"/>
    <p:sldId id="280" r:id="rId14"/>
    <p:sldId id="278" r:id="rId15"/>
    <p:sldId id="277" r:id="rId16"/>
    <p:sldId id="275" r:id="rId17"/>
    <p:sldId id="276" r:id="rId18"/>
    <p:sldId id="279" r:id="rId19"/>
    <p:sldId id="272" r:id="rId20"/>
    <p:sldId id="268"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899F"/>
    <a:srgbClr val="E56B6B"/>
    <a:srgbClr val="A18A73"/>
    <a:srgbClr val="3B82F6"/>
    <a:srgbClr val="A78BFA"/>
    <a:srgbClr val="44A57A"/>
    <a:srgbClr val="0D1B2A"/>
    <a:srgbClr val="9299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t Jain" userId="431c6d27404576ea" providerId="LiveId" clId="{ACB5C4F7-F03C-4477-8575-F2664A86C4F3}"/>
    <pc:docChg chg="undo redo custSel addSld delSld modSld sldOrd">
      <pc:chgData name="Anant Jain" userId="431c6d27404576ea" providerId="LiveId" clId="{ACB5C4F7-F03C-4477-8575-F2664A86C4F3}" dt="2026-06-18T21:12:53.473" v="1414" actId="20577"/>
      <pc:docMkLst>
        <pc:docMk/>
      </pc:docMkLst>
      <pc:sldChg chg="modSp mod">
        <pc:chgData name="Anant Jain" userId="431c6d27404576ea" providerId="LiveId" clId="{ACB5C4F7-F03C-4477-8575-F2664A86C4F3}" dt="2026-06-18T21:12:17.049" v="1412" actId="20577"/>
        <pc:sldMkLst>
          <pc:docMk/>
          <pc:sldMk cId="0" sldId="256"/>
        </pc:sldMkLst>
        <pc:spChg chg="mod">
          <ac:chgData name="Anant Jain" userId="431c6d27404576ea" providerId="LiveId" clId="{ACB5C4F7-F03C-4477-8575-F2664A86C4F3}" dt="2026-06-18T21:12:17.049" v="1412" actId="20577"/>
          <ac:spMkLst>
            <pc:docMk/>
            <pc:sldMk cId="0" sldId="256"/>
            <ac:spMk id="18" creationId="{E174AFE4-7297-6A03-1B1F-9DC3EB136849}"/>
          </ac:spMkLst>
        </pc:spChg>
      </pc:sldChg>
      <pc:sldChg chg="modSp mod">
        <pc:chgData name="Anant Jain" userId="431c6d27404576ea" providerId="LiveId" clId="{ACB5C4F7-F03C-4477-8575-F2664A86C4F3}" dt="2026-06-18T21:12:53.473" v="1414" actId="20577"/>
        <pc:sldMkLst>
          <pc:docMk/>
          <pc:sldMk cId="0" sldId="278"/>
        </pc:sldMkLst>
        <pc:spChg chg="mod">
          <ac:chgData name="Anant Jain" userId="431c6d27404576ea" providerId="LiveId" clId="{ACB5C4F7-F03C-4477-8575-F2664A86C4F3}" dt="2026-06-18T21:11:38.013" v="1399" actId="20577"/>
          <ac:spMkLst>
            <pc:docMk/>
            <pc:sldMk cId="0" sldId="278"/>
            <ac:spMk id="4" creationId="{00000000-0000-0000-0000-000000000000}"/>
          </ac:spMkLst>
        </pc:spChg>
        <pc:spChg chg="mod">
          <ac:chgData name="Anant Jain" userId="431c6d27404576ea" providerId="LiveId" clId="{ACB5C4F7-F03C-4477-8575-F2664A86C4F3}" dt="2026-06-18T21:12:53.473" v="1414" actId="20577"/>
          <ac:spMkLst>
            <pc:docMk/>
            <pc:sldMk cId="0" sldId="278"/>
            <ac:spMk id="17" creationId="{00000000-0000-0000-0000-000000000000}"/>
          </ac:spMkLst>
        </pc:spChg>
        <pc:spChg chg="mod">
          <ac:chgData name="Anant Jain" userId="431c6d27404576ea" providerId="LiveId" clId="{ACB5C4F7-F03C-4477-8575-F2664A86C4F3}" dt="2026-06-18T21:11:46.324" v="1409" actId="20577"/>
          <ac:spMkLst>
            <pc:docMk/>
            <pc:sldMk cId="0" sldId="278"/>
            <ac:spMk id="18" creationId="{00000000-0000-0000-0000-000000000000}"/>
          </ac:spMkLst>
        </pc:spChg>
        <pc:spChg chg="mod">
          <ac:chgData name="Anant Jain" userId="431c6d27404576ea" providerId="LiveId" clId="{ACB5C4F7-F03C-4477-8575-F2664A86C4F3}" dt="2026-06-18T21:11:42.327" v="1404" actId="20577"/>
          <ac:spMkLst>
            <pc:docMk/>
            <pc:sldMk cId="0" sldId="278"/>
            <ac:spMk id="4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470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01757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1B2A3B"/>
          </a:solidFill>
          <a:ln w="12700">
            <a:solidFill>
              <a:srgbClr val="1B2A3B"/>
            </a:solidFill>
            <a:prstDash val="solid"/>
          </a:ln>
        </p:spPr>
        <p:txBody>
          <a:bodyPr/>
          <a:lstStyle/>
          <a:p>
            <a:endParaRPr lang="en-IN" dirty="0"/>
          </a:p>
        </p:txBody>
      </p:sp>
      <p:sp>
        <p:nvSpPr>
          <p:cNvPr id="3" name="Shape 1"/>
          <p:cNvSpPr/>
          <p:nvPr/>
        </p:nvSpPr>
        <p:spPr>
          <a:xfrm>
            <a:off x="5623560" y="0"/>
            <a:ext cx="64008" cy="5143500"/>
          </a:xfrm>
          <a:prstGeom prst="rect">
            <a:avLst/>
          </a:prstGeom>
          <a:solidFill>
            <a:srgbClr val="E2A84B"/>
          </a:solidFill>
          <a:ln w="12700">
            <a:solidFill>
              <a:srgbClr val="E2A84B"/>
            </a:solidFill>
            <a:prstDash val="solid"/>
          </a:ln>
        </p:spPr>
        <p:txBody>
          <a:bodyPr/>
          <a:lstStyle/>
          <a:p>
            <a:endParaRPr lang="en-IN" dirty="0"/>
          </a:p>
        </p:txBody>
      </p:sp>
      <p:sp>
        <p:nvSpPr>
          <p:cNvPr id="4" name="Text 2"/>
          <p:cNvSpPr/>
          <p:nvPr/>
        </p:nvSpPr>
        <p:spPr>
          <a:xfrm>
            <a:off x="457200" y="566928"/>
            <a:ext cx="4937760" cy="411480"/>
          </a:xfrm>
          <a:prstGeom prst="rect">
            <a:avLst/>
          </a:prstGeom>
          <a:noFill/>
          <a:ln/>
        </p:spPr>
        <p:txBody>
          <a:bodyPr wrap="square" lIns="0" tIns="0" rIns="0" bIns="0" rtlCol="0" anchor="ctr"/>
          <a:lstStyle/>
          <a:p>
            <a:pPr marL="0" indent="0">
              <a:buNone/>
            </a:pPr>
            <a:r>
              <a:rPr lang="en-US" sz="1100" b="1" kern="0" spc="500" dirty="0">
                <a:solidFill>
                  <a:srgbClr val="E2A84B"/>
                </a:solidFill>
                <a:latin typeface="Calibri" pitchFamily="34" charset="0"/>
                <a:ea typeface="Calibri" pitchFamily="34" charset="-122"/>
                <a:cs typeface="Calibri" pitchFamily="34" charset="-120"/>
              </a:rPr>
              <a:t>IIT POKERBOTS  ·  2026</a:t>
            </a:r>
            <a:endParaRPr lang="en-US" sz="1100" dirty="0"/>
          </a:p>
        </p:txBody>
      </p:sp>
      <p:sp>
        <p:nvSpPr>
          <p:cNvPr id="5" name="Text 3"/>
          <p:cNvSpPr/>
          <p:nvPr/>
        </p:nvSpPr>
        <p:spPr>
          <a:xfrm>
            <a:off x="457200" y="1005840"/>
            <a:ext cx="4937760" cy="822960"/>
          </a:xfrm>
          <a:prstGeom prst="rect">
            <a:avLst/>
          </a:prstGeom>
          <a:noFill/>
          <a:ln/>
        </p:spPr>
        <p:txBody>
          <a:bodyPr wrap="square" lIns="0" tIns="0" rIns="0" bIns="0" rtlCol="0" anchor="ctr"/>
          <a:lstStyle/>
          <a:p>
            <a:pPr marL="0" indent="0">
              <a:buNone/>
            </a:pPr>
            <a:r>
              <a:rPr lang="en-US" sz="3400" b="1" dirty="0">
                <a:solidFill>
                  <a:srgbClr val="F0F4F8"/>
                </a:solidFill>
                <a:latin typeface="Calibri" pitchFamily="34" charset="0"/>
                <a:ea typeface="Calibri" pitchFamily="34" charset="-122"/>
                <a:cs typeface="Calibri" pitchFamily="34" charset="-120"/>
              </a:rPr>
              <a:t>Information Warfare Bot</a:t>
            </a:r>
            <a:endParaRPr lang="en-US" sz="3400" dirty="0"/>
          </a:p>
        </p:txBody>
      </p:sp>
      <p:sp>
        <p:nvSpPr>
          <p:cNvPr id="6" name="Text 4"/>
          <p:cNvSpPr/>
          <p:nvPr/>
        </p:nvSpPr>
        <p:spPr>
          <a:xfrm>
            <a:off x="457200" y="1847088"/>
            <a:ext cx="4937760" cy="548640"/>
          </a:xfrm>
          <a:prstGeom prst="rect">
            <a:avLst/>
          </a:prstGeom>
          <a:noFill/>
          <a:ln/>
        </p:spPr>
        <p:txBody>
          <a:bodyPr wrap="square" lIns="0" tIns="0" rIns="0" bIns="0" rtlCol="0" anchor="ctr"/>
          <a:lstStyle/>
          <a:p>
            <a:pPr marL="0" indent="0">
              <a:buNone/>
            </a:pPr>
            <a:r>
              <a:rPr lang="en-US" sz="2600" i="1" dirty="0">
                <a:solidFill>
                  <a:srgbClr val="1DB8C7"/>
                </a:solidFill>
                <a:latin typeface="Calibri" pitchFamily="34" charset="0"/>
                <a:ea typeface="Calibri" pitchFamily="34" charset="-122"/>
                <a:cs typeface="Calibri" pitchFamily="34" charset="-120"/>
              </a:rPr>
              <a:t>DominatorBot</a:t>
            </a:r>
            <a:endParaRPr lang="en-US" sz="2600" dirty="0"/>
          </a:p>
        </p:txBody>
      </p:sp>
      <p:sp>
        <p:nvSpPr>
          <p:cNvPr id="7" name="Shape 5"/>
          <p:cNvSpPr/>
          <p:nvPr/>
        </p:nvSpPr>
        <p:spPr>
          <a:xfrm>
            <a:off x="457200" y="2468880"/>
            <a:ext cx="3474720" cy="36576"/>
          </a:xfrm>
          <a:prstGeom prst="rect">
            <a:avLst/>
          </a:prstGeom>
          <a:solidFill>
            <a:srgbClr val="E2A84B"/>
          </a:solidFill>
          <a:ln w="12700">
            <a:solidFill>
              <a:srgbClr val="E2A84B"/>
            </a:solidFill>
            <a:prstDash val="solid"/>
          </a:ln>
        </p:spPr>
        <p:txBody>
          <a:bodyPr/>
          <a:lstStyle/>
          <a:p>
            <a:endParaRPr lang="en-IN" dirty="0"/>
          </a:p>
        </p:txBody>
      </p:sp>
      <p:sp>
        <p:nvSpPr>
          <p:cNvPr id="8" name="Text 6"/>
          <p:cNvSpPr/>
          <p:nvPr/>
        </p:nvSpPr>
        <p:spPr>
          <a:xfrm>
            <a:off x="457200" y="2578608"/>
            <a:ext cx="4937760" cy="347472"/>
          </a:xfrm>
          <a:prstGeom prst="rect">
            <a:avLst/>
          </a:prstGeom>
          <a:noFill/>
          <a:ln/>
        </p:spPr>
        <p:txBody>
          <a:bodyPr wrap="square" lIns="0" tIns="0" rIns="0" bIns="0" rtlCol="0" anchor="ctr"/>
          <a:lstStyle/>
          <a:p>
            <a:pPr marL="0" indent="0">
              <a:buNone/>
            </a:pPr>
            <a:r>
              <a:rPr lang="en-US" sz="1300" dirty="0">
                <a:solidFill>
                  <a:srgbClr val="9DAFC0"/>
                </a:solidFill>
                <a:latin typeface="Calibri" pitchFamily="34" charset="0"/>
                <a:ea typeface="Calibri" pitchFamily="34" charset="-122"/>
                <a:cs typeface="Calibri" pitchFamily="34" charset="-120"/>
              </a:rPr>
              <a:t>Team NOTATO  ·  IIT Pokerbots 2026</a:t>
            </a:r>
            <a:endParaRPr lang="en-US" sz="1300" dirty="0"/>
          </a:p>
        </p:txBody>
      </p:sp>
      <p:sp>
        <p:nvSpPr>
          <p:cNvPr id="9" name="Shape 7"/>
          <p:cNvSpPr/>
          <p:nvPr/>
        </p:nvSpPr>
        <p:spPr>
          <a:xfrm>
            <a:off x="5989320" y="502920"/>
            <a:ext cx="2816352" cy="1325880"/>
          </a:xfrm>
          <a:prstGeom prst="rect">
            <a:avLst/>
          </a:prstGeom>
          <a:solidFill>
            <a:srgbClr val="243447"/>
          </a:solidFill>
          <a:ln w="12700">
            <a:solidFill>
              <a:srgbClr val="4EBF8E"/>
            </a:solidFill>
            <a:prstDash val="solid"/>
          </a:ln>
          <a:effectLst>
            <a:outerShdw blurRad="101600" dist="38100" dir="8100000" algn="bl" rotWithShape="0">
              <a:srgbClr val="000000">
                <a:alpha val="28000"/>
              </a:srgbClr>
            </a:outerShdw>
          </a:effectLst>
        </p:spPr>
        <p:txBody>
          <a:bodyPr/>
          <a:lstStyle/>
          <a:p>
            <a:endParaRPr lang="en-IN" dirty="0"/>
          </a:p>
        </p:txBody>
      </p:sp>
      <p:sp>
        <p:nvSpPr>
          <p:cNvPr id="10" name="Text 8"/>
          <p:cNvSpPr/>
          <p:nvPr/>
        </p:nvSpPr>
        <p:spPr>
          <a:xfrm>
            <a:off x="5989320" y="612648"/>
            <a:ext cx="2816352" cy="731520"/>
          </a:xfrm>
          <a:prstGeom prst="rect">
            <a:avLst/>
          </a:prstGeom>
          <a:noFill/>
          <a:ln/>
        </p:spPr>
        <p:txBody>
          <a:bodyPr wrap="square" lIns="0" tIns="0" rIns="0" bIns="0" rtlCol="0" anchor="ctr"/>
          <a:lstStyle/>
          <a:p>
            <a:pPr marL="0" indent="0" algn="ctr">
              <a:buNone/>
            </a:pPr>
            <a:r>
              <a:rPr lang="en-US" sz="4200" b="1" dirty="0">
                <a:solidFill>
                  <a:srgbClr val="4EBF8E"/>
                </a:solidFill>
                <a:latin typeface="Calibri" pitchFamily="34" charset="0"/>
                <a:ea typeface="Calibri" pitchFamily="34" charset="-122"/>
                <a:cs typeface="Calibri" pitchFamily="34" charset="-120"/>
              </a:rPr>
              <a:t>1141</a:t>
            </a:r>
            <a:endParaRPr lang="en-US" sz="4200" dirty="0"/>
          </a:p>
        </p:txBody>
      </p:sp>
      <p:sp>
        <p:nvSpPr>
          <p:cNvPr id="11" name="Text 9"/>
          <p:cNvSpPr/>
          <p:nvPr/>
        </p:nvSpPr>
        <p:spPr>
          <a:xfrm>
            <a:off x="5989320" y="1371600"/>
            <a:ext cx="2816352" cy="347472"/>
          </a:xfrm>
          <a:prstGeom prst="rect">
            <a:avLst/>
          </a:prstGeom>
          <a:noFill/>
          <a:ln/>
        </p:spPr>
        <p:txBody>
          <a:bodyPr wrap="square" lIns="0" tIns="0" rIns="0" bIns="0" rtlCol="0" anchor="ctr"/>
          <a:lstStyle/>
          <a:p>
            <a:pPr marL="0" indent="0" algn="ctr">
              <a:buNone/>
            </a:pPr>
            <a:r>
              <a:rPr lang="en-US" sz="1300" dirty="0">
                <a:solidFill>
                  <a:srgbClr val="9DAFC0"/>
                </a:solidFill>
                <a:latin typeface="Calibri" pitchFamily="34" charset="0"/>
                <a:ea typeface="Calibri" pitchFamily="34" charset="-122"/>
                <a:cs typeface="Calibri" pitchFamily="34" charset="-120"/>
              </a:rPr>
              <a:t>Wins</a:t>
            </a:r>
            <a:endParaRPr lang="en-US" sz="1300" dirty="0"/>
          </a:p>
        </p:txBody>
      </p:sp>
      <p:sp>
        <p:nvSpPr>
          <p:cNvPr id="12" name="Shape 10"/>
          <p:cNvSpPr/>
          <p:nvPr/>
        </p:nvSpPr>
        <p:spPr>
          <a:xfrm>
            <a:off x="5989320" y="2011680"/>
            <a:ext cx="2816352" cy="1325880"/>
          </a:xfrm>
          <a:prstGeom prst="rect">
            <a:avLst/>
          </a:prstGeom>
          <a:solidFill>
            <a:srgbClr val="243447"/>
          </a:solidFill>
          <a:ln w="12700">
            <a:solidFill>
              <a:srgbClr val="E05C5C"/>
            </a:solidFill>
            <a:prstDash val="solid"/>
          </a:ln>
          <a:effectLst>
            <a:outerShdw blurRad="101600" dist="38100" dir="8100000" algn="bl" rotWithShape="0">
              <a:srgbClr val="000000">
                <a:alpha val="28000"/>
              </a:srgbClr>
            </a:outerShdw>
          </a:effectLst>
        </p:spPr>
        <p:txBody>
          <a:bodyPr/>
          <a:lstStyle/>
          <a:p>
            <a:endParaRPr lang="en-IN" dirty="0"/>
          </a:p>
        </p:txBody>
      </p:sp>
      <p:sp>
        <p:nvSpPr>
          <p:cNvPr id="13" name="Text 11"/>
          <p:cNvSpPr/>
          <p:nvPr/>
        </p:nvSpPr>
        <p:spPr>
          <a:xfrm>
            <a:off x="5989320" y="2121408"/>
            <a:ext cx="2816352" cy="731520"/>
          </a:xfrm>
          <a:prstGeom prst="rect">
            <a:avLst/>
          </a:prstGeom>
          <a:noFill/>
          <a:ln/>
        </p:spPr>
        <p:txBody>
          <a:bodyPr wrap="square" lIns="0" tIns="0" rIns="0" bIns="0" rtlCol="0" anchor="ctr"/>
          <a:lstStyle/>
          <a:p>
            <a:pPr marL="0" indent="0" algn="ctr">
              <a:buNone/>
            </a:pPr>
            <a:r>
              <a:rPr lang="en-US" sz="4200" b="1" dirty="0">
                <a:solidFill>
                  <a:srgbClr val="E05C5C"/>
                </a:solidFill>
                <a:latin typeface="Calibri" pitchFamily="34" charset="0"/>
                <a:ea typeface="Calibri" pitchFamily="34" charset="-122"/>
                <a:cs typeface="Calibri" pitchFamily="34" charset="-120"/>
              </a:rPr>
              <a:t>316</a:t>
            </a:r>
            <a:endParaRPr lang="en-US" sz="4200" dirty="0"/>
          </a:p>
        </p:txBody>
      </p:sp>
      <p:sp>
        <p:nvSpPr>
          <p:cNvPr id="14" name="Text 12"/>
          <p:cNvSpPr/>
          <p:nvPr/>
        </p:nvSpPr>
        <p:spPr>
          <a:xfrm>
            <a:off x="5989320" y="2880360"/>
            <a:ext cx="2816352" cy="347472"/>
          </a:xfrm>
          <a:prstGeom prst="rect">
            <a:avLst/>
          </a:prstGeom>
          <a:noFill/>
          <a:ln/>
        </p:spPr>
        <p:txBody>
          <a:bodyPr wrap="square" lIns="0" tIns="0" rIns="0" bIns="0" rtlCol="0" anchor="ctr"/>
          <a:lstStyle/>
          <a:p>
            <a:pPr marL="0" indent="0" algn="ctr">
              <a:buNone/>
            </a:pPr>
            <a:r>
              <a:rPr lang="en-US" sz="1300" dirty="0">
                <a:solidFill>
                  <a:srgbClr val="9DAFC0"/>
                </a:solidFill>
                <a:latin typeface="Calibri" pitchFamily="34" charset="0"/>
                <a:ea typeface="Calibri" pitchFamily="34" charset="-122"/>
                <a:cs typeface="Calibri" pitchFamily="34" charset="-120"/>
              </a:rPr>
              <a:t>Losses</a:t>
            </a:r>
            <a:endParaRPr lang="en-US" sz="1300" dirty="0"/>
          </a:p>
        </p:txBody>
      </p:sp>
      <p:sp>
        <p:nvSpPr>
          <p:cNvPr id="15" name="Shape 13"/>
          <p:cNvSpPr/>
          <p:nvPr/>
        </p:nvSpPr>
        <p:spPr>
          <a:xfrm>
            <a:off x="5989320" y="3520440"/>
            <a:ext cx="2816352" cy="1325880"/>
          </a:xfrm>
          <a:prstGeom prst="rect">
            <a:avLst/>
          </a:prstGeom>
          <a:solidFill>
            <a:srgbClr val="243447"/>
          </a:solidFill>
          <a:ln w="12700">
            <a:solidFill>
              <a:srgbClr val="E2A84B"/>
            </a:solidFill>
            <a:prstDash val="solid"/>
          </a:ln>
          <a:effectLst>
            <a:outerShdw blurRad="101600" dist="38100" dir="8100000" algn="bl" rotWithShape="0">
              <a:srgbClr val="000000">
                <a:alpha val="28000"/>
              </a:srgbClr>
            </a:outerShdw>
          </a:effectLst>
        </p:spPr>
        <p:txBody>
          <a:bodyPr/>
          <a:lstStyle/>
          <a:p>
            <a:endParaRPr lang="en-IN" dirty="0"/>
          </a:p>
        </p:txBody>
      </p:sp>
      <p:sp>
        <p:nvSpPr>
          <p:cNvPr id="16" name="Text 14"/>
          <p:cNvSpPr/>
          <p:nvPr/>
        </p:nvSpPr>
        <p:spPr>
          <a:xfrm>
            <a:off x="5989320" y="3630168"/>
            <a:ext cx="2816352" cy="731520"/>
          </a:xfrm>
          <a:prstGeom prst="rect">
            <a:avLst/>
          </a:prstGeom>
          <a:noFill/>
          <a:ln/>
        </p:spPr>
        <p:txBody>
          <a:bodyPr wrap="square" lIns="0" tIns="0" rIns="0" bIns="0" rtlCol="0" anchor="ctr"/>
          <a:lstStyle/>
          <a:p>
            <a:pPr marL="0" indent="0" algn="ctr">
              <a:buNone/>
            </a:pPr>
            <a:r>
              <a:rPr lang="en-US" sz="4200" b="1" dirty="0">
                <a:solidFill>
                  <a:srgbClr val="E2A84B"/>
                </a:solidFill>
                <a:latin typeface="Calibri" pitchFamily="34" charset="0"/>
                <a:ea typeface="Calibri" pitchFamily="34" charset="-122"/>
                <a:cs typeface="Calibri" pitchFamily="34" charset="-120"/>
              </a:rPr>
              <a:t>2nd</a:t>
            </a:r>
            <a:endParaRPr lang="en-US" sz="4200" dirty="0"/>
          </a:p>
        </p:txBody>
      </p:sp>
      <p:sp>
        <p:nvSpPr>
          <p:cNvPr id="17" name="Text 15"/>
          <p:cNvSpPr/>
          <p:nvPr/>
        </p:nvSpPr>
        <p:spPr>
          <a:xfrm>
            <a:off x="5989320" y="4389120"/>
            <a:ext cx="2816352" cy="347472"/>
          </a:xfrm>
          <a:prstGeom prst="rect">
            <a:avLst/>
          </a:prstGeom>
          <a:noFill/>
          <a:ln/>
        </p:spPr>
        <p:txBody>
          <a:bodyPr wrap="square" lIns="0" tIns="0" rIns="0" bIns="0" rtlCol="0" anchor="ctr"/>
          <a:lstStyle/>
          <a:p>
            <a:pPr marL="0" indent="0" algn="ctr">
              <a:buNone/>
            </a:pPr>
            <a:r>
              <a:rPr lang="en-US" sz="1300" dirty="0">
                <a:solidFill>
                  <a:srgbClr val="9DAFC0"/>
                </a:solidFill>
                <a:latin typeface="Calibri" pitchFamily="34" charset="0"/>
                <a:ea typeface="Calibri" pitchFamily="34" charset="-122"/>
                <a:cs typeface="Calibri" pitchFamily="34" charset="-120"/>
              </a:rPr>
              <a:t>Overall - Prelims</a:t>
            </a:r>
            <a:endParaRPr lang="en-US" sz="1300" dirty="0"/>
          </a:p>
        </p:txBody>
      </p:sp>
      <p:sp>
        <p:nvSpPr>
          <p:cNvPr id="18" name="Text 6">
            <a:extLst>
              <a:ext uri="{FF2B5EF4-FFF2-40B4-BE49-F238E27FC236}">
                <a16:creationId xmlns:a16="http://schemas.microsoft.com/office/drawing/2014/main" id="{E174AFE4-7297-6A03-1B1F-9DC3EB136849}"/>
              </a:ext>
            </a:extLst>
          </p:cNvPr>
          <p:cNvSpPr/>
          <p:nvPr/>
        </p:nvSpPr>
        <p:spPr>
          <a:xfrm>
            <a:off x="457200" y="2881231"/>
            <a:ext cx="4937760" cy="347472"/>
          </a:xfrm>
          <a:prstGeom prst="rect">
            <a:avLst/>
          </a:prstGeom>
          <a:noFill/>
          <a:ln/>
        </p:spPr>
        <p:txBody>
          <a:bodyPr wrap="square" lIns="0" tIns="0" rIns="0" bIns="0" rtlCol="0" anchor="ctr"/>
          <a:lstStyle/>
          <a:p>
            <a:pPr marL="0" indent="0">
              <a:buNone/>
            </a:pPr>
            <a:r>
              <a:rPr lang="en-US" sz="1300" dirty="0">
                <a:solidFill>
                  <a:srgbClr val="9DAFC0"/>
                </a:solidFill>
                <a:latin typeface="Calibri" pitchFamily="34" charset="0"/>
                <a:ea typeface="Calibri" pitchFamily="34" charset="-122"/>
                <a:cs typeface="Calibri" pitchFamily="34" charset="-120"/>
              </a:rPr>
              <a:t>Anant Jain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164592"/>
            <a:ext cx="9144000" cy="640080"/>
          </a:xfrm>
          <a:prstGeom prst="rect">
            <a:avLst/>
          </a:prstGeom>
          <a:solidFill>
            <a:srgbClr val="1B2A3B"/>
          </a:solidFill>
          <a:ln w="12700">
            <a:solidFill>
              <a:srgbClr val="1B2A3B"/>
            </a:solidFill>
            <a:prstDash val="solid"/>
          </a:ln>
        </p:spPr>
        <p:txBody>
          <a:bodyPr/>
          <a:lstStyle/>
          <a:p>
            <a:endParaRPr lang="en-IN" dirty="0"/>
          </a:p>
        </p:txBody>
      </p:sp>
      <p:sp>
        <p:nvSpPr>
          <p:cNvPr id="3" name="Shape 1"/>
          <p:cNvSpPr/>
          <p:nvPr/>
        </p:nvSpPr>
        <p:spPr>
          <a:xfrm>
            <a:off x="274320" y="256032"/>
            <a:ext cx="54864" cy="457200"/>
          </a:xfrm>
          <a:prstGeom prst="rect">
            <a:avLst/>
          </a:prstGeom>
          <a:solidFill>
            <a:srgbClr val="E2A84B"/>
          </a:solidFill>
          <a:ln w="12700">
            <a:solidFill>
              <a:srgbClr val="E2A84B"/>
            </a:solidFill>
            <a:prstDash val="solid"/>
          </a:ln>
        </p:spPr>
        <p:txBody>
          <a:bodyPr/>
          <a:lstStyle/>
          <a:p>
            <a:endParaRPr lang="en-IN" dirty="0"/>
          </a:p>
        </p:txBody>
      </p:sp>
      <p:sp>
        <p:nvSpPr>
          <p:cNvPr id="4" name="Text 2"/>
          <p:cNvSpPr/>
          <p:nvPr/>
        </p:nvSpPr>
        <p:spPr>
          <a:xfrm>
            <a:off x="457200" y="256032"/>
            <a:ext cx="8321040" cy="457200"/>
          </a:xfrm>
          <a:prstGeom prst="rect">
            <a:avLst/>
          </a:prstGeom>
          <a:noFill/>
          <a:ln/>
        </p:spPr>
        <p:txBody>
          <a:bodyPr wrap="square" lIns="0" tIns="0" rIns="0" bIns="0" rtlCol="0" anchor="ctr"/>
          <a:lstStyle/>
          <a:p>
            <a:pPr marL="0" indent="0" algn="l">
              <a:buNone/>
            </a:pPr>
            <a:r>
              <a:rPr lang="en-US" sz="2100" b="1" dirty="0">
                <a:solidFill>
                  <a:srgbClr val="F0F4F8"/>
                </a:solidFill>
                <a:latin typeface="Calibri" pitchFamily="34" charset="0"/>
                <a:ea typeface="Calibri" pitchFamily="34" charset="-122"/>
                <a:cs typeface="Calibri" pitchFamily="34" charset="-120"/>
              </a:rPr>
              <a:t>DominatorBot - Architecture Overview</a:t>
            </a:r>
            <a:endParaRPr lang="en-US" sz="2100" dirty="0"/>
          </a:p>
        </p:txBody>
      </p:sp>
      <p:sp>
        <p:nvSpPr>
          <p:cNvPr id="5" name="Text 3"/>
          <p:cNvSpPr/>
          <p:nvPr/>
        </p:nvSpPr>
        <p:spPr>
          <a:xfrm>
            <a:off x="365760" y="960120"/>
            <a:ext cx="8412480" cy="329184"/>
          </a:xfrm>
          <a:prstGeom prst="rect">
            <a:avLst/>
          </a:prstGeom>
          <a:noFill/>
          <a:ln/>
        </p:spPr>
        <p:txBody>
          <a:bodyPr wrap="square" rtlCol="0" anchor="ctr"/>
          <a:lstStyle/>
          <a:p>
            <a:pPr marL="0" indent="0">
              <a:buNone/>
            </a:pPr>
            <a:endParaRPr lang="en-US" sz="1200" dirty="0"/>
          </a:p>
        </p:txBody>
      </p:sp>
      <p:sp>
        <p:nvSpPr>
          <p:cNvPr id="85" name="Shape 8"/>
          <p:cNvSpPr/>
          <p:nvPr/>
        </p:nvSpPr>
        <p:spPr>
          <a:xfrm>
            <a:off x="320040" y="1005840"/>
            <a:ext cx="2148840" cy="256032"/>
          </a:xfrm>
          <a:prstGeom prst="rect">
            <a:avLst/>
          </a:prstGeom>
          <a:solidFill>
            <a:srgbClr val="3B82F6">
              <a:alpha val="25000"/>
            </a:srgbClr>
          </a:solidFill>
          <a:ln w="6350">
            <a:solidFill>
              <a:srgbClr val="3B82F6"/>
            </a:solidFill>
            <a:prstDash val="solid"/>
          </a:ln>
        </p:spPr>
        <p:txBody>
          <a:bodyPr/>
          <a:lstStyle/>
          <a:p>
            <a:endParaRPr lang="en-US" dirty="0"/>
          </a:p>
        </p:txBody>
      </p:sp>
      <p:sp>
        <p:nvSpPr>
          <p:cNvPr id="86" name="Text 9"/>
          <p:cNvSpPr/>
          <p:nvPr/>
        </p:nvSpPr>
        <p:spPr>
          <a:xfrm>
            <a:off x="320040" y="1005840"/>
            <a:ext cx="2148840" cy="256032"/>
          </a:xfrm>
          <a:prstGeom prst="rect">
            <a:avLst/>
          </a:prstGeom>
          <a:noFill/>
          <a:ln/>
        </p:spPr>
        <p:txBody>
          <a:bodyPr wrap="square" lIns="0" tIns="0" rIns="0" bIns="0" rtlCol="0" anchor="ctr"/>
          <a:lstStyle/>
          <a:p>
            <a:pPr marL="0" indent="0" algn="ctr">
              <a:buNone/>
            </a:pPr>
            <a:r>
              <a:rPr lang="en-US" sz="1000" b="1" kern="0" spc="400" dirty="0">
                <a:solidFill>
                  <a:srgbClr val="3B82F6"/>
                </a:solidFill>
                <a:latin typeface="Calibri" pitchFamily="34" charset="0"/>
                <a:ea typeface="Calibri" pitchFamily="34" charset="-122"/>
                <a:cs typeface="Calibri" pitchFamily="34" charset="-120"/>
              </a:rPr>
              <a:t>PERCEIVE</a:t>
            </a:r>
            <a:endParaRPr lang="en-US" sz="1000" dirty="0"/>
          </a:p>
        </p:txBody>
      </p:sp>
      <p:sp>
        <p:nvSpPr>
          <p:cNvPr id="87" name="Shape 10"/>
          <p:cNvSpPr/>
          <p:nvPr/>
        </p:nvSpPr>
        <p:spPr>
          <a:xfrm>
            <a:off x="320040" y="1261872"/>
            <a:ext cx="2148840" cy="2286000"/>
          </a:xfrm>
          <a:prstGeom prst="rect">
            <a:avLst/>
          </a:prstGeom>
          <a:solidFill>
            <a:srgbClr val="131D33"/>
          </a:solidFill>
          <a:ln w="3810">
            <a:solidFill>
              <a:srgbClr val="3B82F6"/>
            </a:solidFill>
            <a:prstDash val="solid"/>
          </a:ln>
        </p:spPr>
        <p:txBody>
          <a:bodyPr/>
          <a:lstStyle/>
          <a:p>
            <a:endParaRPr lang="en-IN"/>
          </a:p>
        </p:txBody>
      </p:sp>
      <p:pic>
        <p:nvPicPr>
          <p:cNvPr id="88" name="Image 0" descr="preencoded.png"/>
          <p:cNvPicPr>
            <a:picLocks noChangeAspect="1"/>
          </p:cNvPicPr>
          <p:nvPr/>
        </p:nvPicPr>
        <p:blipFill>
          <a:blip r:embed="rId3"/>
          <a:stretch>
            <a:fillRect/>
          </a:stretch>
        </p:blipFill>
        <p:spPr>
          <a:xfrm>
            <a:off x="411480" y="1389888"/>
            <a:ext cx="237744" cy="237744"/>
          </a:xfrm>
          <a:prstGeom prst="rect">
            <a:avLst/>
          </a:prstGeom>
        </p:spPr>
      </p:pic>
      <p:sp>
        <p:nvSpPr>
          <p:cNvPr id="89" name="Text 11"/>
          <p:cNvSpPr/>
          <p:nvPr/>
        </p:nvSpPr>
        <p:spPr>
          <a:xfrm>
            <a:off x="704088" y="1371600"/>
            <a:ext cx="16459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Equity engine</a:t>
            </a:r>
            <a:endParaRPr lang="en-US" sz="1150" dirty="0"/>
          </a:p>
        </p:txBody>
      </p:sp>
      <p:sp>
        <p:nvSpPr>
          <p:cNvPr id="90" name="Shape 12"/>
          <p:cNvSpPr/>
          <p:nvPr/>
        </p:nvSpPr>
        <p:spPr>
          <a:xfrm>
            <a:off x="429768" y="1664208"/>
            <a:ext cx="1929384" cy="0"/>
          </a:xfrm>
          <a:prstGeom prst="line">
            <a:avLst/>
          </a:prstGeom>
          <a:noFill/>
          <a:ln w="3810">
            <a:solidFill>
              <a:srgbClr val="475569"/>
            </a:solidFill>
            <a:prstDash val="dash"/>
          </a:ln>
        </p:spPr>
        <p:txBody>
          <a:bodyPr/>
          <a:lstStyle/>
          <a:p>
            <a:endParaRPr lang="en-IN"/>
          </a:p>
        </p:txBody>
      </p:sp>
      <p:sp>
        <p:nvSpPr>
          <p:cNvPr id="91" name="Text 13"/>
          <p:cNvSpPr/>
          <p:nvPr/>
        </p:nvSpPr>
        <p:spPr>
          <a:xfrm>
            <a:off x="429768" y="1700784"/>
            <a:ext cx="1929384" cy="73152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O(1) preflop table lookup</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Adaptive MC (90-650 sims)</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Exhaustive river when opp card known</a:t>
            </a:r>
            <a:endParaRPr lang="en-US" sz="1000" dirty="0"/>
          </a:p>
        </p:txBody>
      </p:sp>
      <p:pic>
        <p:nvPicPr>
          <p:cNvPr id="92" name="Image 1" descr="preencoded.png"/>
          <p:cNvPicPr>
            <a:picLocks noChangeAspect="1"/>
          </p:cNvPicPr>
          <p:nvPr/>
        </p:nvPicPr>
        <p:blipFill>
          <a:blip r:embed="rId4">
            <a:duotone>
              <a:prstClr val="black"/>
              <a:srgbClr val="3B82F6">
                <a:tint val="45000"/>
                <a:satMod val="400000"/>
              </a:srgbClr>
            </a:duotone>
          </a:blip>
          <a:stretch>
            <a:fillRect/>
          </a:stretch>
        </p:blipFill>
        <p:spPr>
          <a:xfrm>
            <a:off x="411480" y="2523744"/>
            <a:ext cx="237744" cy="237744"/>
          </a:xfrm>
          <a:prstGeom prst="rect">
            <a:avLst/>
          </a:prstGeom>
        </p:spPr>
      </p:pic>
      <p:sp>
        <p:nvSpPr>
          <p:cNvPr id="93" name="Text 14"/>
          <p:cNvSpPr/>
          <p:nvPr/>
        </p:nvSpPr>
        <p:spPr>
          <a:xfrm>
            <a:off x="704088" y="2505456"/>
            <a:ext cx="16459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Board analyzer</a:t>
            </a:r>
            <a:endParaRPr lang="en-US" sz="1150" dirty="0"/>
          </a:p>
        </p:txBody>
      </p:sp>
      <p:sp>
        <p:nvSpPr>
          <p:cNvPr id="94" name="Shape 15"/>
          <p:cNvSpPr/>
          <p:nvPr/>
        </p:nvSpPr>
        <p:spPr>
          <a:xfrm>
            <a:off x="429768" y="2798064"/>
            <a:ext cx="1929384" cy="0"/>
          </a:xfrm>
          <a:prstGeom prst="line">
            <a:avLst/>
          </a:prstGeom>
          <a:noFill/>
          <a:ln w="3810">
            <a:solidFill>
              <a:srgbClr val="475569"/>
            </a:solidFill>
            <a:prstDash val="dash"/>
          </a:ln>
        </p:spPr>
        <p:txBody>
          <a:bodyPr/>
          <a:lstStyle/>
          <a:p>
            <a:endParaRPr lang="en-IN"/>
          </a:p>
        </p:txBody>
      </p:sp>
      <p:sp>
        <p:nvSpPr>
          <p:cNvPr id="95" name="Text 16"/>
          <p:cNvSpPr/>
          <p:nvPr/>
        </p:nvSpPr>
        <p:spPr>
          <a:xfrm>
            <a:off x="429768" y="2834640"/>
            <a:ext cx="1929384" cy="73152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Texture: paired · monotone · trips</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17-class hand strength</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OESD / gutshot / flush / combo draws</a:t>
            </a:r>
            <a:endParaRPr lang="en-US" sz="1000" dirty="0"/>
          </a:p>
        </p:txBody>
      </p:sp>
      <p:sp>
        <p:nvSpPr>
          <p:cNvPr id="96" name="Shape 17"/>
          <p:cNvSpPr/>
          <p:nvPr/>
        </p:nvSpPr>
        <p:spPr>
          <a:xfrm>
            <a:off x="2697480" y="1005840"/>
            <a:ext cx="1965960" cy="256032"/>
          </a:xfrm>
          <a:prstGeom prst="rect">
            <a:avLst/>
          </a:prstGeom>
          <a:solidFill>
            <a:srgbClr val="F59E0B">
              <a:alpha val="25000"/>
            </a:srgbClr>
          </a:solidFill>
          <a:ln w="6350">
            <a:solidFill>
              <a:srgbClr val="F59E0B"/>
            </a:solidFill>
            <a:prstDash val="solid"/>
          </a:ln>
        </p:spPr>
        <p:txBody>
          <a:bodyPr/>
          <a:lstStyle/>
          <a:p>
            <a:endParaRPr lang="en-IN"/>
          </a:p>
        </p:txBody>
      </p:sp>
      <p:sp>
        <p:nvSpPr>
          <p:cNvPr id="97" name="Text 18"/>
          <p:cNvSpPr/>
          <p:nvPr/>
        </p:nvSpPr>
        <p:spPr>
          <a:xfrm>
            <a:off x="2697480" y="1005840"/>
            <a:ext cx="1965960" cy="256032"/>
          </a:xfrm>
          <a:prstGeom prst="rect">
            <a:avLst/>
          </a:prstGeom>
          <a:noFill/>
          <a:ln/>
        </p:spPr>
        <p:txBody>
          <a:bodyPr wrap="square" lIns="0" tIns="0" rIns="0" bIns="0" rtlCol="0" anchor="ctr"/>
          <a:lstStyle/>
          <a:p>
            <a:pPr marL="0" indent="0" algn="ctr">
              <a:buNone/>
            </a:pPr>
            <a:r>
              <a:rPr lang="en-US" sz="1000" b="1" kern="0" spc="400" dirty="0">
                <a:solidFill>
                  <a:srgbClr val="F59E0B"/>
                </a:solidFill>
                <a:latin typeface="Calibri" pitchFamily="34" charset="0"/>
                <a:ea typeface="Calibri" pitchFamily="34" charset="-122"/>
                <a:cs typeface="Calibri" pitchFamily="34" charset="-120"/>
              </a:rPr>
              <a:t>AUCTION</a:t>
            </a:r>
            <a:endParaRPr lang="en-US" sz="1000" dirty="0"/>
          </a:p>
        </p:txBody>
      </p:sp>
      <p:sp>
        <p:nvSpPr>
          <p:cNvPr id="98" name="Shape 19"/>
          <p:cNvSpPr/>
          <p:nvPr/>
        </p:nvSpPr>
        <p:spPr>
          <a:xfrm>
            <a:off x="2703830" y="1261872"/>
            <a:ext cx="1965960" cy="2286000"/>
          </a:xfrm>
          <a:prstGeom prst="rect">
            <a:avLst/>
          </a:prstGeom>
          <a:solidFill>
            <a:srgbClr val="131D33"/>
          </a:solidFill>
          <a:ln w="3810">
            <a:solidFill>
              <a:srgbClr val="F59E0B"/>
            </a:solidFill>
            <a:prstDash val="solid"/>
          </a:ln>
        </p:spPr>
        <p:txBody>
          <a:bodyPr/>
          <a:lstStyle/>
          <a:p>
            <a:endParaRPr lang="en-IN" dirty="0"/>
          </a:p>
        </p:txBody>
      </p:sp>
      <p:pic>
        <p:nvPicPr>
          <p:cNvPr id="99" name="Image 2" descr="preencoded.png"/>
          <p:cNvPicPr>
            <a:picLocks noChangeAspect="1"/>
          </p:cNvPicPr>
          <p:nvPr/>
        </p:nvPicPr>
        <p:blipFill>
          <a:blip r:embed="rId5"/>
          <a:stretch>
            <a:fillRect/>
          </a:stretch>
        </p:blipFill>
        <p:spPr>
          <a:xfrm>
            <a:off x="2825496" y="1531620"/>
            <a:ext cx="237744" cy="237744"/>
          </a:xfrm>
          <a:prstGeom prst="rect">
            <a:avLst/>
          </a:prstGeom>
        </p:spPr>
      </p:pic>
      <p:sp>
        <p:nvSpPr>
          <p:cNvPr id="100" name="Text 20"/>
          <p:cNvSpPr/>
          <p:nvPr/>
        </p:nvSpPr>
        <p:spPr>
          <a:xfrm>
            <a:off x="3118104" y="1513332"/>
            <a:ext cx="14630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Sealed bid engine</a:t>
            </a:r>
            <a:endParaRPr lang="en-US" sz="1150" dirty="0"/>
          </a:p>
        </p:txBody>
      </p:sp>
      <p:sp>
        <p:nvSpPr>
          <p:cNvPr id="107" name="Shape 26"/>
          <p:cNvSpPr/>
          <p:nvPr/>
        </p:nvSpPr>
        <p:spPr>
          <a:xfrm>
            <a:off x="4892040" y="1005840"/>
            <a:ext cx="1965960" cy="256032"/>
          </a:xfrm>
          <a:prstGeom prst="rect">
            <a:avLst/>
          </a:prstGeom>
          <a:solidFill>
            <a:srgbClr val="FB7185">
              <a:alpha val="25000"/>
            </a:srgbClr>
          </a:solidFill>
          <a:ln w="6350">
            <a:solidFill>
              <a:srgbClr val="FB7185"/>
            </a:solidFill>
            <a:prstDash val="solid"/>
          </a:ln>
        </p:spPr>
        <p:txBody>
          <a:bodyPr/>
          <a:lstStyle/>
          <a:p>
            <a:endParaRPr lang="en-IN"/>
          </a:p>
        </p:txBody>
      </p:sp>
      <p:sp>
        <p:nvSpPr>
          <p:cNvPr id="108" name="Text 27"/>
          <p:cNvSpPr/>
          <p:nvPr/>
        </p:nvSpPr>
        <p:spPr>
          <a:xfrm>
            <a:off x="4892040" y="1005840"/>
            <a:ext cx="1965960" cy="256032"/>
          </a:xfrm>
          <a:prstGeom prst="rect">
            <a:avLst/>
          </a:prstGeom>
          <a:noFill/>
          <a:ln/>
        </p:spPr>
        <p:txBody>
          <a:bodyPr wrap="square" lIns="0" tIns="0" rIns="0" bIns="0" rtlCol="0" anchor="ctr"/>
          <a:lstStyle/>
          <a:p>
            <a:pPr marL="0" indent="0" algn="ctr">
              <a:buNone/>
            </a:pPr>
            <a:r>
              <a:rPr lang="en-US" sz="1000" b="1" kern="0" spc="400" dirty="0">
                <a:solidFill>
                  <a:srgbClr val="FB7185"/>
                </a:solidFill>
                <a:latin typeface="Calibri" pitchFamily="34" charset="0"/>
                <a:ea typeface="Calibri" pitchFamily="34" charset="-122"/>
                <a:cs typeface="Calibri" pitchFamily="34" charset="-120"/>
              </a:rPr>
              <a:t>ADAPT</a:t>
            </a:r>
            <a:endParaRPr lang="en-US" sz="1000" dirty="0"/>
          </a:p>
        </p:txBody>
      </p:sp>
      <p:sp>
        <p:nvSpPr>
          <p:cNvPr id="109" name="Shape 28"/>
          <p:cNvSpPr/>
          <p:nvPr/>
        </p:nvSpPr>
        <p:spPr>
          <a:xfrm>
            <a:off x="4892040" y="1261872"/>
            <a:ext cx="1965960" cy="2286000"/>
          </a:xfrm>
          <a:prstGeom prst="rect">
            <a:avLst/>
          </a:prstGeom>
          <a:solidFill>
            <a:srgbClr val="131D33"/>
          </a:solidFill>
          <a:ln w="3810">
            <a:solidFill>
              <a:srgbClr val="FB7185"/>
            </a:solidFill>
            <a:prstDash val="solid"/>
          </a:ln>
        </p:spPr>
        <p:txBody>
          <a:bodyPr/>
          <a:lstStyle/>
          <a:p>
            <a:endParaRPr lang="en-IN"/>
          </a:p>
        </p:txBody>
      </p:sp>
      <p:pic>
        <p:nvPicPr>
          <p:cNvPr id="110" name="Image 4" descr="preencoded.png"/>
          <p:cNvPicPr>
            <a:picLocks noChangeAspect="1"/>
          </p:cNvPicPr>
          <p:nvPr/>
        </p:nvPicPr>
        <p:blipFill>
          <a:blip r:embed="rId6"/>
          <a:stretch>
            <a:fillRect/>
          </a:stretch>
        </p:blipFill>
        <p:spPr>
          <a:xfrm>
            <a:off x="4983480" y="1389888"/>
            <a:ext cx="237744" cy="237744"/>
          </a:xfrm>
          <a:prstGeom prst="rect">
            <a:avLst/>
          </a:prstGeom>
        </p:spPr>
      </p:pic>
      <p:sp>
        <p:nvSpPr>
          <p:cNvPr id="111" name="Text 29"/>
          <p:cNvSpPr/>
          <p:nvPr/>
        </p:nvSpPr>
        <p:spPr>
          <a:xfrm>
            <a:off x="5276088" y="1371600"/>
            <a:ext cx="14630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Opponent model</a:t>
            </a:r>
            <a:endParaRPr lang="en-US" sz="1150" dirty="0"/>
          </a:p>
        </p:txBody>
      </p:sp>
      <p:sp>
        <p:nvSpPr>
          <p:cNvPr id="112" name="Shape 30"/>
          <p:cNvSpPr/>
          <p:nvPr/>
        </p:nvSpPr>
        <p:spPr>
          <a:xfrm>
            <a:off x="5001768" y="1664208"/>
            <a:ext cx="1746504" cy="0"/>
          </a:xfrm>
          <a:prstGeom prst="line">
            <a:avLst/>
          </a:prstGeom>
          <a:noFill/>
          <a:ln w="3810">
            <a:solidFill>
              <a:srgbClr val="475569"/>
            </a:solidFill>
            <a:prstDash val="dash"/>
          </a:ln>
        </p:spPr>
        <p:txBody>
          <a:bodyPr/>
          <a:lstStyle/>
          <a:p>
            <a:endParaRPr lang="en-IN"/>
          </a:p>
        </p:txBody>
      </p:sp>
      <p:sp>
        <p:nvSpPr>
          <p:cNvPr id="113" name="Text 31"/>
          <p:cNvSpPr/>
          <p:nvPr/>
        </p:nvSpPr>
        <p:spPr>
          <a:xfrm>
            <a:off x="5001768" y="1700784"/>
            <a:ext cx="1746504" cy="73152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18-hand rolling recalibration</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65/35 recent vs cumulative blend</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Derives: call_scale, aggro_boost</a:t>
            </a:r>
            <a:endParaRPr lang="en-US" sz="1000" dirty="0"/>
          </a:p>
        </p:txBody>
      </p:sp>
      <p:pic>
        <p:nvPicPr>
          <p:cNvPr id="114" name="Image 5" descr="preencoded.png"/>
          <p:cNvPicPr>
            <a:picLocks noChangeAspect="1"/>
          </p:cNvPicPr>
          <p:nvPr/>
        </p:nvPicPr>
        <p:blipFill>
          <a:blip r:embed="rId7"/>
          <a:stretch>
            <a:fillRect/>
          </a:stretch>
        </p:blipFill>
        <p:spPr>
          <a:xfrm>
            <a:off x="4983480" y="2523744"/>
            <a:ext cx="237744" cy="237744"/>
          </a:xfrm>
          <a:prstGeom prst="rect">
            <a:avLst/>
          </a:prstGeom>
        </p:spPr>
      </p:pic>
      <p:sp>
        <p:nvSpPr>
          <p:cNvPr id="115" name="Text 32"/>
          <p:cNvSpPr/>
          <p:nvPr/>
        </p:nvSpPr>
        <p:spPr>
          <a:xfrm>
            <a:off x="5276088" y="2505456"/>
            <a:ext cx="14630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Time management</a:t>
            </a:r>
            <a:endParaRPr lang="en-US" sz="1150" dirty="0"/>
          </a:p>
        </p:txBody>
      </p:sp>
      <p:sp>
        <p:nvSpPr>
          <p:cNvPr id="116" name="Shape 33"/>
          <p:cNvSpPr/>
          <p:nvPr/>
        </p:nvSpPr>
        <p:spPr>
          <a:xfrm>
            <a:off x="5001768" y="2798064"/>
            <a:ext cx="1746504" cy="0"/>
          </a:xfrm>
          <a:prstGeom prst="line">
            <a:avLst/>
          </a:prstGeom>
          <a:noFill/>
          <a:ln w="3810">
            <a:solidFill>
              <a:srgbClr val="475569"/>
            </a:solidFill>
            <a:prstDash val="dash"/>
          </a:ln>
        </p:spPr>
        <p:txBody>
          <a:bodyPr/>
          <a:lstStyle/>
          <a:p>
            <a:endParaRPr lang="en-IN"/>
          </a:p>
        </p:txBody>
      </p:sp>
      <p:sp>
        <p:nvSpPr>
          <p:cNvPr id="117" name="Text 34"/>
          <p:cNvSpPr/>
          <p:nvPr/>
        </p:nvSpPr>
        <p:spPr>
          <a:xfrm>
            <a:off x="5001768" y="2834640"/>
            <a:ext cx="1746504" cy="73152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Scales sim budget to time bank</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Degrades gracefully under pressure</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20s total across 1000 rounds</a:t>
            </a:r>
            <a:endParaRPr lang="en-US" sz="1000" dirty="0"/>
          </a:p>
        </p:txBody>
      </p:sp>
      <p:sp>
        <p:nvSpPr>
          <p:cNvPr id="118" name="Shape 35"/>
          <p:cNvSpPr/>
          <p:nvPr/>
        </p:nvSpPr>
        <p:spPr>
          <a:xfrm>
            <a:off x="7086600" y="1005840"/>
            <a:ext cx="1828800" cy="256032"/>
          </a:xfrm>
          <a:prstGeom prst="rect">
            <a:avLst/>
          </a:prstGeom>
          <a:solidFill>
            <a:srgbClr val="A78BFA">
              <a:alpha val="25000"/>
            </a:srgbClr>
          </a:solidFill>
          <a:ln w="6350">
            <a:solidFill>
              <a:srgbClr val="A78BFA"/>
            </a:solidFill>
            <a:prstDash val="solid"/>
          </a:ln>
        </p:spPr>
        <p:txBody>
          <a:bodyPr/>
          <a:lstStyle/>
          <a:p>
            <a:endParaRPr lang="en-IN"/>
          </a:p>
        </p:txBody>
      </p:sp>
      <p:sp>
        <p:nvSpPr>
          <p:cNvPr id="119" name="Text 36"/>
          <p:cNvSpPr/>
          <p:nvPr/>
        </p:nvSpPr>
        <p:spPr>
          <a:xfrm>
            <a:off x="7086600" y="1005840"/>
            <a:ext cx="1828800" cy="256032"/>
          </a:xfrm>
          <a:prstGeom prst="rect">
            <a:avLst/>
          </a:prstGeom>
          <a:noFill/>
          <a:ln/>
        </p:spPr>
        <p:txBody>
          <a:bodyPr wrap="square" lIns="0" tIns="0" rIns="0" bIns="0" rtlCol="0" anchor="ctr"/>
          <a:lstStyle/>
          <a:p>
            <a:pPr marL="0" indent="0" algn="ctr">
              <a:buNone/>
            </a:pPr>
            <a:r>
              <a:rPr lang="en-US" sz="1000" b="1" kern="0" spc="400" dirty="0">
                <a:solidFill>
                  <a:srgbClr val="A78BFA"/>
                </a:solidFill>
                <a:latin typeface="Calibri" pitchFamily="34" charset="0"/>
                <a:ea typeface="Calibri" pitchFamily="34" charset="-122"/>
                <a:cs typeface="Calibri" pitchFamily="34" charset="-120"/>
              </a:rPr>
              <a:t>EXECUTE</a:t>
            </a:r>
            <a:endParaRPr lang="en-US" sz="1000" dirty="0"/>
          </a:p>
        </p:txBody>
      </p:sp>
      <p:sp>
        <p:nvSpPr>
          <p:cNvPr id="120" name="Shape 37"/>
          <p:cNvSpPr/>
          <p:nvPr/>
        </p:nvSpPr>
        <p:spPr>
          <a:xfrm>
            <a:off x="7086600" y="1261872"/>
            <a:ext cx="1828800" cy="2286000"/>
          </a:xfrm>
          <a:prstGeom prst="rect">
            <a:avLst/>
          </a:prstGeom>
          <a:solidFill>
            <a:srgbClr val="131D33"/>
          </a:solidFill>
          <a:ln w="3810">
            <a:solidFill>
              <a:srgbClr val="A78BFA"/>
            </a:solidFill>
            <a:prstDash val="solid"/>
          </a:ln>
        </p:spPr>
        <p:txBody>
          <a:bodyPr/>
          <a:lstStyle/>
          <a:p>
            <a:endParaRPr lang="en-IN"/>
          </a:p>
        </p:txBody>
      </p:sp>
      <p:pic>
        <p:nvPicPr>
          <p:cNvPr id="121" name="Image 6" descr="preencoded.png"/>
          <p:cNvPicPr>
            <a:picLocks noChangeAspect="1"/>
          </p:cNvPicPr>
          <p:nvPr/>
        </p:nvPicPr>
        <p:blipFill>
          <a:blip r:embed="rId8"/>
          <a:stretch>
            <a:fillRect/>
          </a:stretch>
        </p:blipFill>
        <p:spPr>
          <a:xfrm>
            <a:off x="7178040" y="1389888"/>
            <a:ext cx="237744" cy="237744"/>
          </a:xfrm>
          <a:prstGeom prst="rect">
            <a:avLst/>
          </a:prstGeom>
        </p:spPr>
      </p:pic>
      <p:sp>
        <p:nvSpPr>
          <p:cNvPr id="122" name="Text 38"/>
          <p:cNvSpPr/>
          <p:nvPr/>
        </p:nvSpPr>
        <p:spPr>
          <a:xfrm>
            <a:off x="7470648" y="1371600"/>
            <a:ext cx="132588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Decision engine</a:t>
            </a:r>
            <a:endParaRPr lang="en-US" sz="1150" dirty="0"/>
          </a:p>
        </p:txBody>
      </p:sp>
      <p:sp>
        <p:nvSpPr>
          <p:cNvPr id="123" name="Shape 39"/>
          <p:cNvSpPr/>
          <p:nvPr/>
        </p:nvSpPr>
        <p:spPr>
          <a:xfrm>
            <a:off x="7196328" y="1664208"/>
            <a:ext cx="1609344" cy="0"/>
          </a:xfrm>
          <a:prstGeom prst="line">
            <a:avLst/>
          </a:prstGeom>
          <a:noFill/>
          <a:ln w="3810">
            <a:solidFill>
              <a:srgbClr val="475569"/>
            </a:solidFill>
            <a:prstDash val="dash"/>
          </a:ln>
        </p:spPr>
        <p:txBody>
          <a:bodyPr/>
          <a:lstStyle/>
          <a:p>
            <a:endParaRPr lang="en-IN"/>
          </a:p>
        </p:txBody>
      </p:sp>
      <p:sp>
        <p:nvSpPr>
          <p:cNvPr id="124" name="Text 40"/>
          <p:cNvSpPr/>
          <p:nvPr/>
        </p:nvSpPr>
        <p:spPr>
          <a:xfrm>
            <a:off x="7196328" y="1700784"/>
            <a:ext cx="1609344" cy="73152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Street-specific skepticism</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SPR + pot commitment gates</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Position-aware preflop fold</a:t>
            </a:r>
            <a:endParaRPr lang="en-US" sz="1000" dirty="0"/>
          </a:p>
        </p:txBody>
      </p:sp>
      <p:pic>
        <p:nvPicPr>
          <p:cNvPr id="125" name="Image 7" descr="preencoded.png"/>
          <p:cNvPicPr>
            <a:picLocks noChangeAspect="1"/>
          </p:cNvPicPr>
          <p:nvPr/>
        </p:nvPicPr>
        <p:blipFill>
          <a:blip r:embed="rId9">
            <a:duotone>
              <a:prstClr val="black"/>
              <a:srgbClr val="A78BFA">
                <a:tint val="45000"/>
                <a:satMod val="400000"/>
              </a:srgbClr>
            </a:duotone>
          </a:blip>
          <a:stretch>
            <a:fillRect/>
          </a:stretch>
        </p:blipFill>
        <p:spPr>
          <a:xfrm>
            <a:off x="7178040" y="2523744"/>
            <a:ext cx="237744" cy="237744"/>
          </a:xfrm>
          <a:prstGeom prst="rect">
            <a:avLst/>
          </a:prstGeom>
        </p:spPr>
      </p:pic>
      <p:sp>
        <p:nvSpPr>
          <p:cNvPr id="126" name="Text 41"/>
          <p:cNvSpPr/>
          <p:nvPr/>
        </p:nvSpPr>
        <p:spPr>
          <a:xfrm>
            <a:off x="7470648" y="2505456"/>
            <a:ext cx="132588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Action selector</a:t>
            </a:r>
            <a:endParaRPr lang="en-US" sz="1150" dirty="0"/>
          </a:p>
        </p:txBody>
      </p:sp>
      <p:sp>
        <p:nvSpPr>
          <p:cNvPr id="127" name="Shape 42"/>
          <p:cNvSpPr/>
          <p:nvPr/>
        </p:nvSpPr>
        <p:spPr>
          <a:xfrm>
            <a:off x="7196328" y="2798064"/>
            <a:ext cx="1609344" cy="0"/>
          </a:xfrm>
          <a:prstGeom prst="line">
            <a:avLst/>
          </a:prstGeom>
          <a:noFill/>
          <a:ln w="3810">
            <a:solidFill>
              <a:srgbClr val="475569"/>
            </a:solidFill>
            <a:prstDash val="dash"/>
          </a:ln>
        </p:spPr>
        <p:txBody>
          <a:bodyPr/>
          <a:lstStyle/>
          <a:p>
            <a:endParaRPr lang="en-IN"/>
          </a:p>
        </p:txBody>
      </p:sp>
      <p:sp>
        <p:nvSpPr>
          <p:cNvPr id="128" name="Text 43"/>
          <p:cNvSpPr/>
          <p:nvPr/>
        </p:nvSpPr>
        <p:spPr>
          <a:xfrm>
            <a:off x="7196328" y="2834640"/>
            <a:ext cx="1609344" cy="73152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Check-raise with monsters</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Draw semi-bluff sizing</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Catch-bluff vs overbets</a:t>
            </a:r>
            <a:endParaRPr lang="en-US" sz="1000" dirty="0"/>
          </a:p>
        </p:txBody>
      </p:sp>
      <p:sp>
        <p:nvSpPr>
          <p:cNvPr id="129" name="Shape 44"/>
          <p:cNvSpPr/>
          <p:nvPr/>
        </p:nvSpPr>
        <p:spPr>
          <a:xfrm>
            <a:off x="2505456" y="2404872"/>
            <a:ext cx="155448" cy="0"/>
          </a:xfrm>
          <a:prstGeom prst="line">
            <a:avLst/>
          </a:prstGeom>
          <a:noFill/>
          <a:ln w="15240">
            <a:solidFill>
              <a:srgbClr val="475569"/>
            </a:solidFill>
            <a:prstDash val="solid"/>
          </a:ln>
        </p:spPr>
        <p:txBody>
          <a:bodyPr/>
          <a:lstStyle/>
          <a:p>
            <a:endParaRPr lang="en-IN"/>
          </a:p>
        </p:txBody>
      </p:sp>
      <p:sp>
        <p:nvSpPr>
          <p:cNvPr id="130" name="Shape 45"/>
          <p:cNvSpPr/>
          <p:nvPr/>
        </p:nvSpPr>
        <p:spPr>
          <a:xfrm>
            <a:off x="4706366" y="2404872"/>
            <a:ext cx="155448" cy="0"/>
          </a:xfrm>
          <a:prstGeom prst="line">
            <a:avLst/>
          </a:prstGeom>
          <a:noFill/>
          <a:ln w="15240">
            <a:solidFill>
              <a:srgbClr val="475569"/>
            </a:solidFill>
            <a:prstDash val="solid"/>
          </a:ln>
        </p:spPr>
        <p:txBody>
          <a:bodyPr/>
          <a:lstStyle/>
          <a:p>
            <a:endParaRPr lang="en-IN"/>
          </a:p>
        </p:txBody>
      </p:sp>
      <p:sp>
        <p:nvSpPr>
          <p:cNvPr id="131" name="Shape 46"/>
          <p:cNvSpPr/>
          <p:nvPr/>
        </p:nvSpPr>
        <p:spPr>
          <a:xfrm>
            <a:off x="6894576" y="2404872"/>
            <a:ext cx="155448" cy="0"/>
          </a:xfrm>
          <a:prstGeom prst="line">
            <a:avLst/>
          </a:prstGeom>
          <a:noFill/>
          <a:ln w="15240">
            <a:solidFill>
              <a:srgbClr val="475569"/>
            </a:solidFill>
            <a:prstDash val="solid"/>
          </a:ln>
        </p:spPr>
        <p:txBody>
          <a:bodyPr/>
          <a:lstStyle/>
          <a:p>
            <a:endParaRPr lang="en-IN"/>
          </a:p>
        </p:txBody>
      </p:sp>
      <p:sp>
        <p:nvSpPr>
          <p:cNvPr id="132" name="Text 47"/>
          <p:cNvSpPr/>
          <p:nvPr/>
        </p:nvSpPr>
        <p:spPr>
          <a:xfrm>
            <a:off x="347472" y="3611880"/>
            <a:ext cx="914400" cy="201168"/>
          </a:xfrm>
          <a:prstGeom prst="rect">
            <a:avLst/>
          </a:prstGeom>
          <a:noFill/>
          <a:ln/>
        </p:spPr>
        <p:txBody>
          <a:bodyPr wrap="square" lIns="0" tIns="0" rIns="0" bIns="0" rtlCol="0" anchor="ctr"/>
          <a:lstStyle/>
          <a:p>
            <a:pPr marL="0" indent="0">
              <a:buNone/>
            </a:pPr>
            <a:r>
              <a:rPr lang="en-US" sz="800" b="1" kern="0" spc="300" dirty="0">
                <a:solidFill>
                  <a:srgbClr val="F59E0B"/>
                </a:solidFill>
                <a:latin typeface="Calibri" pitchFamily="34" charset="0"/>
                <a:ea typeface="Calibri" pitchFamily="34" charset="-122"/>
                <a:cs typeface="Calibri" pitchFamily="34" charset="-120"/>
              </a:rPr>
              <a:t>KEY INSIGHT</a:t>
            </a:r>
            <a:endParaRPr lang="en-US" sz="800" dirty="0"/>
          </a:p>
        </p:txBody>
      </p:sp>
      <p:sp>
        <p:nvSpPr>
          <p:cNvPr id="133" name="Shape 48"/>
          <p:cNvSpPr/>
          <p:nvPr/>
        </p:nvSpPr>
        <p:spPr>
          <a:xfrm>
            <a:off x="320040" y="3867913"/>
            <a:ext cx="3941064" cy="1005840"/>
          </a:xfrm>
          <a:prstGeom prst="rect">
            <a:avLst/>
          </a:prstGeom>
          <a:solidFill>
            <a:srgbClr val="1A2744"/>
          </a:solidFill>
          <a:ln w="6350">
            <a:solidFill>
              <a:srgbClr val="34D399"/>
            </a:solidFill>
            <a:prstDash val="solid"/>
          </a:ln>
        </p:spPr>
        <p:txBody>
          <a:bodyPr/>
          <a:lstStyle/>
          <a:p>
            <a:endParaRPr lang="en-IN"/>
          </a:p>
        </p:txBody>
      </p:sp>
      <p:sp>
        <p:nvSpPr>
          <p:cNvPr id="134" name="Shape 49"/>
          <p:cNvSpPr/>
          <p:nvPr/>
        </p:nvSpPr>
        <p:spPr>
          <a:xfrm>
            <a:off x="320040" y="3867913"/>
            <a:ext cx="54864" cy="1005840"/>
          </a:xfrm>
          <a:prstGeom prst="rect">
            <a:avLst/>
          </a:prstGeom>
          <a:solidFill>
            <a:srgbClr val="34D399"/>
          </a:solidFill>
          <a:ln/>
        </p:spPr>
        <p:txBody>
          <a:bodyPr/>
          <a:lstStyle/>
          <a:p>
            <a:endParaRPr lang="en-IN"/>
          </a:p>
        </p:txBody>
      </p:sp>
      <p:pic>
        <p:nvPicPr>
          <p:cNvPr id="135" name="Image 8" descr="preencoded.png"/>
          <p:cNvPicPr>
            <a:picLocks noChangeAspect="1"/>
          </p:cNvPicPr>
          <p:nvPr/>
        </p:nvPicPr>
        <p:blipFill>
          <a:blip r:embed="rId9"/>
          <a:stretch>
            <a:fillRect/>
          </a:stretch>
        </p:blipFill>
        <p:spPr>
          <a:xfrm>
            <a:off x="493776" y="3941065"/>
            <a:ext cx="292608" cy="292608"/>
          </a:xfrm>
          <a:prstGeom prst="rect">
            <a:avLst/>
          </a:prstGeom>
        </p:spPr>
      </p:pic>
      <p:sp>
        <p:nvSpPr>
          <p:cNvPr id="136" name="Text 50"/>
          <p:cNvSpPr/>
          <p:nvPr/>
        </p:nvSpPr>
        <p:spPr>
          <a:xfrm>
            <a:off x="868680" y="3904489"/>
            <a:ext cx="3474720" cy="292608"/>
          </a:xfrm>
          <a:prstGeom prst="rect">
            <a:avLst/>
          </a:prstGeom>
          <a:noFill/>
          <a:ln/>
        </p:spPr>
        <p:txBody>
          <a:bodyPr wrap="square" lIns="0" tIns="0" rIns="0" bIns="0" rtlCol="0" anchor="ctr"/>
          <a:lstStyle/>
          <a:p>
            <a:pPr marL="0" indent="0">
              <a:buNone/>
            </a:pPr>
            <a:r>
              <a:rPr lang="en-US" sz="1300" b="1" dirty="0">
                <a:solidFill>
                  <a:srgbClr val="34D399"/>
                </a:solidFill>
                <a:latin typeface="Calibri" pitchFamily="34" charset="0"/>
                <a:ea typeface="Calibri" pitchFamily="34" charset="-122"/>
                <a:cs typeface="Calibri" pitchFamily="34" charset="-120"/>
              </a:rPr>
              <a:t>We won the auction</a:t>
            </a:r>
            <a:endParaRPr lang="en-US" sz="1300" dirty="0"/>
          </a:p>
        </p:txBody>
      </p:sp>
      <p:sp>
        <p:nvSpPr>
          <p:cNvPr id="137" name="Text 51"/>
          <p:cNvSpPr/>
          <p:nvPr/>
        </p:nvSpPr>
        <p:spPr>
          <a:xfrm>
            <a:off x="493776" y="4293108"/>
            <a:ext cx="3840480" cy="594360"/>
          </a:xfrm>
          <a:prstGeom prst="rect">
            <a:avLst/>
          </a:prstGeom>
          <a:noFill/>
          <a:ln/>
        </p:spPr>
        <p:txBody>
          <a:bodyPr wrap="square" lIns="0" tIns="0" rIns="0" bIns="0" rtlCol="0" anchor="t"/>
          <a:lstStyle/>
          <a:p>
            <a:pPr marL="0" indent="0">
              <a:buNone/>
            </a:pPr>
            <a:r>
              <a:rPr lang="en-US" sz="950" dirty="0">
                <a:solidFill>
                  <a:srgbClr val="94A3B8"/>
                </a:solidFill>
                <a:latin typeface="Calibri" pitchFamily="34" charset="0"/>
                <a:ea typeface="Calibri" pitchFamily="34" charset="-122"/>
                <a:cs typeface="Calibri" pitchFamily="34" charset="-120"/>
              </a:rPr>
              <a:t>Exhaustive equity → near-perfect decisions</a:t>
            </a:r>
            <a:endParaRPr lang="en-US" sz="950" dirty="0"/>
          </a:p>
          <a:p>
            <a:pPr marL="0" indent="0">
              <a:buNone/>
            </a:pPr>
            <a:r>
              <a:rPr lang="en-US" sz="950" dirty="0">
                <a:solidFill>
                  <a:srgbClr val="94A3B8"/>
                </a:solidFill>
                <a:latin typeface="Calibri" pitchFamily="34" charset="0"/>
                <a:ea typeface="Calibri" pitchFamily="34" charset="-122"/>
                <a:cs typeface="Calibri" pitchFamily="34" charset="-120"/>
              </a:rPr>
              <a:t>Massive value extraction (thin value bets)</a:t>
            </a:r>
            <a:endParaRPr lang="en-US" sz="950" dirty="0"/>
          </a:p>
          <a:p>
            <a:pPr marL="0" indent="0">
              <a:buNone/>
            </a:pPr>
            <a:r>
              <a:rPr lang="en-US" sz="950" dirty="0">
                <a:solidFill>
                  <a:srgbClr val="94A3B8"/>
                </a:solidFill>
                <a:latin typeface="Calibri" pitchFamily="34" charset="0"/>
                <a:ea typeface="Calibri" pitchFamily="34" charset="-122"/>
                <a:cs typeface="Calibri" pitchFamily="34" charset="-120"/>
              </a:rPr>
              <a:t>Near-zero call margin → never fold the best hand</a:t>
            </a:r>
            <a:endParaRPr lang="en-US" sz="950" dirty="0"/>
          </a:p>
        </p:txBody>
      </p:sp>
      <p:sp>
        <p:nvSpPr>
          <p:cNvPr id="138" name="Text 52"/>
          <p:cNvSpPr/>
          <p:nvPr/>
        </p:nvSpPr>
        <p:spPr>
          <a:xfrm>
            <a:off x="4251960" y="4114801"/>
            <a:ext cx="548640" cy="365760"/>
          </a:xfrm>
          <a:prstGeom prst="rect">
            <a:avLst/>
          </a:prstGeom>
          <a:noFill/>
          <a:ln/>
        </p:spPr>
        <p:txBody>
          <a:bodyPr wrap="square" lIns="0" tIns="0" rIns="0" bIns="0" rtlCol="0" anchor="ctr"/>
          <a:lstStyle/>
          <a:p>
            <a:pPr marL="0" indent="0" algn="ctr">
              <a:buNone/>
            </a:pPr>
            <a:r>
              <a:rPr lang="en-US" sz="1200" dirty="0">
                <a:solidFill>
                  <a:srgbClr val="475569"/>
                </a:solidFill>
                <a:latin typeface="Arial Black" pitchFamily="34" charset="0"/>
                <a:ea typeface="Arial Black" pitchFamily="34" charset="-122"/>
                <a:cs typeface="Arial Black" pitchFamily="34" charset="-120"/>
              </a:rPr>
              <a:t>VS</a:t>
            </a:r>
            <a:endParaRPr lang="en-US" sz="1200" dirty="0"/>
          </a:p>
        </p:txBody>
      </p:sp>
      <p:sp>
        <p:nvSpPr>
          <p:cNvPr id="139" name="Shape 53"/>
          <p:cNvSpPr/>
          <p:nvPr/>
        </p:nvSpPr>
        <p:spPr>
          <a:xfrm>
            <a:off x="4754880" y="3867913"/>
            <a:ext cx="4160520" cy="1005840"/>
          </a:xfrm>
          <a:prstGeom prst="rect">
            <a:avLst/>
          </a:prstGeom>
          <a:solidFill>
            <a:srgbClr val="1A2744"/>
          </a:solidFill>
          <a:ln w="6350">
            <a:solidFill>
              <a:srgbClr val="EF4444"/>
            </a:solidFill>
            <a:prstDash val="solid"/>
          </a:ln>
        </p:spPr>
        <p:txBody>
          <a:bodyPr/>
          <a:lstStyle/>
          <a:p>
            <a:endParaRPr lang="en-IN"/>
          </a:p>
        </p:txBody>
      </p:sp>
      <p:sp>
        <p:nvSpPr>
          <p:cNvPr id="140" name="Shape 54"/>
          <p:cNvSpPr/>
          <p:nvPr/>
        </p:nvSpPr>
        <p:spPr>
          <a:xfrm>
            <a:off x="4754880" y="3867913"/>
            <a:ext cx="54864" cy="1005840"/>
          </a:xfrm>
          <a:prstGeom prst="rect">
            <a:avLst/>
          </a:prstGeom>
          <a:solidFill>
            <a:srgbClr val="EF4444"/>
          </a:solidFill>
          <a:ln/>
        </p:spPr>
        <p:txBody>
          <a:bodyPr/>
          <a:lstStyle/>
          <a:p>
            <a:endParaRPr lang="en-IN"/>
          </a:p>
        </p:txBody>
      </p:sp>
      <p:pic>
        <p:nvPicPr>
          <p:cNvPr id="141" name="Image 9" descr="preencoded.png"/>
          <p:cNvPicPr>
            <a:picLocks noChangeAspect="1"/>
          </p:cNvPicPr>
          <p:nvPr/>
        </p:nvPicPr>
        <p:blipFill>
          <a:blip r:embed="rId10"/>
          <a:stretch>
            <a:fillRect/>
          </a:stretch>
        </p:blipFill>
        <p:spPr>
          <a:xfrm>
            <a:off x="4916859" y="3931922"/>
            <a:ext cx="292608" cy="292608"/>
          </a:xfrm>
          <a:prstGeom prst="rect">
            <a:avLst/>
          </a:prstGeom>
        </p:spPr>
      </p:pic>
      <p:sp>
        <p:nvSpPr>
          <p:cNvPr id="142" name="Text 55"/>
          <p:cNvSpPr/>
          <p:nvPr/>
        </p:nvSpPr>
        <p:spPr>
          <a:xfrm>
            <a:off x="5303520" y="3904489"/>
            <a:ext cx="3474720" cy="292608"/>
          </a:xfrm>
          <a:prstGeom prst="rect">
            <a:avLst/>
          </a:prstGeom>
          <a:noFill/>
          <a:ln/>
        </p:spPr>
        <p:txBody>
          <a:bodyPr wrap="square" lIns="0" tIns="0" rIns="0" bIns="0" rtlCol="0" anchor="ctr"/>
          <a:lstStyle/>
          <a:p>
            <a:pPr marL="0" indent="0">
              <a:buNone/>
            </a:pPr>
            <a:r>
              <a:rPr lang="en-US" sz="1300" b="1" dirty="0">
                <a:solidFill>
                  <a:srgbClr val="FB7185"/>
                </a:solidFill>
                <a:latin typeface="Calibri" pitchFamily="34" charset="0"/>
                <a:ea typeface="Calibri" pitchFamily="34" charset="-122"/>
                <a:cs typeface="Calibri" pitchFamily="34" charset="-120"/>
              </a:rPr>
              <a:t>They won the auction</a:t>
            </a:r>
            <a:endParaRPr lang="en-US" sz="1300" dirty="0"/>
          </a:p>
        </p:txBody>
      </p:sp>
      <p:sp>
        <p:nvSpPr>
          <p:cNvPr id="143" name="Text 56"/>
          <p:cNvSpPr/>
          <p:nvPr/>
        </p:nvSpPr>
        <p:spPr>
          <a:xfrm>
            <a:off x="4937760" y="4215385"/>
            <a:ext cx="3840480" cy="594360"/>
          </a:xfrm>
          <a:prstGeom prst="rect">
            <a:avLst/>
          </a:prstGeom>
          <a:noFill/>
          <a:ln/>
        </p:spPr>
        <p:txBody>
          <a:bodyPr wrap="square" lIns="0" tIns="0" rIns="0" bIns="0" rtlCol="0" anchor="t"/>
          <a:lstStyle/>
          <a:p>
            <a:pPr marL="0" indent="0">
              <a:buNone/>
            </a:pPr>
            <a:r>
              <a:rPr lang="en-US" sz="950" dirty="0">
                <a:solidFill>
                  <a:srgbClr val="94A3B8"/>
                </a:solidFill>
                <a:latin typeface="Calibri" pitchFamily="34" charset="0"/>
                <a:ea typeface="Calibri" pitchFamily="34" charset="-122"/>
                <a:cs typeface="Calibri" pitchFamily="34" charset="-120"/>
              </a:rPr>
              <a:t>Near-zero bluff frequency (they see through us)</a:t>
            </a:r>
            <a:endParaRPr lang="en-US" sz="950" dirty="0"/>
          </a:p>
          <a:p>
            <a:pPr marL="0" indent="0">
              <a:buNone/>
            </a:pPr>
            <a:r>
              <a:rPr lang="en-US" sz="950" dirty="0">
                <a:solidFill>
                  <a:srgbClr val="94A3B8"/>
                </a:solidFill>
                <a:latin typeface="Calibri" pitchFamily="34" charset="0"/>
                <a:ea typeface="Calibri" pitchFamily="34" charset="-122"/>
                <a:cs typeface="Calibri" pitchFamily="34" charset="-120"/>
              </a:rPr>
              <a:t>Extra skepticism on opponent bets (+0.12 margin)</a:t>
            </a:r>
            <a:endParaRPr lang="en-US" sz="950" dirty="0"/>
          </a:p>
          <a:p>
            <a:pPr marL="0" indent="0">
              <a:buNone/>
            </a:pPr>
            <a:r>
              <a:rPr lang="en-US" sz="950" dirty="0">
                <a:solidFill>
                  <a:srgbClr val="94A3B8"/>
                </a:solidFill>
                <a:latin typeface="Calibri" pitchFamily="34" charset="0"/>
                <a:ea typeface="Calibri" pitchFamily="34" charset="-122"/>
                <a:cs typeface="Calibri" pitchFamily="34" charset="-120"/>
              </a:rPr>
              <a:t>Tighter investment cap (max 25% stack w/o monster)</a:t>
            </a:r>
            <a:endParaRPr lang="en-US" sz="950" dirty="0"/>
          </a:p>
        </p:txBody>
      </p:sp>
      <p:sp>
        <p:nvSpPr>
          <p:cNvPr id="11" name="Rectangle 5">
            <a:extLst>
              <a:ext uri="{FF2B5EF4-FFF2-40B4-BE49-F238E27FC236}">
                <a16:creationId xmlns:a16="http://schemas.microsoft.com/office/drawing/2014/main" id="{32367C73-8E32-36F8-5F75-06500A031AC0}"/>
              </a:ext>
            </a:extLst>
          </p:cNvPr>
          <p:cNvSpPr>
            <a:spLocks noChangeArrowheads="1"/>
          </p:cNvSpPr>
          <p:nvPr/>
        </p:nvSpPr>
        <p:spPr bwMode="auto">
          <a:xfrm>
            <a:off x="2798064" y="1729775"/>
            <a:ext cx="174650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000" i="0" u="none" strike="noStrike" cap="none" normalizeH="0" baseline="0" dirty="0">
                <a:ln>
                  <a:noFill/>
                </a:ln>
                <a:solidFill>
                  <a:schemeClr val="bg1">
                    <a:lumMod val="65000"/>
                  </a:schemeClr>
                </a:solidFill>
                <a:effectLst/>
              </a:rPr>
              <a:t>Expected-Pot scaled bid sizing </a:t>
            </a:r>
            <a:r>
              <a:rPr kumimoji="0" lang="en-US" altLang="en-US" sz="1000" i="1" u="none" strike="noStrike" cap="none" normalizeH="0" baseline="0" dirty="0">
                <a:ln>
                  <a:noFill/>
                </a:ln>
                <a:solidFill>
                  <a:schemeClr val="bg1">
                    <a:lumMod val="65000"/>
                  </a:schemeClr>
                </a:solidFill>
                <a:effectLst/>
              </a:rPr>
              <a:t>(via linear regression)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000" i="0" u="none" strike="noStrike" cap="none" normalizeH="0" baseline="0" dirty="0">
              <a:ln>
                <a:noFill/>
              </a:ln>
              <a:solidFill>
                <a:schemeClr val="bg1">
                  <a:lumMod val="65000"/>
                </a:schemeClr>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000" i="0" u="none" strike="noStrike" cap="none" normalizeH="0" baseline="0" dirty="0">
                <a:ln>
                  <a:noFill/>
                </a:ln>
                <a:solidFill>
                  <a:schemeClr val="bg1">
                    <a:lumMod val="65000"/>
                  </a:schemeClr>
                </a:solidFill>
                <a:effectLst/>
              </a:rPr>
              <a:t>K-Means clustered equity tiers × randomized ranges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000" i="0" u="none" strike="noStrike" cap="none" normalizeH="0" baseline="0" dirty="0">
              <a:ln>
                <a:noFill/>
              </a:ln>
              <a:solidFill>
                <a:schemeClr val="bg1">
                  <a:lumMod val="65000"/>
                </a:schemeClr>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000" i="0" u="none" strike="noStrike" cap="none" normalizeH="0" baseline="0" dirty="0">
                <a:ln>
                  <a:noFill/>
                </a:ln>
                <a:solidFill>
                  <a:schemeClr val="bg1">
                    <a:lumMod val="65000"/>
                  </a:schemeClr>
                </a:solidFill>
                <a:effectLst/>
              </a:rPr>
              <a:t>Empirical True Value modeling </a:t>
            </a:r>
            <a:r>
              <a:rPr kumimoji="0" lang="en-US" altLang="en-US" sz="1000" i="1" u="none" strike="noStrike" cap="none" normalizeH="0" baseline="0" dirty="0">
                <a:ln>
                  <a:noFill/>
                </a:ln>
                <a:solidFill>
                  <a:schemeClr val="bg1">
                    <a:lumMod val="65000"/>
                  </a:schemeClr>
                </a:solidFill>
                <a:effectLst/>
              </a:rPr>
              <a:t>(Offensive + Defensive values) tuned from bot logs</a:t>
            </a:r>
            <a:endParaRPr kumimoji="0" lang="en-US" altLang="en-US" sz="1000" i="0" u="none" strike="noStrike" cap="none" normalizeH="0" baseline="0" dirty="0">
              <a:ln>
                <a:noFill/>
              </a:ln>
              <a:solidFill>
                <a:schemeClr val="bg1">
                  <a:lumMod val="65000"/>
                </a:schemeClr>
              </a:solidFill>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164592"/>
            <a:ext cx="9144000" cy="640080"/>
          </a:xfrm>
          <a:prstGeom prst="rect">
            <a:avLst/>
          </a:prstGeom>
          <a:solidFill>
            <a:srgbClr val="1B2A3B"/>
          </a:solidFill>
          <a:ln w="12700">
            <a:solidFill>
              <a:srgbClr val="1B2A3B"/>
            </a:solidFill>
            <a:prstDash val="solid"/>
          </a:ln>
        </p:spPr>
        <p:txBody>
          <a:bodyPr/>
          <a:lstStyle/>
          <a:p>
            <a:endParaRPr lang="en-IN" dirty="0"/>
          </a:p>
        </p:txBody>
      </p:sp>
      <p:sp>
        <p:nvSpPr>
          <p:cNvPr id="3" name="Shape 1"/>
          <p:cNvSpPr/>
          <p:nvPr/>
        </p:nvSpPr>
        <p:spPr>
          <a:xfrm>
            <a:off x="274320" y="256032"/>
            <a:ext cx="54864" cy="457200"/>
          </a:xfrm>
          <a:prstGeom prst="rect">
            <a:avLst/>
          </a:prstGeom>
          <a:solidFill>
            <a:srgbClr val="E2A84B"/>
          </a:solidFill>
          <a:ln w="12700">
            <a:solidFill>
              <a:srgbClr val="E2A84B"/>
            </a:solidFill>
            <a:prstDash val="solid"/>
          </a:ln>
        </p:spPr>
        <p:txBody>
          <a:bodyPr/>
          <a:lstStyle/>
          <a:p>
            <a:endParaRPr lang="en-IN" dirty="0"/>
          </a:p>
        </p:txBody>
      </p:sp>
      <p:sp>
        <p:nvSpPr>
          <p:cNvPr id="4" name="Text 2"/>
          <p:cNvSpPr/>
          <p:nvPr/>
        </p:nvSpPr>
        <p:spPr>
          <a:xfrm>
            <a:off x="457200" y="256032"/>
            <a:ext cx="8321040" cy="457200"/>
          </a:xfrm>
          <a:prstGeom prst="rect">
            <a:avLst/>
          </a:prstGeom>
          <a:noFill/>
          <a:ln/>
        </p:spPr>
        <p:txBody>
          <a:bodyPr wrap="square" lIns="0" tIns="0" rIns="0" bIns="0" rtlCol="0" anchor="ctr"/>
          <a:lstStyle/>
          <a:p>
            <a:pPr marL="0" indent="0" algn="l">
              <a:buNone/>
            </a:pPr>
            <a:r>
              <a:rPr lang="en-US" sz="2100" b="1" dirty="0">
                <a:solidFill>
                  <a:srgbClr val="F0F4F8"/>
                </a:solidFill>
                <a:latin typeface="Calibri" pitchFamily="34" charset="0"/>
                <a:ea typeface="Calibri" pitchFamily="34" charset="-122"/>
                <a:cs typeface="Calibri" pitchFamily="34" charset="-120"/>
              </a:rPr>
              <a:t>Equity Estimation - Monte Carlo, Exact Lookup &amp; Exhaustive River</a:t>
            </a:r>
            <a:endParaRPr lang="en-US" sz="2100" dirty="0"/>
          </a:p>
        </p:txBody>
      </p:sp>
      <p:sp>
        <p:nvSpPr>
          <p:cNvPr id="5" name="Shape 3"/>
          <p:cNvSpPr/>
          <p:nvPr/>
        </p:nvSpPr>
        <p:spPr>
          <a:xfrm>
            <a:off x="320040" y="987552"/>
            <a:ext cx="4206240" cy="1170432"/>
          </a:xfrm>
          <a:prstGeom prst="rect">
            <a:avLst/>
          </a:prstGeom>
          <a:solidFill>
            <a:srgbClr val="162230"/>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dirty="0"/>
          </a:p>
        </p:txBody>
      </p:sp>
      <p:sp>
        <p:nvSpPr>
          <p:cNvPr id="6" name="Shape 4"/>
          <p:cNvSpPr/>
          <p:nvPr/>
        </p:nvSpPr>
        <p:spPr>
          <a:xfrm>
            <a:off x="320040" y="987552"/>
            <a:ext cx="4206240" cy="310896"/>
          </a:xfrm>
          <a:prstGeom prst="rect">
            <a:avLst/>
          </a:prstGeom>
          <a:solidFill>
            <a:srgbClr val="1DB8C7"/>
          </a:solidFill>
          <a:ln w="12700">
            <a:solidFill>
              <a:srgbClr val="1DB8C7"/>
            </a:solidFill>
            <a:prstDash val="solid"/>
          </a:ln>
        </p:spPr>
        <p:txBody>
          <a:bodyPr/>
          <a:lstStyle/>
          <a:p>
            <a:endParaRPr lang="en-IN" dirty="0"/>
          </a:p>
        </p:txBody>
      </p:sp>
      <p:sp>
        <p:nvSpPr>
          <p:cNvPr id="7" name="Text 5"/>
          <p:cNvSpPr/>
          <p:nvPr/>
        </p:nvSpPr>
        <p:spPr>
          <a:xfrm>
            <a:off x="411480" y="1024128"/>
            <a:ext cx="4023360" cy="237744"/>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PRE-FLOP: Exact Table Lookup</a:t>
            </a:r>
            <a:endParaRPr lang="en-US" sz="1100" dirty="0"/>
          </a:p>
        </p:txBody>
      </p:sp>
      <p:sp>
        <p:nvSpPr>
          <p:cNvPr id="8" name="Text 6"/>
          <p:cNvSpPr/>
          <p:nvPr/>
        </p:nvSpPr>
        <p:spPr>
          <a:xfrm>
            <a:off x="457200" y="1353312"/>
            <a:ext cx="3977640" cy="201168"/>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 Full 1,326-entry table: every unique 2-card combo</a:t>
            </a:r>
            <a:endParaRPr lang="en-US" sz="1000" dirty="0"/>
          </a:p>
        </p:txBody>
      </p:sp>
      <p:sp>
        <p:nvSpPr>
          <p:cNvPr id="9" name="Text 7"/>
          <p:cNvSpPr/>
          <p:nvPr/>
        </p:nvSpPr>
        <p:spPr>
          <a:xfrm>
            <a:off x="457200" y="1554480"/>
            <a:ext cx="3977640" cy="201168"/>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 Indexed by canonical suit order (c &lt; d &lt; h &lt; s)</a:t>
            </a:r>
            <a:endParaRPr lang="en-US" sz="1000" dirty="0"/>
          </a:p>
        </p:txBody>
      </p:sp>
      <p:sp>
        <p:nvSpPr>
          <p:cNvPr id="10" name="Text 8"/>
          <p:cNvSpPr/>
          <p:nvPr/>
        </p:nvSpPr>
        <p:spPr>
          <a:xfrm>
            <a:off x="457200" y="1755648"/>
            <a:ext cx="3977640" cy="201168"/>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 Eliminates all MC noise on most impactful street</a:t>
            </a:r>
            <a:endParaRPr lang="en-US" sz="1000" dirty="0"/>
          </a:p>
        </p:txBody>
      </p:sp>
      <p:sp>
        <p:nvSpPr>
          <p:cNvPr id="11" name="Text 9"/>
          <p:cNvSpPr/>
          <p:nvPr/>
        </p:nvSpPr>
        <p:spPr>
          <a:xfrm>
            <a:off x="457200" y="1956816"/>
            <a:ext cx="3977640" cy="201168"/>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 O(1) lookup - zero computation cost</a:t>
            </a:r>
            <a:endParaRPr lang="en-US" sz="1000" dirty="0"/>
          </a:p>
        </p:txBody>
      </p:sp>
      <p:sp>
        <p:nvSpPr>
          <p:cNvPr id="12" name="Shape 10"/>
          <p:cNvSpPr/>
          <p:nvPr/>
        </p:nvSpPr>
        <p:spPr>
          <a:xfrm>
            <a:off x="320040" y="2286000"/>
            <a:ext cx="4206240" cy="1170432"/>
          </a:xfrm>
          <a:prstGeom prst="rect">
            <a:avLst/>
          </a:prstGeom>
          <a:solidFill>
            <a:srgbClr val="162230"/>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dirty="0"/>
          </a:p>
        </p:txBody>
      </p:sp>
      <p:sp>
        <p:nvSpPr>
          <p:cNvPr id="13" name="Shape 11"/>
          <p:cNvSpPr/>
          <p:nvPr/>
        </p:nvSpPr>
        <p:spPr>
          <a:xfrm>
            <a:off x="320040" y="2286000"/>
            <a:ext cx="4206240" cy="310896"/>
          </a:xfrm>
          <a:prstGeom prst="rect">
            <a:avLst/>
          </a:prstGeom>
          <a:solidFill>
            <a:srgbClr val="E2A84B"/>
          </a:solidFill>
          <a:ln w="12700">
            <a:solidFill>
              <a:srgbClr val="E2A84B"/>
            </a:solidFill>
            <a:prstDash val="solid"/>
          </a:ln>
        </p:spPr>
        <p:txBody>
          <a:bodyPr/>
          <a:lstStyle/>
          <a:p>
            <a:endParaRPr lang="en-IN" dirty="0"/>
          </a:p>
        </p:txBody>
      </p:sp>
      <p:sp>
        <p:nvSpPr>
          <p:cNvPr id="14" name="Text 12"/>
          <p:cNvSpPr/>
          <p:nvPr/>
        </p:nvSpPr>
        <p:spPr>
          <a:xfrm>
            <a:off x="411480" y="2322576"/>
            <a:ext cx="4023360" cy="237744"/>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POST-FLOP: Adaptive Monte Carlo</a:t>
            </a:r>
            <a:endParaRPr lang="en-US" sz="1100" dirty="0"/>
          </a:p>
        </p:txBody>
      </p:sp>
      <p:sp>
        <p:nvSpPr>
          <p:cNvPr id="15" name="Text 13"/>
          <p:cNvSpPr/>
          <p:nvPr/>
        </p:nvSpPr>
        <p:spPr>
          <a:xfrm>
            <a:off x="457200" y="2651760"/>
            <a:ext cx="3977640" cy="201168"/>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 Sim count scaled by street depth + time bank</a:t>
            </a:r>
            <a:endParaRPr lang="en-US" sz="1000" dirty="0"/>
          </a:p>
        </p:txBody>
      </p:sp>
      <p:sp>
        <p:nvSpPr>
          <p:cNvPr id="16" name="Text 14"/>
          <p:cNvSpPr/>
          <p:nvPr/>
        </p:nvSpPr>
        <p:spPr>
          <a:xfrm>
            <a:off x="457200" y="2852928"/>
            <a:ext cx="3977640" cy="201168"/>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 River + known opp card → exhaustive (~44 unknowns)</a:t>
            </a:r>
            <a:endParaRPr lang="en-US" sz="1000" dirty="0"/>
          </a:p>
        </p:txBody>
      </p:sp>
      <p:sp>
        <p:nvSpPr>
          <p:cNvPr id="17" name="Text 15"/>
          <p:cNvSpPr/>
          <p:nvPr/>
        </p:nvSpPr>
        <p:spPr>
          <a:xfrm>
            <a:off x="457200" y="3054096"/>
            <a:ext cx="3977640" cy="201168"/>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 Flop: 90–600 sims  ·  Turn: 130–650  ·  River: 120–600</a:t>
            </a:r>
            <a:endParaRPr lang="en-US" sz="1000" dirty="0"/>
          </a:p>
        </p:txBody>
      </p:sp>
      <p:sp>
        <p:nvSpPr>
          <p:cNvPr id="18" name="Text 16"/>
          <p:cNvSpPr/>
          <p:nvPr/>
        </p:nvSpPr>
        <p:spPr>
          <a:xfrm>
            <a:off x="457200" y="3255264"/>
            <a:ext cx="3977640" cy="201168"/>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 Time bank checked every query - never runs over limit</a:t>
            </a:r>
            <a:endParaRPr lang="en-US" sz="1000" dirty="0"/>
          </a:p>
        </p:txBody>
      </p:sp>
      <p:sp>
        <p:nvSpPr>
          <p:cNvPr id="20" name="Shape 17"/>
          <p:cNvSpPr/>
          <p:nvPr/>
        </p:nvSpPr>
        <p:spPr>
          <a:xfrm>
            <a:off x="320040" y="3657600"/>
            <a:ext cx="8503920" cy="830580"/>
          </a:xfrm>
          <a:prstGeom prst="rect">
            <a:avLst/>
          </a:prstGeom>
          <a:solidFill>
            <a:srgbClr val="162A1A"/>
          </a:solidFill>
          <a:ln w="12700">
            <a:solidFill>
              <a:srgbClr val="4EBF8E"/>
            </a:solidFill>
            <a:prstDash val="solid"/>
          </a:ln>
          <a:effectLst>
            <a:outerShdw blurRad="101600" dist="38100" dir="8100000" algn="bl" rotWithShape="0">
              <a:srgbClr val="000000">
                <a:alpha val="28000"/>
              </a:srgbClr>
            </a:outerShdw>
          </a:effectLst>
        </p:spPr>
        <p:txBody>
          <a:bodyPr/>
          <a:lstStyle/>
          <a:p>
            <a:endParaRPr lang="en-IN" dirty="0"/>
          </a:p>
        </p:txBody>
      </p:sp>
      <p:sp>
        <p:nvSpPr>
          <p:cNvPr id="21" name="Shape 18"/>
          <p:cNvSpPr/>
          <p:nvPr/>
        </p:nvSpPr>
        <p:spPr>
          <a:xfrm>
            <a:off x="320040" y="3657600"/>
            <a:ext cx="54864" cy="830580"/>
          </a:xfrm>
          <a:prstGeom prst="rect">
            <a:avLst/>
          </a:prstGeom>
          <a:solidFill>
            <a:srgbClr val="4EBF8E"/>
          </a:solidFill>
          <a:ln w="12700">
            <a:solidFill>
              <a:srgbClr val="4EBF8E"/>
            </a:solidFill>
            <a:prstDash val="solid"/>
          </a:ln>
        </p:spPr>
        <p:txBody>
          <a:bodyPr/>
          <a:lstStyle/>
          <a:p>
            <a:endParaRPr lang="en-IN" dirty="0"/>
          </a:p>
        </p:txBody>
      </p:sp>
      <p:sp>
        <p:nvSpPr>
          <p:cNvPr id="22" name="Text 19"/>
          <p:cNvSpPr/>
          <p:nvPr/>
        </p:nvSpPr>
        <p:spPr>
          <a:xfrm>
            <a:off x="502920" y="3730752"/>
            <a:ext cx="8046720" cy="274320"/>
          </a:xfrm>
          <a:prstGeom prst="rect">
            <a:avLst/>
          </a:prstGeom>
          <a:noFill/>
          <a:ln/>
        </p:spPr>
        <p:txBody>
          <a:bodyPr wrap="square" lIns="0" tIns="0" rIns="0" bIns="0" rtlCol="0" anchor="ctr"/>
          <a:lstStyle/>
          <a:p>
            <a:pPr marL="0" indent="0">
              <a:buNone/>
            </a:pPr>
            <a:r>
              <a:rPr lang="en-US" sz="1200" b="1" dirty="0">
                <a:solidFill>
                  <a:srgbClr val="4EBF8E"/>
                </a:solidFill>
                <a:latin typeface="Calibri" pitchFamily="34" charset="0"/>
                <a:ea typeface="Calibri" pitchFamily="34" charset="-122"/>
                <a:cs typeface="Calibri" pitchFamily="34" charset="-120"/>
              </a:rPr>
              <a:t>Key Edge: Exhaustive River Evaluation</a:t>
            </a:r>
            <a:endParaRPr lang="en-US" sz="1200" dirty="0"/>
          </a:p>
        </p:txBody>
      </p:sp>
      <p:sp>
        <p:nvSpPr>
          <p:cNvPr id="23" name="Text 20"/>
          <p:cNvSpPr/>
          <p:nvPr/>
        </p:nvSpPr>
        <p:spPr>
          <a:xfrm>
            <a:off x="502920" y="3733800"/>
            <a:ext cx="8046720" cy="896112"/>
          </a:xfrm>
          <a:prstGeom prst="rect">
            <a:avLst/>
          </a:prstGeom>
          <a:noFill/>
          <a:ln/>
        </p:spPr>
        <p:txBody>
          <a:bodyPr wrap="square" lIns="0" tIns="0" rIns="0" bIns="0" rtlCol="0" anchor="ctr"/>
          <a:lstStyle/>
          <a:p>
            <a:pPr marL="0" indent="0">
              <a:buNone/>
            </a:pPr>
            <a:r>
              <a:rPr lang="en-US" sz="1050" dirty="0">
                <a:solidFill>
                  <a:srgbClr val="F0F4F8"/>
                </a:solidFill>
                <a:latin typeface="Calibri" pitchFamily="34" charset="0"/>
                <a:ea typeface="Calibri" pitchFamily="34" charset="-122"/>
                <a:cs typeface="Calibri" pitchFamily="34" charset="-120"/>
              </a:rPr>
              <a:t>On a complete river with one known opponent card, we enumerate all ~44 remaining deck cards for exact equity - no sampling error. This gives perfectly calibrated EV at the most decisive moment.</a:t>
            </a:r>
            <a:endParaRPr lang="en-US" sz="1050" dirty="0"/>
          </a:p>
        </p:txBody>
      </p:sp>
      <p:graphicFrame>
        <p:nvGraphicFramePr>
          <p:cNvPr id="25" name="Table 0">
            <a:extLst>
              <a:ext uri="{FF2B5EF4-FFF2-40B4-BE49-F238E27FC236}">
                <a16:creationId xmlns:a16="http://schemas.microsoft.com/office/drawing/2014/main" id="{52DF5203-EB63-9A18-4F5B-954FED6353CE}"/>
              </a:ext>
            </a:extLst>
          </p:cNvPr>
          <p:cNvGraphicFramePr>
            <a:graphicFrameLocks noGrp="1"/>
          </p:cNvGraphicFramePr>
          <p:nvPr>
            <p:extLst>
              <p:ext uri="{D42A27DB-BD31-4B8C-83A1-F6EECF244321}">
                <p14:modId xmlns:p14="http://schemas.microsoft.com/office/powerpoint/2010/main" val="3403644851"/>
              </p:ext>
            </p:extLst>
          </p:nvPr>
        </p:nvGraphicFramePr>
        <p:xfrm>
          <a:off x="4754880" y="2560320"/>
          <a:ext cx="4160520" cy="830580"/>
        </p:xfrm>
        <a:graphic>
          <a:graphicData uri="http://schemas.openxmlformats.org/drawingml/2006/table">
            <a:tbl>
              <a:tblPr/>
              <a:tblGrid>
                <a:gridCol w="10972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0">
                <a:tc>
                  <a:txBody>
                    <a:bodyPr/>
                    <a:lstStyle/>
                    <a:p>
                      <a:pPr marL="0" indent="0">
                        <a:buNone/>
                      </a:pPr>
                      <a:r>
                        <a:rPr lang="en-US" sz="800" b="1" dirty="0">
                          <a:solidFill>
                            <a:srgbClr val="FFFFFF"/>
                          </a:solidFill>
                        </a:rPr>
                        <a:t>Street</a:t>
                      </a:r>
                      <a:endParaRPr lang="en-US" sz="800" dirty="0"/>
                    </a:p>
                  </a:txBody>
                  <a:tcP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2A3A4A"/>
                    </a:solidFill>
                  </a:tcPr>
                </a:tc>
                <a:tc>
                  <a:txBody>
                    <a:bodyPr/>
                    <a:lstStyle/>
                    <a:p>
                      <a:pPr marL="0" indent="0">
                        <a:buNone/>
                      </a:pPr>
                      <a:r>
                        <a:rPr lang="en-US" sz="800" b="1" dirty="0">
                          <a:solidFill>
                            <a:srgbClr val="FFFFFF"/>
                          </a:solidFill>
                        </a:rPr>
                        <a:t>Opp Known?</a:t>
                      </a:r>
                      <a:endParaRPr lang="en-US" sz="800" dirty="0"/>
                    </a:p>
                  </a:txBody>
                  <a:tcP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2A3A4A"/>
                    </a:solidFill>
                  </a:tcPr>
                </a:tc>
                <a:tc>
                  <a:txBody>
                    <a:bodyPr/>
                    <a:lstStyle/>
                    <a:p>
                      <a:pPr marL="0" indent="0">
                        <a:buNone/>
                      </a:pPr>
                      <a:r>
                        <a:rPr lang="en-US" sz="800" b="1" dirty="0">
                          <a:solidFill>
                            <a:srgbClr val="FFFFFF"/>
                          </a:solidFill>
                        </a:rPr>
                        <a:t>Method</a:t>
                      </a:r>
                      <a:endParaRPr lang="en-US" sz="800" dirty="0"/>
                    </a:p>
                  </a:txBody>
                  <a:tcP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2A3A4A"/>
                    </a:solidFill>
                  </a:tcPr>
                </a:tc>
                <a:extLst>
                  <a:ext uri="{0D108BD9-81ED-4DB2-BD59-A6C34878D82A}">
                    <a16:rowId xmlns:a16="http://schemas.microsoft.com/office/drawing/2014/main" val="10000"/>
                  </a:ext>
                </a:extLst>
              </a:tr>
              <a:tr h="0">
                <a:tc>
                  <a:txBody>
                    <a:bodyPr/>
                    <a:lstStyle/>
                    <a:p>
                      <a:pPr marL="0" indent="0">
                        <a:buNone/>
                      </a:pPr>
                      <a:r>
                        <a:rPr lang="en-US" sz="750" dirty="0">
                          <a:solidFill>
                            <a:srgbClr val="B0BEC5"/>
                          </a:solidFill>
                        </a:rPr>
                        <a:t>Preflop</a:t>
                      </a:r>
                      <a:endParaRPr lang="en-US" sz="750" dirty="0"/>
                    </a:p>
                  </a:txBody>
                  <a:tcP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marL="0" indent="0">
                        <a:buNone/>
                      </a:pPr>
                      <a:r>
                        <a:rPr lang="en-US" sz="750" dirty="0">
                          <a:solidFill>
                            <a:srgbClr val="B0BEC5"/>
                          </a:solidFill>
                        </a:rPr>
                        <a:t>N/A</a:t>
                      </a:r>
                      <a:endParaRPr lang="en-US" sz="750" dirty="0"/>
                    </a:p>
                  </a:txBody>
                  <a:tcP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marL="0" indent="0">
                        <a:buNone/>
                      </a:pPr>
                      <a:r>
                        <a:rPr lang="en-US" sz="750" dirty="0">
                          <a:solidFill>
                            <a:srgbClr val="00BCD4"/>
                          </a:solidFill>
                        </a:rPr>
                        <a:t>Lookup Table</a:t>
                      </a:r>
                      <a:endParaRPr lang="en-US" sz="750" dirty="0"/>
                    </a:p>
                  </a:txBody>
                  <a:tcP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extLst>
                  <a:ext uri="{0D108BD9-81ED-4DB2-BD59-A6C34878D82A}">
                    <a16:rowId xmlns:a16="http://schemas.microsoft.com/office/drawing/2014/main" val="10001"/>
                  </a:ext>
                </a:extLst>
              </a:tr>
              <a:tr h="0">
                <a:tc>
                  <a:txBody>
                    <a:bodyPr/>
                    <a:lstStyle/>
                    <a:p>
                      <a:pPr marL="0" indent="0">
                        <a:buNone/>
                      </a:pPr>
                      <a:r>
                        <a:rPr lang="en-US" sz="750" dirty="0">
                          <a:solidFill>
                            <a:srgbClr val="B0BEC5"/>
                          </a:solidFill>
                        </a:rPr>
                        <a:t>Flop/Turn</a:t>
                      </a:r>
                      <a:endParaRPr lang="en-US" sz="750" dirty="0"/>
                    </a:p>
                  </a:txBody>
                  <a:tcP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marL="0" indent="0">
                        <a:buNone/>
                      </a:pPr>
                      <a:r>
                        <a:rPr lang="en-US" sz="750" dirty="0">
                          <a:solidFill>
                            <a:srgbClr val="B0BEC5"/>
                          </a:solidFill>
                        </a:rPr>
                        <a:t>No / Yes</a:t>
                      </a:r>
                      <a:endParaRPr lang="en-US" sz="750" dirty="0"/>
                    </a:p>
                  </a:txBody>
                  <a:tcP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marL="0" indent="0">
                        <a:buNone/>
                      </a:pPr>
                      <a:r>
                        <a:rPr lang="en-US" sz="750" dirty="0">
                          <a:solidFill>
                            <a:srgbClr val="FF9800"/>
                          </a:solidFill>
                        </a:rPr>
                        <a:t>Monte Carlo</a:t>
                      </a:r>
                      <a:endParaRPr lang="en-US" sz="750" dirty="0"/>
                    </a:p>
                  </a:txBody>
                  <a:tcP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extLst>
                  <a:ext uri="{0D108BD9-81ED-4DB2-BD59-A6C34878D82A}">
                    <a16:rowId xmlns:a16="http://schemas.microsoft.com/office/drawing/2014/main" val="10002"/>
                  </a:ext>
                </a:extLst>
              </a:tr>
              <a:tr h="0">
                <a:tc>
                  <a:txBody>
                    <a:bodyPr/>
                    <a:lstStyle/>
                    <a:p>
                      <a:pPr marL="0" indent="0">
                        <a:buNone/>
                      </a:pPr>
                      <a:r>
                        <a:rPr lang="en-US" sz="750" b="1" dirty="0">
                          <a:solidFill>
                            <a:srgbClr val="4CAF50"/>
                          </a:solidFill>
                        </a:rPr>
                        <a:t>River</a:t>
                      </a:r>
                      <a:endParaRPr lang="en-US" sz="750" dirty="0"/>
                    </a:p>
                  </a:txBody>
                  <a:tcP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marL="0" indent="0">
                        <a:buNone/>
                      </a:pPr>
                      <a:r>
                        <a:rPr lang="en-US" sz="750" b="1" dirty="0">
                          <a:solidFill>
                            <a:srgbClr val="4CAF50"/>
                          </a:solidFill>
                        </a:rPr>
                        <a:t>Yes (1 card)</a:t>
                      </a:r>
                      <a:endParaRPr lang="en-US" sz="750" dirty="0"/>
                    </a:p>
                  </a:txBody>
                  <a:tcP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marL="0" indent="0">
                        <a:buNone/>
                      </a:pPr>
                      <a:r>
                        <a:rPr lang="en-US" sz="750" b="1" dirty="0">
                          <a:solidFill>
                            <a:srgbClr val="4CAF50"/>
                          </a:solidFill>
                        </a:rPr>
                        <a:t>EXHAUSTIVE</a:t>
                      </a:r>
                      <a:endParaRPr lang="en-US" sz="750" dirty="0"/>
                    </a:p>
                  </a:txBody>
                  <a:tcP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extLst>
                  <a:ext uri="{0D108BD9-81ED-4DB2-BD59-A6C34878D82A}">
                    <a16:rowId xmlns:a16="http://schemas.microsoft.com/office/drawing/2014/main" val="10003"/>
                  </a:ext>
                </a:extLst>
              </a:tr>
            </a:tbl>
          </a:graphicData>
        </a:graphic>
      </p:graphicFrame>
      <p:pic>
        <p:nvPicPr>
          <p:cNvPr id="24" name="Picture 23">
            <a:extLst>
              <a:ext uri="{FF2B5EF4-FFF2-40B4-BE49-F238E27FC236}">
                <a16:creationId xmlns:a16="http://schemas.microsoft.com/office/drawing/2014/main" id="{1556F1B9-18E8-A658-C722-974964EC737D}"/>
              </a:ext>
            </a:extLst>
          </p:cNvPr>
          <p:cNvPicPr>
            <a:picLocks noChangeAspect="1"/>
          </p:cNvPicPr>
          <p:nvPr/>
        </p:nvPicPr>
        <p:blipFill>
          <a:blip r:embed="rId3"/>
          <a:stretch>
            <a:fillRect/>
          </a:stretch>
        </p:blipFill>
        <p:spPr>
          <a:xfrm>
            <a:off x="4735424" y="896112"/>
            <a:ext cx="4179976" cy="1600200"/>
          </a:xfrm>
          <a:prstGeom prst="rect">
            <a:avLst/>
          </a:prstGeom>
        </p:spPr>
      </p:pic>
      <p:sp>
        <p:nvSpPr>
          <p:cNvPr id="29" name="TextBox 28">
            <a:extLst>
              <a:ext uri="{FF2B5EF4-FFF2-40B4-BE49-F238E27FC236}">
                <a16:creationId xmlns:a16="http://schemas.microsoft.com/office/drawing/2014/main" id="{E011EE7F-BEFF-2585-996F-4BAD1DCB9BE2}"/>
              </a:ext>
            </a:extLst>
          </p:cNvPr>
          <p:cNvSpPr txBox="1"/>
          <p:nvPr/>
        </p:nvSpPr>
        <p:spPr>
          <a:xfrm>
            <a:off x="320040" y="4629912"/>
            <a:ext cx="8503920" cy="430887"/>
          </a:xfrm>
          <a:prstGeom prst="rect">
            <a:avLst/>
          </a:prstGeom>
          <a:noFill/>
        </p:spPr>
        <p:txBody>
          <a:bodyPr wrap="square" rtlCol="0">
            <a:spAutoFit/>
          </a:bodyPr>
          <a:lstStyle/>
          <a:p>
            <a:r>
              <a:rPr lang="en-US" sz="1050" b="1" i="1" dirty="0">
                <a:solidFill>
                  <a:srgbClr val="7C899F"/>
                </a:solidFill>
              </a:rPr>
              <a:t>Our bot operates on a four-pillar architecture - Perceive, Auction, Adapt, and Execute - anchored heavily on whether we win or lose the information warfare auction.</a:t>
            </a:r>
            <a:endParaRPr lang="en-IN" sz="1050" b="1" i="1" dirty="0">
              <a:solidFill>
                <a:srgbClr val="7C899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164592"/>
            <a:ext cx="9144000" cy="640080"/>
          </a:xfrm>
          <a:prstGeom prst="rect">
            <a:avLst/>
          </a:prstGeom>
          <a:solidFill>
            <a:srgbClr val="1B2A3B"/>
          </a:solidFill>
          <a:ln w="12700">
            <a:solidFill>
              <a:srgbClr val="1B2A3B"/>
            </a:solidFill>
            <a:prstDash val="solid"/>
          </a:ln>
        </p:spPr>
        <p:txBody>
          <a:bodyPr/>
          <a:lstStyle/>
          <a:p>
            <a:endParaRPr lang="en-IN" dirty="0"/>
          </a:p>
        </p:txBody>
      </p:sp>
      <p:sp>
        <p:nvSpPr>
          <p:cNvPr id="3" name="Shape 1"/>
          <p:cNvSpPr/>
          <p:nvPr/>
        </p:nvSpPr>
        <p:spPr>
          <a:xfrm>
            <a:off x="274320" y="256032"/>
            <a:ext cx="54864" cy="457200"/>
          </a:xfrm>
          <a:prstGeom prst="rect">
            <a:avLst/>
          </a:prstGeom>
          <a:solidFill>
            <a:srgbClr val="E2A84B"/>
          </a:solidFill>
          <a:ln w="12700">
            <a:solidFill>
              <a:srgbClr val="E2A84B"/>
            </a:solidFill>
            <a:prstDash val="solid"/>
          </a:ln>
        </p:spPr>
        <p:txBody>
          <a:bodyPr/>
          <a:lstStyle/>
          <a:p>
            <a:endParaRPr lang="en-IN" dirty="0"/>
          </a:p>
        </p:txBody>
      </p:sp>
      <p:sp>
        <p:nvSpPr>
          <p:cNvPr id="4" name="Text 2"/>
          <p:cNvSpPr/>
          <p:nvPr/>
        </p:nvSpPr>
        <p:spPr>
          <a:xfrm>
            <a:off x="457200" y="256032"/>
            <a:ext cx="8321040" cy="457200"/>
          </a:xfrm>
          <a:prstGeom prst="rect">
            <a:avLst/>
          </a:prstGeom>
          <a:noFill/>
          <a:ln/>
        </p:spPr>
        <p:txBody>
          <a:bodyPr wrap="square" lIns="0" tIns="0" rIns="0" bIns="0" rtlCol="0" anchor="ctr"/>
          <a:lstStyle/>
          <a:p>
            <a:pPr marL="0" indent="0" algn="l">
              <a:buNone/>
            </a:pPr>
            <a:r>
              <a:rPr lang="en-US" sz="2100" b="1" dirty="0">
                <a:solidFill>
                  <a:srgbClr val="F0F4F8"/>
                </a:solidFill>
                <a:latin typeface="Calibri" pitchFamily="34" charset="0"/>
                <a:ea typeface="Calibri" pitchFamily="34" charset="-122"/>
                <a:cs typeface="Calibri" pitchFamily="34" charset="-120"/>
              </a:rPr>
              <a:t>Adjusted Equity - The Decision Engine</a:t>
            </a:r>
            <a:endParaRPr lang="en-US" sz="2100" dirty="0"/>
          </a:p>
        </p:txBody>
      </p:sp>
      <p:sp>
        <p:nvSpPr>
          <p:cNvPr id="5" name="Text 3"/>
          <p:cNvSpPr/>
          <p:nvPr/>
        </p:nvSpPr>
        <p:spPr>
          <a:xfrm>
            <a:off x="365760" y="960120"/>
            <a:ext cx="8412480" cy="329184"/>
          </a:xfrm>
          <a:prstGeom prst="rect">
            <a:avLst/>
          </a:prstGeom>
          <a:noFill/>
          <a:ln/>
        </p:spPr>
        <p:txBody>
          <a:bodyPr wrap="square" rtlCol="0" anchor="ctr"/>
          <a:lstStyle/>
          <a:p>
            <a:pPr marL="0" indent="0">
              <a:buNone/>
            </a:pPr>
            <a:r>
              <a:rPr lang="en-US" sz="1200" b="1" i="1" dirty="0">
                <a:solidFill>
                  <a:srgbClr val="9DAFC0"/>
                </a:solidFill>
                <a:latin typeface="Calibri" pitchFamily="34" charset="0"/>
                <a:ea typeface="Calibri" pitchFamily="34" charset="-122"/>
                <a:cs typeface="Calibri" pitchFamily="34" charset="-120"/>
              </a:rPr>
              <a:t>While raw equity calculates the pure mathematical probability of winning, adjusted equity determines the actual profitability of taking action.</a:t>
            </a:r>
            <a:endParaRPr lang="en-US" sz="1200" b="1" dirty="0"/>
          </a:p>
        </p:txBody>
      </p:sp>
      <p:sp>
        <p:nvSpPr>
          <p:cNvPr id="6" name="Shape 4"/>
          <p:cNvSpPr/>
          <p:nvPr/>
        </p:nvSpPr>
        <p:spPr>
          <a:xfrm>
            <a:off x="320040" y="1389888"/>
            <a:ext cx="1965960" cy="804672"/>
          </a:xfrm>
          <a:prstGeom prst="rect">
            <a:avLst/>
          </a:prstGeom>
          <a:solidFill>
            <a:srgbClr val="1B2A3B"/>
          </a:solidFill>
          <a:ln w="12700">
            <a:solidFill>
              <a:srgbClr val="1DB8C7"/>
            </a:solidFill>
            <a:prstDash val="solid"/>
          </a:ln>
          <a:effectLst>
            <a:outerShdw blurRad="101600" dist="38100" dir="8100000" algn="bl" rotWithShape="0">
              <a:srgbClr val="000000">
                <a:alpha val="28000"/>
              </a:srgbClr>
            </a:outerShdw>
          </a:effectLst>
        </p:spPr>
        <p:txBody>
          <a:bodyPr/>
          <a:lstStyle/>
          <a:p>
            <a:endParaRPr lang="en-IN" dirty="0"/>
          </a:p>
        </p:txBody>
      </p:sp>
      <p:sp>
        <p:nvSpPr>
          <p:cNvPr id="7" name="Shape 5"/>
          <p:cNvSpPr/>
          <p:nvPr/>
        </p:nvSpPr>
        <p:spPr>
          <a:xfrm>
            <a:off x="320040" y="1389888"/>
            <a:ext cx="1965960" cy="274320"/>
          </a:xfrm>
          <a:prstGeom prst="rect">
            <a:avLst/>
          </a:prstGeom>
          <a:solidFill>
            <a:srgbClr val="1DB8C7"/>
          </a:solidFill>
          <a:ln w="12700">
            <a:solidFill>
              <a:srgbClr val="1DB8C7"/>
            </a:solidFill>
            <a:prstDash val="solid"/>
          </a:ln>
        </p:spPr>
        <p:txBody>
          <a:bodyPr/>
          <a:lstStyle/>
          <a:p>
            <a:endParaRPr lang="en-IN" dirty="0"/>
          </a:p>
        </p:txBody>
      </p:sp>
      <p:sp>
        <p:nvSpPr>
          <p:cNvPr id="8" name="Text 6"/>
          <p:cNvSpPr/>
          <p:nvPr/>
        </p:nvSpPr>
        <p:spPr>
          <a:xfrm>
            <a:off x="374904" y="1417320"/>
            <a:ext cx="1847088" cy="219456"/>
          </a:xfrm>
          <a:prstGeom prst="rect">
            <a:avLst/>
          </a:prstGeom>
          <a:noFill/>
          <a:ln/>
        </p:spPr>
        <p:txBody>
          <a:bodyPr wrap="square" lIns="0" tIns="0" rIns="0" bIns="0"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Raw Equity (eq)</a:t>
            </a:r>
            <a:endParaRPr lang="en-US" sz="950" dirty="0"/>
          </a:p>
        </p:txBody>
      </p:sp>
      <p:sp>
        <p:nvSpPr>
          <p:cNvPr id="9" name="Text 7"/>
          <p:cNvSpPr/>
          <p:nvPr/>
        </p:nvSpPr>
        <p:spPr>
          <a:xfrm>
            <a:off x="374904" y="1709928"/>
            <a:ext cx="1847088" cy="402336"/>
          </a:xfrm>
          <a:prstGeom prst="rect">
            <a:avLst/>
          </a:prstGeom>
          <a:noFill/>
          <a:ln/>
        </p:spPr>
        <p:txBody>
          <a:bodyPr wrap="square" lIns="0" tIns="0" rIns="0" bIns="0" rtlCol="0" anchor="ctr"/>
          <a:lstStyle/>
          <a:p>
            <a:pPr marL="0" indent="0">
              <a:buNone/>
            </a:pPr>
            <a:r>
              <a:rPr lang="en-US" sz="900" dirty="0">
                <a:solidFill>
                  <a:srgbClr val="9DAFC0"/>
                </a:solidFill>
                <a:latin typeface="Calibri" pitchFamily="34" charset="0"/>
                <a:ea typeface="Calibri" pitchFamily="34" charset="-122"/>
                <a:cs typeface="Calibri" pitchFamily="34" charset="-120"/>
              </a:rPr>
              <a:t>MC / Table</a:t>
            </a:r>
            <a:endParaRPr lang="en-US" sz="900" dirty="0"/>
          </a:p>
        </p:txBody>
      </p:sp>
      <p:sp>
        <p:nvSpPr>
          <p:cNvPr id="10" name="Text 8"/>
          <p:cNvSpPr/>
          <p:nvPr/>
        </p:nvSpPr>
        <p:spPr>
          <a:xfrm>
            <a:off x="2285999" y="1664208"/>
            <a:ext cx="378823" cy="201168"/>
          </a:xfrm>
          <a:prstGeom prst="rect">
            <a:avLst/>
          </a:prstGeom>
          <a:noFill/>
          <a:ln/>
        </p:spPr>
        <p:txBody>
          <a:bodyPr wrap="square" lIns="0" tIns="0" rIns="0" bIns="0" rtlCol="0" anchor="ctr"/>
          <a:lstStyle/>
          <a:p>
            <a:pPr marL="0" indent="0">
              <a:buNone/>
            </a:pPr>
            <a:r>
              <a:rPr lang="en-US" sz="2000" dirty="0">
                <a:solidFill>
                  <a:srgbClr val="E2A84B"/>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496312" y="1389888"/>
            <a:ext cx="1965960" cy="804672"/>
          </a:xfrm>
          <a:prstGeom prst="rect">
            <a:avLst/>
          </a:prstGeom>
          <a:solidFill>
            <a:srgbClr val="1B2A3B"/>
          </a:solidFill>
          <a:ln w="12700">
            <a:solidFill>
              <a:srgbClr val="E05C5C"/>
            </a:solidFill>
            <a:prstDash val="solid"/>
          </a:ln>
          <a:effectLst>
            <a:outerShdw blurRad="101600" dist="38100" dir="8100000" algn="bl" rotWithShape="0">
              <a:srgbClr val="000000">
                <a:alpha val="28000"/>
              </a:srgbClr>
            </a:outerShdw>
          </a:effectLst>
        </p:spPr>
        <p:txBody>
          <a:bodyPr/>
          <a:lstStyle/>
          <a:p>
            <a:endParaRPr lang="en-IN" dirty="0"/>
          </a:p>
        </p:txBody>
      </p:sp>
      <p:sp>
        <p:nvSpPr>
          <p:cNvPr id="12" name="Shape 10"/>
          <p:cNvSpPr/>
          <p:nvPr/>
        </p:nvSpPr>
        <p:spPr>
          <a:xfrm>
            <a:off x="2496312" y="1389888"/>
            <a:ext cx="1965960" cy="274320"/>
          </a:xfrm>
          <a:prstGeom prst="rect">
            <a:avLst/>
          </a:prstGeom>
          <a:solidFill>
            <a:srgbClr val="E05C5C"/>
          </a:solidFill>
          <a:ln w="12700">
            <a:solidFill>
              <a:srgbClr val="E05C5C"/>
            </a:solidFill>
            <a:prstDash val="solid"/>
          </a:ln>
        </p:spPr>
        <p:txBody>
          <a:bodyPr/>
          <a:lstStyle/>
          <a:p>
            <a:endParaRPr lang="en-IN" dirty="0"/>
          </a:p>
        </p:txBody>
      </p:sp>
      <p:sp>
        <p:nvSpPr>
          <p:cNvPr id="13" name="Text 11"/>
          <p:cNvSpPr/>
          <p:nvPr/>
        </p:nvSpPr>
        <p:spPr>
          <a:xfrm>
            <a:off x="2551176" y="1417320"/>
            <a:ext cx="1847088" cy="219456"/>
          </a:xfrm>
          <a:prstGeom prst="rect">
            <a:avLst/>
          </a:prstGeom>
          <a:noFill/>
          <a:ln/>
        </p:spPr>
        <p:txBody>
          <a:bodyPr wrap="square" lIns="0" tIns="0" rIns="0" bIns="0"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Apply Penalties</a:t>
            </a:r>
            <a:endParaRPr lang="en-US" sz="950" dirty="0"/>
          </a:p>
        </p:txBody>
      </p:sp>
      <p:sp>
        <p:nvSpPr>
          <p:cNvPr id="14" name="Text 12"/>
          <p:cNvSpPr/>
          <p:nvPr/>
        </p:nvSpPr>
        <p:spPr>
          <a:xfrm>
            <a:off x="2551176" y="1709928"/>
            <a:ext cx="1847088" cy="402336"/>
          </a:xfrm>
          <a:prstGeom prst="rect">
            <a:avLst/>
          </a:prstGeom>
          <a:noFill/>
          <a:ln/>
        </p:spPr>
        <p:txBody>
          <a:bodyPr wrap="square" lIns="0" tIns="0" rIns="0" bIns="0" rtlCol="0" anchor="ctr"/>
          <a:lstStyle/>
          <a:p>
            <a:pPr marL="0" indent="0">
              <a:buNone/>
            </a:pPr>
            <a:r>
              <a:rPr lang="en-US" sz="900" dirty="0">
                <a:solidFill>
                  <a:srgbClr val="9DAFC0"/>
                </a:solidFill>
                <a:latin typeface="Calibri" pitchFamily="34" charset="0"/>
                <a:ea typeface="Calibri" pitchFamily="34" charset="-122"/>
                <a:cs typeface="Calibri" pitchFamily="34" charset="-120"/>
              </a:rPr>
              <a:t>bet, street, board, info</a:t>
            </a:r>
            <a:endParaRPr lang="en-US" sz="900" dirty="0"/>
          </a:p>
        </p:txBody>
      </p:sp>
      <p:sp>
        <p:nvSpPr>
          <p:cNvPr id="15" name="Text 13"/>
          <p:cNvSpPr/>
          <p:nvPr/>
        </p:nvSpPr>
        <p:spPr>
          <a:xfrm>
            <a:off x="4462272" y="1664208"/>
            <a:ext cx="201168" cy="201168"/>
          </a:xfrm>
          <a:prstGeom prst="rect">
            <a:avLst/>
          </a:prstGeom>
          <a:noFill/>
          <a:ln/>
        </p:spPr>
        <p:txBody>
          <a:bodyPr wrap="square" lIns="0" tIns="0" rIns="0" bIns="0" rtlCol="0" anchor="ctr"/>
          <a:lstStyle/>
          <a:p>
            <a:pPr marL="0" indent="0">
              <a:buNone/>
            </a:pPr>
            <a:r>
              <a:rPr lang="en-US" sz="2000" dirty="0">
                <a:solidFill>
                  <a:srgbClr val="E2A84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4672584" y="1389888"/>
            <a:ext cx="1965960" cy="804672"/>
          </a:xfrm>
          <a:prstGeom prst="rect">
            <a:avLst/>
          </a:prstGeom>
          <a:solidFill>
            <a:srgbClr val="1B2A3B"/>
          </a:solidFill>
          <a:ln w="12700">
            <a:solidFill>
              <a:srgbClr val="4EBF8E"/>
            </a:solidFill>
            <a:prstDash val="solid"/>
          </a:ln>
          <a:effectLst>
            <a:outerShdw blurRad="101600" dist="38100" dir="8100000" algn="bl" rotWithShape="0">
              <a:srgbClr val="000000">
                <a:alpha val="28000"/>
              </a:srgbClr>
            </a:outerShdw>
          </a:effectLst>
        </p:spPr>
        <p:txBody>
          <a:bodyPr/>
          <a:lstStyle/>
          <a:p>
            <a:endParaRPr lang="en-IN" dirty="0"/>
          </a:p>
        </p:txBody>
      </p:sp>
      <p:sp>
        <p:nvSpPr>
          <p:cNvPr id="17" name="Shape 15"/>
          <p:cNvSpPr/>
          <p:nvPr/>
        </p:nvSpPr>
        <p:spPr>
          <a:xfrm>
            <a:off x="4672584" y="1389888"/>
            <a:ext cx="1965960" cy="274320"/>
          </a:xfrm>
          <a:prstGeom prst="rect">
            <a:avLst/>
          </a:prstGeom>
          <a:solidFill>
            <a:srgbClr val="4EBF8E"/>
          </a:solidFill>
          <a:ln w="12700">
            <a:solidFill>
              <a:srgbClr val="4EBF8E"/>
            </a:solidFill>
            <a:prstDash val="solid"/>
          </a:ln>
        </p:spPr>
        <p:txBody>
          <a:bodyPr/>
          <a:lstStyle/>
          <a:p>
            <a:endParaRPr lang="en-IN" dirty="0"/>
          </a:p>
        </p:txBody>
      </p:sp>
      <p:sp>
        <p:nvSpPr>
          <p:cNvPr id="18" name="Text 16"/>
          <p:cNvSpPr/>
          <p:nvPr/>
        </p:nvSpPr>
        <p:spPr>
          <a:xfrm>
            <a:off x="4727448" y="1417320"/>
            <a:ext cx="1847088" cy="219456"/>
          </a:xfrm>
          <a:prstGeom prst="rect">
            <a:avLst/>
          </a:prstGeom>
          <a:noFill/>
          <a:ln/>
        </p:spPr>
        <p:txBody>
          <a:bodyPr wrap="square" lIns="0" tIns="0" rIns="0" bIns="0"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Apply Recovery</a:t>
            </a:r>
            <a:endParaRPr lang="en-US" sz="950" dirty="0"/>
          </a:p>
        </p:txBody>
      </p:sp>
      <p:sp>
        <p:nvSpPr>
          <p:cNvPr id="19" name="Text 17"/>
          <p:cNvSpPr/>
          <p:nvPr/>
        </p:nvSpPr>
        <p:spPr>
          <a:xfrm>
            <a:off x="4727448" y="1709928"/>
            <a:ext cx="1847088" cy="402336"/>
          </a:xfrm>
          <a:prstGeom prst="rect">
            <a:avLst/>
          </a:prstGeom>
          <a:noFill/>
          <a:ln/>
        </p:spPr>
        <p:txBody>
          <a:bodyPr wrap="square" lIns="0" tIns="0" rIns="0" bIns="0" rtlCol="0" anchor="ctr"/>
          <a:lstStyle/>
          <a:p>
            <a:pPr marL="0" indent="0">
              <a:buNone/>
            </a:pPr>
            <a:r>
              <a:rPr lang="en-US" sz="900" dirty="0">
                <a:solidFill>
                  <a:srgbClr val="9DAFC0"/>
                </a:solidFill>
                <a:latin typeface="Calibri" pitchFamily="34" charset="0"/>
                <a:ea typeface="Calibri" pitchFamily="34" charset="-122"/>
                <a:cs typeface="Calibri" pitchFamily="34" charset="-120"/>
              </a:rPr>
              <a:t>vs. aggro opp</a:t>
            </a:r>
            <a:endParaRPr lang="en-US" sz="900" dirty="0"/>
          </a:p>
        </p:txBody>
      </p:sp>
      <p:sp>
        <p:nvSpPr>
          <p:cNvPr id="20" name="Text 18"/>
          <p:cNvSpPr/>
          <p:nvPr/>
        </p:nvSpPr>
        <p:spPr>
          <a:xfrm>
            <a:off x="6638544" y="1664208"/>
            <a:ext cx="201168" cy="201168"/>
          </a:xfrm>
          <a:prstGeom prst="rect">
            <a:avLst/>
          </a:prstGeom>
          <a:noFill/>
          <a:ln/>
        </p:spPr>
        <p:txBody>
          <a:bodyPr wrap="square" lIns="0" tIns="0" rIns="0" bIns="0" rtlCol="0" anchor="ctr"/>
          <a:lstStyle/>
          <a:p>
            <a:pPr marL="0" indent="0">
              <a:buNone/>
            </a:pPr>
            <a:r>
              <a:rPr lang="en-US" sz="2000" dirty="0">
                <a:solidFill>
                  <a:srgbClr val="E2A84B"/>
                </a:solidFill>
                <a:latin typeface="Calibri" pitchFamily="34" charset="0"/>
                <a:ea typeface="Calibri" pitchFamily="34" charset="-122"/>
                <a:cs typeface="Calibri" pitchFamily="34" charset="-120"/>
              </a:rPr>
              <a:t>▶</a:t>
            </a:r>
            <a:endParaRPr lang="en-US" sz="2000" dirty="0"/>
          </a:p>
        </p:txBody>
      </p:sp>
      <p:sp>
        <p:nvSpPr>
          <p:cNvPr id="21" name="Shape 19"/>
          <p:cNvSpPr/>
          <p:nvPr/>
        </p:nvSpPr>
        <p:spPr>
          <a:xfrm>
            <a:off x="6848856" y="1389888"/>
            <a:ext cx="1965960" cy="804672"/>
          </a:xfrm>
          <a:prstGeom prst="rect">
            <a:avLst/>
          </a:prstGeom>
          <a:solidFill>
            <a:srgbClr val="1B2A3B"/>
          </a:solidFill>
          <a:ln w="12700">
            <a:solidFill>
              <a:srgbClr val="E2A84B"/>
            </a:solidFill>
            <a:prstDash val="solid"/>
          </a:ln>
          <a:effectLst>
            <a:outerShdw blurRad="101600" dist="38100" dir="8100000" algn="bl" rotWithShape="0">
              <a:srgbClr val="000000">
                <a:alpha val="28000"/>
              </a:srgbClr>
            </a:outerShdw>
          </a:effectLst>
        </p:spPr>
        <p:txBody>
          <a:bodyPr/>
          <a:lstStyle/>
          <a:p>
            <a:endParaRPr lang="en-IN" dirty="0"/>
          </a:p>
        </p:txBody>
      </p:sp>
      <p:sp>
        <p:nvSpPr>
          <p:cNvPr id="22" name="Shape 20"/>
          <p:cNvSpPr/>
          <p:nvPr/>
        </p:nvSpPr>
        <p:spPr>
          <a:xfrm>
            <a:off x="6848856" y="1389888"/>
            <a:ext cx="1965960" cy="274320"/>
          </a:xfrm>
          <a:prstGeom prst="rect">
            <a:avLst/>
          </a:prstGeom>
          <a:solidFill>
            <a:srgbClr val="E2A84B"/>
          </a:solidFill>
          <a:ln w="12700">
            <a:solidFill>
              <a:srgbClr val="E2A84B"/>
            </a:solidFill>
            <a:prstDash val="solid"/>
          </a:ln>
        </p:spPr>
        <p:txBody>
          <a:bodyPr/>
          <a:lstStyle/>
          <a:p>
            <a:endParaRPr lang="en-IN" dirty="0"/>
          </a:p>
        </p:txBody>
      </p:sp>
      <p:sp>
        <p:nvSpPr>
          <p:cNvPr id="23" name="Text 21"/>
          <p:cNvSpPr/>
          <p:nvPr/>
        </p:nvSpPr>
        <p:spPr>
          <a:xfrm>
            <a:off x="6903720" y="1417320"/>
            <a:ext cx="1847088" cy="219456"/>
          </a:xfrm>
          <a:prstGeom prst="rect">
            <a:avLst/>
          </a:prstGeom>
          <a:noFill/>
          <a:ln/>
        </p:spPr>
        <p:txBody>
          <a:bodyPr wrap="square" lIns="0" tIns="0" rIns="0" bIns="0"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Adjusted Equity (adj)</a:t>
            </a:r>
            <a:endParaRPr lang="en-US" sz="950" dirty="0"/>
          </a:p>
        </p:txBody>
      </p:sp>
      <p:sp>
        <p:nvSpPr>
          <p:cNvPr id="24" name="Text 22"/>
          <p:cNvSpPr/>
          <p:nvPr/>
        </p:nvSpPr>
        <p:spPr>
          <a:xfrm>
            <a:off x="6903720" y="1709928"/>
            <a:ext cx="1847088" cy="402336"/>
          </a:xfrm>
          <a:prstGeom prst="rect">
            <a:avLst/>
          </a:prstGeom>
          <a:noFill/>
          <a:ln/>
        </p:spPr>
        <p:txBody>
          <a:bodyPr wrap="square" lIns="0" tIns="0" rIns="0" bIns="0" rtlCol="0" anchor="ctr"/>
          <a:lstStyle/>
          <a:p>
            <a:pPr marL="0" indent="0">
              <a:buNone/>
            </a:pPr>
            <a:r>
              <a:rPr lang="en-US" sz="900" dirty="0">
                <a:solidFill>
                  <a:srgbClr val="9DAFC0"/>
                </a:solidFill>
                <a:latin typeface="Calibri" pitchFamily="34" charset="0"/>
                <a:ea typeface="Calibri" pitchFamily="34" charset="-122"/>
                <a:cs typeface="Calibri" pitchFamily="34" charset="-120"/>
              </a:rPr>
              <a:t>final metric</a:t>
            </a:r>
            <a:endParaRPr lang="en-US" sz="900" dirty="0"/>
          </a:p>
        </p:txBody>
      </p:sp>
      <p:pic>
        <p:nvPicPr>
          <p:cNvPr id="25" name="Image 0" descr="/home/claude/orig_media/image5.png"/>
          <p:cNvPicPr>
            <a:picLocks noChangeAspect="1"/>
          </p:cNvPicPr>
          <p:nvPr/>
        </p:nvPicPr>
        <p:blipFill>
          <a:blip r:embed="rId3"/>
          <a:stretch>
            <a:fillRect/>
          </a:stretch>
        </p:blipFill>
        <p:spPr>
          <a:xfrm>
            <a:off x="104504" y="2323664"/>
            <a:ext cx="5812971" cy="2446020"/>
          </a:xfrm>
          <a:prstGeom prst="rect">
            <a:avLst/>
          </a:prstGeom>
        </p:spPr>
      </p:pic>
      <p:sp>
        <p:nvSpPr>
          <p:cNvPr id="26" name="Text 23"/>
          <p:cNvSpPr/>
          <p:nvPr/>
        </p:nvSpPr>
        <p:spPr>
          <a:xfrm>
            <a:off x="210312" y="4840224"/>
            <a:ext cx="8503920" cy="292608"/>
          </a:xfrm>
          <a:prstGeom prst="rect">
            <a:avLst/>
          </a:prstGeom>
          <a:noFill/>
          <a:ln/>
        </p:spPr>
        <p:txBody>
          <a:bodyPr wrap="square" rtlCol="0" anchor="ctr"/>
          <a:lstStyle/>
          <a:p>
            <a:pPr marL="0" indent="0" algn="ctr">
              <a:buNone/>
            </a:pPr>
            <a:r>
              <a:rPr lang="en-US" sz="950" i="1" dirty="0">
                <a:solidFill>
                  <a:srgbClr val="9DAFC0"/>
                </a:solidFill>
                <a:latin typeface="Calibri" pitchFamily="34" charset="0"/>
                <a:ea typeface="Calibri" pitchFamily="34" charset="-122"/>
                <a:cs typeface="Calibri" pitchFamily="34" charset="-120"/>
              </a:rPr>
              <a:t>Left: equity bonus added for each draw type on flop/turn  ·  Right: information-based recovery restoring adj toward raw eq</a:t>
            </a:r>
            <a:endParaRPr lang="en-US" sz="950" dirty="0"/>
          </a:p>
        </p:txBody>
      </p:sp>
      <p:pic>
        <p:nvPicPr>
          <p:cNvPr id="27" name="Image 1" descr="/home/claude/orig_media/image2.png"/>
          <p:cNvPicPr>
            <a:picLocks noChangeAspect="1"/>
          </p:cNvPicPr>
          <p:nvPr/>
        </p:nvPicPr>
        <p:blipFill>
          <a:blip r:embed="rId4"/>
          <a:stretch>
            <a:fillRect/>
          </a:stretch>
        </p:blipFill>
        <p:spPr>
          <a:xfrm>
            <a:off x="6096217" y="2311908"/>
            <a:ext cx="2828411" cy="24460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164592"/>
            <a:ext cx="9144000" cy="640080"/>
          </a:xfrm>
          <a:prstGeom prst="rect">
            <a:avLst/>
          </a:prstGeom>
          <a:solidFill>
            <a:srgbClr val="1B2A3B"/>
          </a:solidFill>
          <a:ln w="12700">
            <a:solidFill>
              <a:srgbClr val="1B2A3B"/>
            </a:solidFill>
            <a:prstDash val="solid"/>
          </a:ln>
        </p:spPr>
        <p:txBody>
          <a:bodyPr/>
          <a:lstStyle/>
          <a:p>
            <a:endParaRPr lang="en-IN" dirty="0"/>
          </a:p>
        </p:txBody>
      </p:sp>
      <p:sp>
        <p:nvSpPr>
          <p:cNvPr id="3" name="Shape 1"/>
          <p:cNvSpPr/>
          <p:nvPr/>
        </p:nvSpPr>
        <p:spPr>
          <a:xfrm>
            <a:off x="274320" y="256032"/>
            <a:ext cx="54864" cy="457200"/>
          </a:xfrm>
          <a:prstGeom prst="rect">
            <a:avLst/>
          </a:prstGeom>
          <a:solidFill>
            <a:srgbClr val="E2A84B"/>
          </a:solidFill>
          <a:ln w="12700">
            <a:solidFill>
              <a:srgbClr val="E2A84B"/>
            </a:solidFill>
            <a:prstDash val="solid"/>
          </a:ln>
        </p:spPr>
        <p:txBody>
          <a:bodyPr/>
          <a:lstStyle/>
          <a:p>
            <a:endParaRPr lang="en-IN" dirty="0"/>
          </a:p>
        </p:txBody>
      </p:sp>
      <p:sp>
        <p:nvSpPr>
          <p:cNvPr id="4" name="Text 2"/>
          <p:cNvSpPr/>
          <p:nvPr/>
        </p:nvSpPr>
        <p:spPr>
          <a:xfrm>
            <a:off x="457200" y="256032"/>
            <a:ext cx="8321040" cy="457200"/>
          </a:xfrm>
          <a:prstGeom prst="rect">
            <a:avLst/>
          </a:prstGeom>
          <a:noFill/>
          <a:ln/>
        </p:spPr>
        <p:txBody>
          <a:bodyPr wrap="square" lIns="0" tIns="0" rIns="0" bIns="0" rtlCol="0" anchor="ctr"/>
          <a:lstStyle/>
          <a:p>
            <a:pPr marL="0" indent="0" algn="l">
              <a:buNone/>
            </a:pPr>
            <a:r>
              <a:rPr lang="en-US" sz="2100" b="1" dirty="0">
                <a:solidFill>
                  <a:srgbClr val="F0F4F8"/>
                </a:solidFill>
                <a:latin typeface="Calibri" pitchFamily="34" charset="0"/>
                <a:ea typeface="Calibri" pitchFamily="34" charset="-122"/>
                <a:cs typeface="Calibri" pitchFamily="34" charset="-120"/>
              </a:rPr>
              <a:t>Confidence Punishment - Tiered Multiplier System</a:t>
            </a:r>
            <a:endParaRPr lang="en-US" sz="2100" dirty="0"/>
          </a:p>
        </p:txBody>
      </p:sp>
      <p:sp>
        <p:nvSpPr>
          <p:cNvPr id="5" name="Text 3"/>
          <p:cNvSpPr/>
          <p:nvPr/>
        </p:nvSpPr>
        <p:spPr>
          <a:xfrm>
            <a:off x="365760" y="960120"/>
            <a:ext cx="8412480" cy="329184"/>
          </a:xfrm>
          <a:prstGeom prst="rect">
            <a:avLst/>
          </a:prstGeom>
          <a:noFill/>
          <a:ln/>
        </p:spPr>
        <p:txBody>
          <a:bodyPr wrap="square" rtlCol="0" anchor="ctr"/>
          <a:lstStyle/>
          <a:p>
            <a:pPr marL="0" indent="0">
              <a:buNone/>
            </a:pPr>
            <a:r>
              <a:rPr lang="en-US" sz="1200" i="1" dirty="0">
                <a:solidFill>
                  <a:srgbClr val="9DAFC0"/>
                </a:solidFill>
                <a:latin typeface="Calibri" pitchFamily="34" charset="0"/>
                <a:ea typeface="Calibri" pitchFamily="34" charset="-122"/>
                <a:cs typeface="Calibri" pitchFamily="34" charset="-120"/>
              </a:rPr>
              <a:t>Our tiered confidence punishment system increasingly penalizes large bets the closer we get to the river, especially when we are at an information disadvantage</a:t>
            </a:r>
            <a:endParaRPr lang="en-US" sz="1200" dirty="0"/>
          </a:p>
        </p:txBody>
      </p:sp>
      <p:pic>
        <p:nvPicPr>
          <p:cNvPr id="6" name="Image 0" descr="/home/claude/orig_media/image4.png"/>
          <p:cNvPicPr>
            <a:picLocks noChangeAspect="1"/>
          </p:cNvPicPr>
          <p:nvPr/>
        </p:nvPicPr>
        <p:blipFill>
          <a:blip r:embed="rId3"/>
          <a:stretch>
            <a:fillRect/>
          </a:stretch>
        </p:blipFill>
        <p:spPr>
          <a:xfrm>
            <a:off x="374904" y="1325379"/>
            <a:ext cx="5285558" cy="1847589"/>
          </a:xfrm>
          <a:prstGeom prst="rect">
            <a:avLst/>
          </a:prstGeom>
        </p:spPr>
      </p:pic>
      <p:sp>
        <p:nvSpPr>
          <p:cNvPr id="7" name="Shape 4"/>
          <p:cNvSpPr/>
          <p:nvPr/>
        </p:nvSpPr>
        <p:spPr>
          <a:xfrm>
            <a:off x="5852160" y="1335024"/>
            <a:ext cx="3108960" cy="1828800"/>
          </a:xfrm>
          <a:prstGeom prst="rect">
            <a:avLst/>
          </a:prstGeom>
          <a:solidFill>
            <a:srgbClr val="1C2233"/>
          </a:solidFill>
          <a:ln/>
          <a:effectLst>
            <a:outerShdw blurRad="50800" dist="12700" dir="8100000" algn="bl" rotWithShape="0">
              <a:srgbClr val="000000">
                <a:alpha val="18000"/>
              </a:srgbClr>
            </a:outerShdw>
          </a:effectLst>
        </p:spPr>
        <p:txBody>
          <a:bodyPr/>
          <a:lstStyle/>
          <a:p>
            <a:endParaRPr lang="en-IN"/>
          </a:p>
        </p:txBody>
      </p:sp>
      <p:sp>
        <p:nvSpPr>
          <p:cNvPr id="15" name="Shape 5"/>
          <p:cNvSpPr/>
          <p:nvPr/>
        </p:nvSpPr>
        <p:spPr>
          <a:xfrm>
            <a:off x="5852160" y="1335024"/>
            <a:ext cx="3108960" cy="36576"/>
          </a:xfrm>
          <a:prstGeom prst="rect">
            <a:avLst/>
          </a:prstGeom>
          <a:solidFill>
            <a:srgbClr val="E05555"/>
          </a:solidFill>
          <a:ln/>
        </p:spPr>
        <p:txBody>
          <a:bodyPr/>
          <a:lstStyle/>
          <a:p>
            <a:endParaRPr lang="en-IN"/>
          </a:p>
        </p:txBody>
      </p:sp>
      <p:sp>
        <p:nvSpPr>
          <p:cNvPr id="16" name="Text 6"/>
          <p:cNvSpPr/>
          <p:nvPr/>
        </p:nvSpPr>
        <p:spPr>
          <a:xfrm>
            <a:off x="5943600" y="1426464"/>
            <a:ext cx="292608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Hard Multipliers (Special Cases)</a:t>
            </a:r>
            <a:endParaRPr lang="en-US" sz="1100" dirty="0"/>
          </a:p>
        </p:txBody>
      </p:sp>
      <p:sp>
        <p:nvSpPr>
          <p:cNvPr id="17" name="Text 7"/>
          <p:cNvSpPr/>
          <p:nvPr/>
        </p:nvSpPr>
        <p:spPr>
          <a:xfrm>
            <a:off x="5943600" y="1746504"/>
            <a:ext cx="2926080" cy="1280160"/>
          </a:xfrm>
          <a:prstGeom prst="rect">
            <a:avLst/>
          </a:prstGeom>
          <a:noFill/>
          <a:ln/>
        </p:spPr>
        <p:txBody>
          <a:bodyPr wrap="square" lIns="25400" tIns="50800" rIns="50800" bIns="25400" rtlCol="0" anchor="t"/>
          <a:lstStyle/>
          <a:p>
            <a:pPr marL="342900" indent="-342900">
              <a:buSzPct val="100000"/>
              <a:buChar char="•"/>
            </a:pPr>
            <a:r>
              <a:rPr lang="en-US" sz="950" dirty="0">
                <a:solidFill>
                  <a:srgbClr val="B0BAD0"/>
                </a:solidFill>
                <a:latin typeface="Calibri" pitchFamily="34" charset="0"/>
                <a:ea typeface="Calibri" pitchFamily="34" charset="-122"/>
                <a:cs typeface="Calibri" pitchFamily="34" charset="-120"/>
              </a:rPr>
              <a:t>River check-raise: ×0.30 (almost never a bluff)</a:t>
            </a:r>
            <a:endParaRPr lang="en-US" sz="950" dirty="0"/>
          </a:p>
          <a:p>
            <a:pPr marL="342900" indent="-342900">
              <a:buSzPct val="100000"/>
              <a:buChar char="•"/>
            </a:pPr>
            <a:r>
              <a:rPr lang="en-US" sz="950" dirty="0">
                <a:solidFill>
                  <a:srgbClr val="B0BAD0"/>
                </a:solidFill>
                <a:latin typeface="Calibri" pitchFamily="34" charset="0"/>
                <a:ea typeface="Calibri" pitchFamily="34" charset="-122"/>
                <a:cs typeface="Calibri" pitchFamily="34" charset="-120"/>
              </a:rPr>
              <a:t>Turn overbet (br&gt;1.0, eq&lt;0.87): ×0.38</a:t>
            </a:r>
            <a:endParaRPr lang="en-US" sz="950" dirty="0"/>
          </a:p>
          <a:p>
            <a:pPr marL="342900" indent="-342900">
              <a:buSzPct val="100000"/>
              <a:buChar char="•"/>
            </a:pPr>
            <a:r>
              <a:rPr lang="en-US" sz="950" dirty="0">
                <a:solidFill>
                  <a:srgbClr val="B0BAD0"/>
                </a:solidFill>
                <a:latin typeface="Calibri" pitchFamily="34" charset="0"/>
                <a:ea typeface="Calibri" pitchFamily="34" charset="-122"/>
                <a:cs typeface="Calibri" pitchFamily="34" charset="-120"/>
              </a:rPr>
              <a:t>Opp has info on us (br&gt;0.20): ×0.60</a:t>
            </a:r>
            <a:endParaRPr lang="en-US" sz="950" dirty="0"/>
          </a:p>
          <a:p>
            <a:pPr marL="342900" indent="-342900">
              <a:buSzPct val="100000"/>
              <a:buChar char="•"/>
            </a:pPr>
            <a:r>
              <a:rPr lang="en-US" sz="950" dirty="0">
                <a:solidFill>
                  <a:srgbClr val="B0BAD0"/>
                </a:solidFill>
                <a:latin typeface="Calibri" pitchFamily="34" charset="0"/>
                <a:ea typeface="Calibri" pitchFamily="34" charset="-122"/>
                <a:cs typeface="Calibri" pitchFamily="34" charset="-120"/>
              </a:rPr>
              <a:t>xp = paired +0.05, monotone +0.05, trips +0.10</a:t>
            </a:r>
            <a:endParaRPr lang="en-US" sz="950" dirty="0"/>
          </a:p>
        </p:txBody>
      </p:sp>
      <p:sp>
        <p:nvSpPr>
          <p:cNvPr id="18" name="Shape 8"/>
          <p:cNvSpPr/>
          <p:nvPr/>
        </p:nvSpPr>
        <p:spPr>
          <a:xfrm>
            <a:off x="320040" y="3337560"/>
            <a:ext cx="2743200" cy="777240"/>
          </a:xfrm>
          <a:prstGeom prst="rect">
            <a:avLst/>
          </a:prstGeom>
          <a:solidFill>
            <a:srgbClr val="1C2233"/>
          </a:solidFill>
          <a:ln/>
          <a:effectLst>
            <a:outerShdw blurRad="50800" dist="12700" dir="8100000" algn="bl" rotWithShape="0">
              <a:srgbClr val="000000">
                <a:alpha val="18000"/>
              </a:srgbClr>
            </a:outerShdw>
          </a:effectLst>
        </p:spPr>
        <p:txBody>
          <a:bodyPr/>
          <a:lstStyle/>
          <a:p>
            <a:endParaRPr lang="en-IN"/>
          </a:p>
        </p:txBody>
      </p:sp>
      <p:sp>
        <p:nvSpPr>
          <p:cNvPr id="19" name="Shape 9"/>
          <p:cNvSpPr/>
          <p:nvPr/>
        </p:nvSpPr>
        <p:spPr>
          <a:xfrm>
            <a:off x="320040" y="3337560"/>
            <a:ext cx="2743200" cy="36576"/>
          </a:xfrm>
          <a:prstGeom prst="rect">
            <a:avLst/>
          </a:prstGeom>
          <a:solidFill>
            <a:srgbClr val="4AD991"/>
          </a:solidFill>
          <a:ln/>
        </p:spPr>
        <p:txBody>
          <a:bodyPr/>
          <a:lstStyle/>
          <a:p>
            <a:endParaRPr lang="en-IN"/>
          </a:p>
        </p:txBody>
      </p:sp>
      <p:sp>
        <p:nvSpPr>
          <p:cNvPr id="20" name="Text 10"/>
          <p:cNvSpPr/>
          <p:nvPr/>
        </p:nvSpPr>
        <p:spPr>
          <a:xfrm>
            <a:off x="411480" y="3401568"/>
            <a:ext cx="25603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Flop (Loosest)</a:t>
            </a:r>
            <a:endParaRPr lang="en-US" sz="1100" dirty="0"/>
          </a:p>
        </p:txBody>
      </p:sp>
      <p:sp>
        <p:nvSpPr>
          <p:cNvPr id="21" name="Text 11"/>
          <p:cNvSpPr/>
          <p:nvPr/>
        </p:nvSpPr>
        <p:spPr>
          <a:xfrm>
            <a:off x="411480" y="3675888"/>
            <a:ext cx="2560320" cy="365760"/>
          </a:xfrm>
          <a:prstGeom prst="rect">
            <a:avLst/>
          </a:prstGeom>
          <a:noFill/>
          <a:ln/>
        </p:spPr>
        <p:txBody>
          <a:bodyPr wrap="square" lIns="0" tIns="0" rIns="0" bIns="0" rtlCol="0" anchor="ctr"/>
          <a:lstStyle/>
          <a:p>
            <a:pPr marL="0" indent="0">
              <a:buNone/>
            </a:pPr>
            <a:r>
              <a:rPr lang="en-US" sz="900" dirty="0">
                <a:solidFill>
                  <a:srgbClr val="B0BAD0"/>
                </a:solidFill>
                <a:latin typeface="Calibri" pitchFamily="34" charset="0"/>
                <a:ea typeface="Calibri" pitchFamily="34" charset="-122"/>
                <a:cs typeface="Calibri" pitchFamily="34" charset="-120"/>
              </a:rPr>
              <a:t>Draws still live. ×0.32 - 0.84 range. Most forgiving penalties.</a:t>
            </a:r>
            <a:endParaRPr lang="en-US" sz="900" dirty="0"/>
          </a:p>
        </p:txBody>
      </p:sp>
      <p:sp>
        <p:nvSpPr>
          <p:cNvPr id="22" name="Shape 12"/>
          <p:cNvSpPr/>
          <p:nvPr/>
        </p:nvSpPr>
        <p:spPr>
          <a:xfrm>
            <a:off x="3264408" y="3337560"/>
            <a:ext cx="2743200" cy="777240"/>
          </a:xfrm>
          <a:prstGeom prst="rect">
            <a:avLst/>
          </a:prstGeom>
          <a:solidFill>
            <a:srgbClr val="1C2233"/>
          </a:solidFill>
          <a:ln/>
          <a:effectLst>
            <a:outerShdw blurRad="50800" dist="12700" dir="8100000" algn="bl" rotWithShape="0">
              <a:srgbClr val="000000">
                <a:alpha val="18000"/>
              </a:srgbClr>
            </a:outerShdw>
          </a:effectLst>
        </p:spPr>
        <p:txBody>
          <a:bodyPr/>
          <a:lstStyle/>
          <a:p>
            <a:endParaRPr lang="en-IN"/>
          </a:p>
        </p:txBody>
      </p:sp>
      <p:sp>
        <p:nvSpPr>
          <p:cNvPr id="23" name="Shape 13"/>
          <p:cNvSpPr/>
          <p:nvPr/>
        </p:nvSpPr>
        <p:spPr>
          <a:xfrm>
            <a:off x="3264408" y="3337560"/>
            <a:ext cx="2743200" cy="36576"/>
          </a:xfrm>
          <a:prstGeom prst="rect">
            <a:avLst/>
          </a:prstGeom>
          <a:solidFill>
            <a:srgbClr val="D4A843"/>
          </a:solidFill>
          <a:ln/>
        </p:spPr>
        <p:txBody>
          <a:bodyPr/>
          <a:lstStyle/>
          <a:p>
            <a:endParaRPr lang="en-IN"/>
          </a:p>
        </p:txBody>
      </p:sp>
      <p:sp>
        <p:nvSpPr>
          <p:cNvPr id="24" name="Text 14"/>
          <p:cNvSpPr/>
          <p:nvPr/>
        </p:nvSpPr>
        <p:spPr>
          <a:xfrm>
            <a:off x="3355848" y="3401568"/>
            <a:ext cx="25603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Turn (Medium)</a:t>
            </a:r>
            <a:endParaRPr lang="en-US" sz="1100" dirty="0"/>
          </a:p>
        </p:txBody>
      </p:sp>
      <p:sp>
        <p:nvSpPr>
          <p:cNvPr id="25" name="Text 15"/>
          <p:cNvSpPr/>
          <p:nvPr/>
        </p:nvSpPr>
        <p:spPr>
          <a:xfrm>
            <a:off x="3355848" y="3675888"/>
            <a:ext cx="2560320" cy="365760"/>
          </a:xfrm>
          <a:prstGeom prst="rect">
            <a:avLst/>
          </a:prstGeom>
          <a:noFill/>
          <a:ln/>
        </p:spPr>
        <p:txBody>
          <a:bodyPr wrap="square" lIns="0" tIns="0" rIns="0" bIns="0" rtlCol="0" anchor="ctr"/>
          <a:lstStyle/>
          <a:p>
            <a:pPr marL="0" indent="0">
              <a:buNone/>
            </a:pPr>
            <a:r>
              <a:rPr lang="en-US" sz="900" dirty="0">
                <a:solidFill>
                  <a:srgbClr val="B0BAD0"/>
                </a:solidFill>
                <a:latin typeface="Calibri" pitchFamily="34" charset="0"/>
                <a:ea typeface="Calibri" pitchFamily="34" charset="-122"/>
                <a:cs typeface="Calibri" pitchFamily="34" charset="-120"/>
              </a:rPr>
              <a:t>One card to come. ×0.25 - 0.80 range. Tighter than flop.</a:t>
            </a:r>
            <a:endParaRPr lang="en-US" sz="900" dirty="0"/>
          </a:p>
        </p:txBody>
      </p:sp>
      <p:sp>
        <p:nvSpPr>
          <p:cNvPr id="26" name="Shape 16"/>
          <p:cNvSpPr/>
          <p:nvPr/>
        </p:nvSpPr>
        <p:spPr>
          <a:xfrm>
            <a:off x="6208776" y="3337560"/>
            <a:ext cx="2743200" cy="777240"/>
          </a:xfrm>
          <a:prstGeom prst="rect">
            <a:avLst/>
          </a:prstGeom>
          <a:solidFill>
            <a:srgbClr val="1C2233"/>
          </a:solidFill>
          <a:ln/>
          <a:effectLst>
            <a:outerShdw blurRad="50800" dist="12700" dir="8100000" algn="bl" rotWithShape="0">
              <a:srgbClr val="000000">
                <a:alpha val="18000"/>
              </a:srgbClr>
            </a:outerShdw>
          </a:effectLst>
        </p:spPr>
        <p:txBody>
          <a:bodyPr/>
          <a:lstStyle/>
          <a:p>
            <a:endParaRPr lang="en-IN"/>
          </a:p>
        </p:txBody>
      </p:sp>
      <p:sp>
        <p:nvSpPr>
          <p:cNvPr id="27" name="Shape 17"/>
          <p:cNvSpPr/>
          <p:nvPr/>
        </p:nvSpPr>
        <p:spPr>
          <a:xfrm>
            <a:off x="6208776" y="3337560"/>
            <a:ext cx="2743200" cy="36576"/>
          </a:xfrm>
          <a:prstGeom prst="rect">
            <a:avLst/>
          </a:prstGeom>
          <a:solidFill>
            <a:srgbClr val="E05555"/>
          </a:solidFill>
          <a:ln/>
        </p:spPr>
        <p:txBody>
          <a:bodyPr/>
          <a:lstStyle/>
          <a:p>
            <a:endParaRPr lang="en-IN"/>
          </a:p>
        </p:txBody>
      </p:sp>
      <p:sp>
        <p:nvSpPr>
          <p:cNvPr id="28" name="Text 18"/>
          <p:cNvSpPr/>
          <p:nvPr/>
        </p:nvSpPr>
        <p:spPr>
          <a:xfrm>
            <a:off x="6300216" y="3401568"/>
            <a:ext cx="25603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River (Tightest)</a:t>
            </a:r>
            <a:endParaRPr lang="en-US" sz="1100" dirty="0"/>
          </a:p>
        </p:txBody>
      </p:sp>
      <p:sp>
        <p:nvSpPr>
          <p:cNvPr id="29" name="Text 19"/>
          <p:cNvSpPr/>
          <p:nvPr/>
        </p:nvSpPr>
        <p:spPr>
          <a:xfrm>
            <a:off x="6300216" y="3675888"/>
            <a:ext cx="2560320" cy="365760"/>
          </a:xfrm>
          <a:prstGeom prst="rect">
            <a:avLst/>
          </a:prstGeom>
          <a:noFill/>
          <a:ln/>
        </p:spPr>
        <p:txBody>
          <a:bodyPr wrap="square" lIns="0" tIns="0" rIns="0" bIns="0" rtlCol="0" anchor="ctr"/>
          <a:lstStyle/>
          <a:p>
            <a:pPr marL="0" indent="0">
              <a:buNone/>
            </a:pPr>
            <a:r>
              <a:rPr lang="en-US" sz="900" dirty="0">
                <a:solidFill>
                  <a:srgbClr val="B0BAD0"/>
                </a:solidFill>
                <a:latin typeface="Calibri" pitchFamily="34" charset="0"/>
                <a:ea typeface="Calibri" pitchFamily="34" charset="-122"/>
                <a:cs typeface="Calibri" pitchFamily="34" charset="-120"/>
              </a:rPr>
              <a:t>No outs left. ×0.20 - 0.70 range. Only strong hands survive.</a:t>
            </a:r>
            <a:endParaRPr lang="en-US" sz="900" dirty="0"/>
          </a:p>
        </p:txBody>
      </p:sp>
      <p:sp>
        <p:nvSpPr>
          <p:cNvPr id="30" name="Shape 20"/>
          <p:cNvSpPr/>
          <p:nvPr/>
        </p:nvSpPr>
        <p:spPr>
          <a:xfrm>
            <a:off x="320040" y="4297680"/>
            <a:ext cx="8503920" cy="640080"/>
          </a:xfrm>
          <a:prstGeom prst="rect">
            <a:avLst/>
          </a:prstGeom>
          <a:solidFill>
            <a:srgbClr val="1C2233"/>
          </a:solidFill>
          <a:ln/>
          <a:effectLst>
            <a:outerShdw blurRad="50800" dist="12700" dir="8100000" algn="bl" rotWithShape="0">
              <a:srgbClr val="000000">
                <a:alpha val="18000"/>
              </a:srgbClr>
            </a:outerShdw>
          </a:effectLst>
        </p:spPr>
        <p:txBody>
          <a:bodyPr/>
          <a:lstStyle/>
          <a:p>
            <a:endParaRPr lang="en-IN"/>
          </a:p>
        </p:txBody>
      </p:sp>
      <p:sp>
        <p:nvSpPr>
          <p:cNvPr id="31" name="Shape 21"/>
          <p:cNvSpPr/>
          <p:nvPr/>
        </p:nvSpPr>
        <p:spPr>
          <a:xfrm>
            <a:off x="320040" y="4297680"/>
            <a:ext cx="54864" cy="640080"/>
          </a:xfrm>
          <a:prstGeom prst="rect">
            <a:avLst/>
          </a:prstGeom>
          <a:solidFill>
            <a:srgbClr val="9B6FD9"/>
          </a:solidFill>
          <a:ln/>
        </p:spPr>
        <p:txBody>
          <a:bodyPr/>
          <a:lstStyle/>
          <a:p>
            <a:endParaRPr lang="en-IN"/>
          </a:p>
        </p:txBody>
      </p:sp>
      <p:sp>
        <p:nvSpPr>
          <p:cNvPr id="32" name="Text 22"/>
          <p:cNvSpPr/>
          <p:nvPr/>
        </p:nvSpPr>
        <p:spPr>
          <a:xfrm>
            <a:off x="457200" y="4352544"/>
            <a:ext cx="8321040" cy="256032"/>
          </a:xfrm>
          <a:prstGeom prst="rect">
            <a:avLst/>
          </a:prstGeom>
          <a:noFill/>
          <a:ln/>
        </p:spPr>
        <p:txBody>
          <a:bodyPr wrap="square" lIns="0" tIns="0" rIns="0" bIns="0" rtlCol="0" anchor="ctr"/>
          <a:lstStyle/>
          <a:p>
            <a:pPr marL="0" indent="0">
              <a:buNone/>
            </a:pPr>
            <a:r>
              <a:rPr lang="en-US" sz="1200" b="1" dirty="0">
                <a:solidFill>
                  <a:srgbClr val="9B6FD9"/>
                </a:solidFill>
                <a:latin typeface="Calibri" pitchFamily="34" charset="0"/>
                <a:ea typeface="Calibri" pitchFamily="34" charset="-122"/>
                <a:cs typeface="Calibri" pitchFamily="34" charset="-120"/>
              </a:rPr>
              <a:t>Information Asymmetry Penalty</a:t>
            </a:r>
            <a:endParaRPr lang="en-US" sz="1200" dirty="0"/>
          </a:p>
        </p:txBody>
      </p:sp>
      <p:sp>
        <p:nvSpPr>
          <p:cNvPr id="33" name="Text 23"/>
          <p:cNvSpPr/>
          <p:nvPr/>
        </p:nvSpPr>
        <p:spPr>
          <a:xfrm>
            <a:off x="457200" y="4608576"/>
            <a:ext cx="8275320" cy="274320"/>
          </a:xfrm>
          <a:prstGeom prst="rect">
            <a:avLst/>
          </a:prstGeom>
          <a:noFill/>
          <a:ln/>
        </p:spPr>
        <p:txBody>
          <a:bodyPr wrap="square" lIns="0" tIns="0" rIns="0" bIns="0" rtlCol="0" anchor="t"/>
          <a:lstStyle/>
          <a:p>
            <a:pPr marL="0" indent="0">
              <a:buNone/>
            </a:pPr>
            <a:r>
              <a:rPr lang="en-US" sz="900" dirty="0">
                <a:solidFill>
                  <a:srgbClr val="B0BAD0"/>
                </a:solidFill>
                <a:latin typeface="Calibri" pitchFamily="34" charset="0"/>
                <a:ea typeface="Calibri" pitchFamily="34" charset="-122"/>
                <a:cs typeface="Calibri" pitchFamily="34" charset="-120"/>
              </a:rPr>
              <a:t>When opponent holds info on us (br &gt; 0.20, eq &lt; 0.90): ×0.60 multiplier. Any meaningful bet from an info-holding opponent is treated as credible.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164592"/>
            <a:ext cx="9144000" cy="640080"/>
          </a:xfrm>
          <a:prstGeom prst="rect">
            <a:avLst/>
          </a:prstGeom>
          <a:solidFill>
            <a:srgbClr val="1B2A3B"/>
          </a:solidFill>
          <a:ln w="12700">
            <a:solidFill>
              <a:srgbClr val="1B2A3B"/>
            </a:solidFill>
            <a:prstDash val="solid"/>
          </a:ln>
        </p:spPr>
        <p:txBody>
          <a:bodyPr/>
          <a:lstStyle/>
          <a:p>
            <a:endParaRPr lang="en-IN" dirty="0"/>
          </a:p>
        </p:txBody>
      </p:sp>
      <p:sp>
        <p:nvSpPr>
          <p:cNvPr id="3" name="Shape 1"/>
          <p:cNvSpPr/>
          <p:nvPr/>
        </p:nvSpPr>
        <p:spPr>
          <a:xfrm>
            <a:off x="274320" y="256032"/>
            <a:ext cx="54864" cy="457200"/>
          </a:xfrm>
          <a:prstGeom prst="rect">
            <a:avLst/>
          </a:prstGeom>
          <a:solidFill>
            <a:srgbClr val="E2A84B"/>
          </a:solidFill>
          <a:ln w="12700">
            <a:solidFill>
              <a:srgbClr val="E2A84B"/>
            </a:solidFill>
            <a:prstDash val="solid"/>
          </a:ln>
        </p:spPr>
        <p:txBody>
          <a:bodyPr/>
          <a:lstStyle/>
          <a:p>
            <a:endParaRPr lang="en-IN" dirty="0"/>
          </a:p>
        </p:txBody>
      </p:sp>
      <p:sp>
        <p:nvSpPr>
          <p:cNvPr id="4" name="Text 2"/>
          <p:cNvSpPr/>
          <p:nvPr/>
        </p:nvSpPr>
        <p:spPr>
          <a:xfrm>
            <a:off x="457200" y="256032"/>
            <a:ext cx="8321040" cy="457200"/>
          </a:xfrm>
          <a:prstGeom prst="rect">
            <a:avLst/>
          </a:prstGeom>
          <a:noFill/>
          <a:ln/>
        </p:spPr>
        <p:txBody>
          <a:bodyPr wrap="square" lIns="0" tIns="0" rIns="0" bIns="0" rtlCol="0" anchor="ctr"/>
          <a:lstStyle/>
          <a:p>
            <a:pPr marL="0" indent="0" algn="l">
              <a:buNone/>
            </a:pPr>
            <a:r>
              <a:rPr lang="en-US" sz="2100" b="1" dirty="0">
                <a:solidFill>
                  <a:srgbClr val="F0F4F8"/>
                </a:solidFill>
                <a:latin typeface="Calibri" pitchFamily="34" charset="0"/>
                <a:ea typeface="Calibri" pitchFamily="34" charset="-122"/>
                <a:cs typeface="Calibri" pitchFamily="34" charset="-120"/>
              </a:rPr>
              <a:t>Confidence Recovery - Exploiting Aggressive Opponents</a:t>
            </a:r>
            <a:endParaRPr lang="en-US" sz="2100" dirty="0"/>
          </a:p>
        </p:txBody>
      </p:sp>
      <p:sp>
        <p:nvSpPr>
          <p:cNvPr id="5" name="Text 3"/>
          <p:cNvSpPr/>
          <p:nvPr/>
        </p:nvSpPr>
        <p:spPr>
          <a:xfrm>
            <a:off x="365760" y="960120"/>
            <a:ext cx="8412480" cy="329184"/>
          </a:xfrm>
          <a:prstGeom prst="rect">
            <a:avLst/>
          </a:prstGeom>
          <a:noFill/>
          <a:ln/>
        </p:spPr>
        <p:txBody>
          <a:bodyPr wrap="square" rtlCol="0" anchor="ctr"/>
          <a:lstStyle/>
          <a:p>
            <a:pPr marL="0" indent="0">
              <a:buNone/>
            </a:pPr>
            <a:endParaRPr lang="en-US" sz="1200" dirty="0"/>
          </a:p>
        </p:txBody>
      </p:sp>
      <p:sp>
        <p:nvSpPr>
          <p:cNvPr id="6" name="Shape 4"/>
          <p:cNvSpPr/>
          <p:nvPr/>
        </p:nvSpPr>
        <p:spPr>
          <a:xfrm>
            <a:off x="301752" y="896112"/>
            <a:ext cx="8503920" cy="822960"/>
          </a:xfrm>
          <a:prstGeom prst="rect">
            <a:avLst/>
          </a:prstGeom>
          <a:solidFill>
            <a:srgbClr val="0E1A0E"/>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dirty="0"/>
          </a:p>
        </p:txBody>
      </p:sp>
      <p:sp>
        <p:nvSpPr>
          <p:cNvPr id="7" name="Text 5"/>
          <p:cNvSpPr/>
          <p:nvPr/>
        </p:nvSpPr>
        <p:spPr>
          <a:xfrm>
            <a:off x="374904" y="923544"/>
            <a:ext cx="8229600" cy="658368"/>
          </a:xfrm>
          <a:prstGeom prst="rect">
            <a:avLst/>
          </a:prstGeom>
          <a:noFill/>
          <a:ln/>
        </p:spPr>
        <p:txBody>
          <a:bodyPr wrap="square" lIns="0" tIns="0" rIns="0" bIns="0" rtlCol="0" anchor="ctr"/>
          <a:lstStyle/>
          <a:p>
            <a:pPr marL="0" indent="0">
              <a:buNone/>
            </a:pPr>
            <a:r>
              <a:rPr lang="en-US" sz="1200" dirty="0">
                <a:solidFill>
                  <a:srgbClr val="4EBF8E"/>
                </a:solidFill>
                <a:latin typeface="Courier New" pitchFamily="34" charset="0"/>
                <a:ea typeface="Courier New" pitchFamily="34" charset="-122"/>
                <a:cs typeface="Courier New" pitchFamily="34" charset="-120"/>
              </a:rPr>
              <a:t>if self.call_scale &lt; 1.0:</a:t>
            </a:r>
            <a:endParaRPr lang="en-US" sz="1200" dirty="0"/>
          </a:p>
          <a:p>
            <a:pPr marL="0" indent="0">
              <a:buNone/>
            </a:pPr>
            <a:r>
              <a:rPr lang="en-US" sz="1200" dirty="0">
                <a:solidFill>
                  <a:srgbClr val="4EBF8E"/>
                </a:solidFill>
                <a:latin typeface="Courier New" pitchFamily="34" charset="0"/>
                <a:ea typeface="Courier New" pitchFamily="34" charset="-122"/>
                <a:cs typeface="Courier New" pitchFamily="34" charset="-120"/>
              </a:rPr>
              <a:t>    rec = (eq − adj) × (1.0 − self.call_scale) × 0.55</a:t>
            </a:r>
            <a:endParaRPr lang="en-US" sz="1200" dirty="0"/>
          </a:p>
          <a:p>
            <a:pPr marL="0" indent="0">
              <a:buNone/>
            </a:pPr>
            <a:r>
              <a:rPr lang="en-US" sz="1200" dirty="0">
                <a:solidFill>
                  <a:srgbClr val="4EBF8E"/>
                </a:solidFill>
                <a:latin typeface="Courier New" pitchFamily="34" charset="0"/>
                <a:ea typeface="Courier New" pitchFamily="34" charset="-122"/>
                <a:cs typeface="Courier New" pitchFamily="34" charset="-120"/>
              </a:rPr>
              <a:t>    adj = min(eq, adj + rec)</a:t>
            </a:r>
            <a:endParaRPr lang="en-US" sz="1200" dirty="0"/>
          </a:p>
        </p:txBody>
      </p:sp>
      <p:sp>
        <p:nvSpPr>
          <p:cNvPr id="8" name="Shape 6"/>
          <p:cNvSpPr/>
          <p:nvPr/>
        </p:nvSpPr>
        <p:spPr>
          <a:xfrm>
            <a:off x="301752" y="1766098"/>
            <a:ext cx="4160520" cy="960120"/>
          </a:xfrm>
          <a:prstGeom prst="rect">
            <a:avLst/>
          </a:prstGeom>
          <a:solidFill>
            <a:srgbClr val="1B2A3B"/>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dirty="0"/>
          </a:p>
        </p:txBody>
      </p:sp>
      <p:sp>
        <p:nvSpPr>
          <p:cNvPr id="9" name="Shape 7"/>
          <p:cNvSpPr/>
          <p:nvPr/>
        </p:nvSpPr>
        <p:spPr>
          <a:xfrm>
            <a:off x="301752" y="1766098"/>
            <a:ext cx="54864" cy="960120"/>
          </a:xfrm>
          <a:prstGeom prst="rect">
            <a:avLst/>
          </a:prstGeom>
          <a:solidFill>
            <a:srgbClr val="1DB8C7"/>
          </a:solidFill>
          <a:ln w="12700">
            <a:solidFill>
              <a:srgbClr val="1DB8C7"/>
            </a:solidFill>
            <a:prstDash val="solid"/>
          </a:ln>
        </p:spPr>
        <p:txBody>
          <a:bodyPr/>
          <a:lstStyle/>
          <a:p>
            <a:endParaRPr lang="en-IN" dirty="0"/>
          </a:p>
        </p:txBody>
      </p:sp>
      <p:sp>
        <p:nvSpPr>
          <p:cNvPr id="10" name="Text 8"/>
          <p:cNvSpPr/>
          <p:nvPr/>
        </p:nvSpPr>
        <p:spPr>
          <a:xfrm>
            <a:off x="448056" y="1857538"/>
            <a:ext cx="3886200" cy="274320"/>
          </a:xfrm>
          <a:prstGeom prst="rect">
            <a:avLst/>
          </a:prstGeom>
          <a:noFill/>
          <a:ln/>
        </p:spPr>
        <p:txBody>
          <a:bodyPr wrap="square" lIns="0" tIns="0" rIns="0" bIns="0" rtlCol="0" anchor="ctr"/>
          <a:lstStyle/>
          <a:p>
            <a:pPr marL="0" indent="0">
              <a:buNone/>
            </a:pPr>
            <a:r>
              <a:rPr lang="en-US" sz="1200" b="1" dirty="0">
                <a:solidFill>
                  <a:srgbClr val="F0F4F8"/>
                </a:solidFill>
                <a:latin typeface="Calibri" pitchFamily="34" charset="0"/>
                <a:ea typeface="Calibri" pitchFamily="34" charset="-122"/>
                <a:cs typeface="Calibri" pitchFamily="34" charset="-120"/>
              </a:rPr>
              <a:t>call_scale &lt; 1.0</a:t>
            </a:r>
            <a:endParaRPr lang="en-US" sz="1200" dirty="0"/>
          </a:p>
        </p:txBody>
      </p:sp>
      <p:sp>
        <p:nvSpPr>
          <p:cNvPr id="11" name="Text 9"/>
          <p:cNvSpPr/>
          <p:nvPr/>
        </p:nvSpPr>
        <p:spPr>
          <a:xfrm>
            <a:off x="448056" y="2168434"/>
            <a:ext cx="3886200" cy="493776"/>
          </a:xfrm>
          <a:prstGeom prst="rect">
            <a:avLst/>
          </a:prstGeom>
          <a:noFill/>
          <a:ln/>
        </p:spPr>
        <p:txBody>
          <a:bodyPr wrap="square" lIns="0" tIns="0" rIns="0" bIns="0" rtlCol="0" anchor="ctr"/>
          <a:lstStyle/>
          <a:p>
            <a:pPr marL="0" indent="0">
              <a:buNone/>
            </a:pPr>
            <a:r>
              <a:rPr lang="en-US" sz="1050" dirty="0">
                <a:solidFill>
                  <a:srgbClr val="9DAFC0"/>
                </a:solidFill>
                <a:latin typeface="Calibri" pitchFamily="34" charset="0"/>
                <a:ea typeface="Calibri" pitchFamily="34" charset="-122"/>
                <a:cs typeface="Calibri" pitchFamily="34" charset="-120"/>
              </a:rPr>
              <a:t>Kicks in when opponent aggression crosses threshold. Higher aggression = lower scale.</a:t>
            </a:r>
            <a:endParaRPr lang="en-US" sz="1050" dirty="0"/>
          </a:p>
        </p:txBody>
      </p:sp>
      <p:sp>
        <p:nvSpPr>
          <p:cNvPr id="12" name="Shape 10"/>
          <p:cNvSpPr/>
          <p:nvPr/>
        </p:nvSpPr>
        <p:spPr>
          <a:xfrm>
            <a:off x="301752" y="2845090"/>
            <a:ext cx="4160520" cy="960120"/>
          </a:xfrm>
          <a:prstGeom prst="rect">
            <a:avLst/>
          </a:prstGeom>
          <a:solidFill>
            <a:srgbClr val="1B2A3B"/>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dirty="0"/>
          </a:p>
        </p:txBody>
      </p:sp>
      <p:sp>
        <p:nvSpPr>
          <p:cNvPr id="13" name="Shape 11"/>
          <p:cNvSpPr/>
          <p:nvPr/>
        </p:nvSpPr>
        <p:spPr>
          <a:xfrm>
            <a:off x="301752" y="2845090"/>
            <a:ext cx="54864" cy="960120"/>
          </a:xfrm>
          <a:prstGeom prst="rect">
            <a:avLst/>
          </a:prstGeom>
          <a:solidFill>
            <a:srgbClr val="E2A84B"/>
          </a:solidFill>
          <a:ln w="12700">
            <a:solidFill>
              <a:srgbClr val="E2A84B"/>
            </a:solidFill>
            <a:prstDash val="solid"/>
          </a:ln>
        </p:spPr>
        <p:txBody>
          <a:bodyPr/>
          <a:lstStyle/>
          <a:p>
            <a:endParaRPr lang="en-IN" dirty="0"/>
          </a:p>
        </p:txBody>
      </p:sp>
      <p:sp>
        <p:nvSpPr>
          <p:cNvPr id="14" name="Text 12"/>
          <p:cNvSpPr/>
          <p:nvPr/>
        </p:nvSpPr>
        <p:spPr>
          <a:xfrm>
            <a:off x="448056" y="2936530"/>
            <a:ext cx="3886200" cy="274320"/>
          </a:xfrm>
          <a:prstGeom prst="rect">
            <a:avLst/>
          </a:prstGeom>
          <a:noFill/>
          <a:ln/>
        </p:spPr>
        <p:txBody>
          <a:bodyPr wrap="square" lIns="0" tIns="0" rIns="0" bIns="0" rtlCol="0" anchor="ctr"/>
          <a:lstStyle/>
          <a:p>
            <a:pPr marL="0" indent="0">
              <a:buNone/>
            </a:pPr>
            <a:r>
              <a:rPr lang="en-US" sz="1200" b="1" dirty="0">
                <a:solidFill>
                  <a:srgbClr val="F0F4F8"/>
                </a:solidFill>
                <a:latin typeface="Calibri" pitchFamily="34" charset="0"/>
                <a:ea typeface="Calibri" pitchFamily="34" charset="-122"/>
                <a:cs typeface="Calibri" pitchFamily="34" charset="-120"/>
              </a:rPr>
              <a:t>Recovery Amount</a:t>
            </a:r>
            <a:endParaRPr lang="en-US" sz="1200" dirty="0"/>
          </a:p>
        </p:txBody>
      </p:sp>
      <p:sp>
        <p:nvSpPr>
          <p:cNvPr id="15" name="Text 13"/>
          <p:cNvSpPr/>
          <p:nvPr/>
        </p:nvSpPr>
        <p:spPr>
          <a:xfrm>
            <a:off x="448056" y="3247426"/>
            <a:ext cx="3886200" cy="493776"/>
          </a:xfrm>
          <a:prstGeom prst="rect">
            <a:avLst/>
          </a:prstGeom>
          <a:noFill/>
          <a:ln/>
        </p:spPr>
        <p:txBody>
          <a:bodyPr wrap="square" lIns="0" tIns="0" rIns="0" bIns="0" rtlCol="0" anchor="ctr"/>
          <a:lstStyle/>
          <a:p>
            <a:pPr marL="0" indent="0">
              <a:buNone/>
            </a:pPr>
            <a:r>
              <a:rPr lang="en-US" sz="1050" dirty="0">
                <a:solidFill>
                  <a:srgbClr val="9DAFC0"/>
                </a:solidFill>
                <a:latin typeface="Calibri" pitchFamily="34" charset="0"/>
                <a:ea typeface="Calibri" pitchFamily="34" charset="-122"/>
                <a:cs typeface="Calibri" pitchFamily="34" charset="-120"/>
              </a:rPr>
              <a:t>Proportional to the gap between adj and eq, scaled by (1 − call_scale). More aggro = bigger recovery.</a:t>
            </a:r>
            <a:endParaRPr lang="en-US" sz="1050" dirty="0"/>
          </a:p>
        </p:txBody>
      </p:sp>
      <p:sp>
        <p:nvSpPr>
          <p:cNvPr id="16" name="Shape 14"/>
          <p:cNvSpPr/>
          <p:nvPr/>
        </p:nvSpPr>
        <p:spPr>
          <a:xfrm>
            <a:off x="4718304" y="1766098"/>
            <a:ext cx="4160520" cy="960120"/>
          </a:xfrm>
          <a:prstGeom prst="rect">
            <a:avLst/>
          </a:prstGeom>
          <a:solidFill>
            <a:srgbClr val="1B2A3B"/>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dirty="0"/>
          </a:p>
        </p:txBody>
      </p:sp>
      <p:sp>
        <p:nvSpPr>
          <p:cNvPr id="17" name="Shape 15"/>
          <p:cNvSpPr/>
          <p:nvPr/>
        </p:nvSpPr>
        <p:spPr>
          <a:xfrm>
            <a:off x="4718304" y="1766098"/>
            <a:ext cx="54864" cy="960120"/>
          </a:xfrm>
          <a:prstGeom prst="rect">
            <a:avLst/>
          </a:prstGeom>
          <a:solidFill>
            <a:srgbClr val="4EBF8E"/>
          </a:solidFill>
          <a:ln w="12700">
            <a:solidFill>
              <a:srgbClr val="4EBF8E"/>
            </a:solidFill>
            <a:prstDash val="solid"/>
          </a:ln>
        </p:spPr>
        <p:txBody>
          <a:bodyPr/>
          <a:lstStyle/>
          <a:p>
            <a:endParaRPr lang="en-IN" dirty="0"/>
          </a:p>
        </p:txBody>
      </p:sp>
      <p:sp>
        <p:nvSpPr>
          <p:cNvPr id="18" name="Text 16"/>
          <p:cNvSpPr/>
          <p:nvPr/>
        </p:nvSpPr>
        <p:spPr>
          <a:xfrm>
            <a:off x="4864608" y="1857538"/>
            <a:ext cx="3886200" cy="274320"/>
          </a:xfrm>
          <a:prstGeom prst="rect">
            <a:avLst/>
          </a:prstGeom>
          <a:noFill/>
          <a:ln/>
        </p:spPr>
        <p:txBody>
          <a:bodyPr wrap="square" lIns="0" tIns="0" rIns="0" bIns="0" rtlCol="0" anchor="ctr"/>
          <a:lstStyle/>
          <a:p>
            <a:pPr marL="0" indent="0">
              <a:buNone/>
            </a:pPr>
            <a:r>
              <a:rPr lang="en-US" sz="1200" b="1" dirty="0">
                <a:solidFill>
                  <a:srgbClr val="F0F4F8"/>
                </a:solidFill>
                <a:latin typeface="Calibri" pitchFamily="34" charset="0"/>
                <a:ea typeface="Calibri" pitchFamily="34" charset="-122"/>
                <a:cs typeface="Calibri" pitchFamily="34" charset="-120"/>
              </a:rPr>
              <a:t>Soft Cap at eq</a:t>
            </a:r>
            <a:endParaRPr lang="en-US" sz="1200" dirty="0"/>
          </a:p>
        </p:txBody>
      </p:sp>
      <p:sp>
        <p:nvSpPr>
          <p:cNvPr id="19" name="Text 17"/>
          <p:cNvSpPr/>
          <p:nvPr/>
        </p:nvSpPr>
        <p:spPr>
          <a:xfrm>
            <a:off x="4864608" y="2168434"/>
            <a:ext cx="3886200" cy="493776"/>
          </a:xfrm>
          <a:prstGeom prst="rect">
            <a:avLst/>
          </a:prstGeom>
          <a:noFill/>
          <a:ln/>
        </p:spPr>
        <p:txBody>
          <a:bodyPr wrap="square" lIns="0" tIns="0" rIns="0" bIns="0" rtlCol="0" anchor="ctr"/>
          <a:lstStyle/>
          <a:p>
            <a:pPr marL="0" indent="0">
              <a:buNone/>
            </a:pPr>
            <a:r>
              <a:rPr lang="en-US" sz="1050" dirty="0">
                <a:solidFill>
                  <a:srgbClr val="9DAFC0"/>
                </a:solidFill>
                <a:latin typeface="Calibri" pitchFamily="34" charset="0"/>
                <a:ea typeface="Calibri" pitchFamily="34" charset="-122"/>
                <a:cs typeface="Calibri" pitchFamily="34" charset="-120"/>
              </a:rPr>
              <a:t>adj never exceeds raw equity. This prevents over-folding without causing over-calling on weak hands.</a:t>
            </a:r>
            <a:endParaRPr lang="en-US" sz="1050" dirty="0"/>
          </a:p>
        </p:txBody>
      </p:sp>
      <p:sp>
        <p:nvSpPr>
          <p:cNvPr id="20" name="Shape 18"/>
          <p:cNvSpPr/>
          <p:nvPr/>
        </p:nvSpPr>
        <p:spPr>
          <a:xfrm>
            <a:off x="4718304" y="2845090"/>
            <a:ext cx="4160520" cy="960120"/>
          </a:xfrm>
          <a:prstGeom prst="rect">
            <a:avLst/>
          </a:prstGeom>
          <a:solidFill>
            <a:srgbClr val="1B2A3B"/>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dirty="0"/>
          </a:p>
        </p:txBody>
      </p:sp>
      <p:sp>
        <p:nvSpPr>
          <p:cNvPr id="21" name="Shape 19"/>
          <p:cNvSpPr/>
          <p:nvPr/>
        </p:nvSpPr>
        <p:spPr>
          <a:xfrm>
            <a:off x="4718304" y="2845090"/>
            <a:ext cx="54864" cy="960120"/>
          </a:xfrm>
          <a:prstGeom prst="rect">
            <a:avLst/>
          </a:prstGeom>
          <a:solidFill>
            <a:srgbClr val="E05C5C"/>
          </a:solidFill>
          <a:ln w="12700">
            <a:solidFill>
              <a:srgbClr val="E05C5C"/>
            </a:solidFill>
            <a:prstDash val="solid"/>
          </a:ln>
        </p:spPr>
        <p:txBody>
          <a:bodyPr/>
          <a:lstStyle/>
          <a:p>
            <a:endParaRPr lang="en-IN" dirty="0"/>
          </a:p>
        </p:txBody>
      </p:sp>
      <p:sp>
        <p:nvSpPr>
          <p:cNvPr id="22" name="Text 20"/>
          <p:cNvSpPr/>
          <p:nvPr/>
        </p:nvSpPr>
        <p:spPr>
          <a:xfrm>
            <a:off x="4864608" y="2936530"/>
            <a:ext cx="3886200" cy="274320"/>
          </a:xfrm>
          <a:prstGeom prst="rect">
            <a:avLst/>
          </a:prstGeom>
          <a:noFill/>
          <a:ln/>
        </p:spPr>
        <p:txBody>
          <a:bodyPr wrap="square" lIns="0" tIns="0" rIns="0" bIns="0" rtlCol="0" anchor="ctr"/>
          <a:lstStyle/>
          <a:p>
            <a:pPr marL="0" indent="0">
              <a:buNone/>
            </a:pPr>
            <a:r>
              <a:rPr lang="en-US" sz="1200" b="1" dirty="0">
                <a:solidFill>
                  <a:srgbClr val="F0F4F8"/>
                </a:solidFill>
                <a:latin typeface="Calibri" pitchFamily="34" charset="0"/>
                <a:ea typeface="Calibri" pitchFamily="34" charset="-122"/>
                <a:cs typeface="Calibri" pitchFamily="34" charset="-120"/>
              </a:rPr>
              <a:t>Anti-Exploit Guard</a:t>
            </a:r>
            <a:endParaRPr lang="en-US" sz="1200" dirty="0"/>
          </a:p>
        </p:txBody>
      </p:sp>
      <p:sp>
        <p:nvSpPr>
          <p:cNvPr id="23" name="Text 21"/>
          <p:cNvSpPr/>
          <p:nvPr/>
        </p:nvSpPr>
        <p:spPr>
          <a:xfrm>
            <a:off x="4864608" y="3247426"/>
            <a:ext cx="3886200" cy="493776"/>
          </a:xfrm>
          <a:prstGeom prst="rect">
            <a:avLst/>
          </a:prstGeom>
          <a:noFill/>
          <a:ln/>
        </p:spPr>
        <p:txBody>
          <a:bodyPr wrap="square" lIns="0" tIns="0" rIns="0" bIns="0" rtlCol="0" anchor="ctr"/>
          <a:lstStyle/>
          <a:p>
            <a:pPr marL="0" indent="0">
              <a:buNone/>
            </a:pPr>
            <a:r>
              <a:rPr lang="en-US" sz="1050" dirty="0">
                <a:solidFill>
                  <a:srgbClr val="9DAFC0"/>
                </a:solidFill>
                <a:latin typeface="Calibri" pitchFamily="34" charset="0"/>
                <a:ea typeface="Calibri" pitchFamily="34" charset="-122"/>
                <a:cs typeface="Calibri" pitchFamily="34" charset="-120"/>
              </a:rPr>
              <a:t>Prevents opponents from profitably bullying us with persistent aggression across an entire match.</a:t>
            </a:r>
            <a:endParaRPr lang="en-US" sz="1050" dirty="0"/>
          </a:p>
        </p:txBody>
      </p:sp>
      <p:graphicFrame>
        <p:nvGraphicFramePr>
          <p:cNvPr id="25" name="Table 0"/>
          <p:cNvGraphicFramePr>
            <a:graphicFrameLocks noGrp="1"/>
          </p:cNvGraphicFramePr>
          <p:nvPr>
            <p:extLst>
              <p:ext uri="{D42A27DB-BD31-4B8C-83A1-F6EECF244321}">
                <p14:modId xmlns:p14="http://schemas.microsoft.com/office/powerpoint/2010/main" val="1610977750"/>
              </p:ext>
            </p:extLst>
          </p:nvPr>
        </p:nvGraphicFramePr>
        <p:xfrm>
          <a:off x="301752" y="3896650"/>
          <a:ext cx="8503920" cy="1181100"/>
        </p:xfrm>
        <a:graphic>
          <a:graphicData uri="http://schemas.openxmlformats.org/drawingml/2006/table">
            <a:tbl>
              <a:tblPr/>
              <a:tblGrid>
                <a:gridCol w="29260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0">
                <a:tc>
                  <a:txBody>
                    <a:bodyPr/>
                    <a:lstStyle/>
                    <a:p>
                      <a:pPr marL="0" indent="0">
                        <a:buNone/>
                      </a:pPr>
                      <a:r>
                        <a:rPr lang="en-US" sz="950" b="1" dirty="0">
                          <a:solidFill>
                            <a:srgbClr val="FFFFFF"/>
                          </a:solidFill>
                        </a:rPr>
                        <a:t>Aggression Rate</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marL="0" indent="0">
                        <a:buNone/>
                      </a:pPr>
                      <a:r>
                        <a:rPr lang="en-US" sz="950" b="1" dirty="0">
                          <a:solidFill>
                            <a:srgbClr val="FFFFFF"/>
                          </a:solidFill>
                        </a:rPr>
                        <a:t>call_scale</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marL="0" indent="0">
                        <a:buNone/>
                      </a:pPr>
                      <a:r>
                        <a:rPr lang="en-US" sz="950" b="1" dirty="0">
                          <a:solidFill>
                            <a:srgbClr val="FFFFFF"/>
                          </a:solidFill>
                        </a:rPr>
                        <a:t>Effect</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extLst>
                  <a:ext uri="{0D108BD9-81ED-4DB2-BD59-A6C34878D82A}">
                    <a16:rowId xmlns:a16="http://schemas.microsoft.com/office/drawing/2014/main" val="10000"/>
                  </a:ext>
                </a:extLst>
              </a:tr>
              <a:tr h="155448">
                <a:tc>
                  <a:txBody>
                    <a:bodyPr/>
                    <a:lstStyle/>
                    <a:p>
                      <a:pPr marL="0" indent="0">
                        <a:buNone/>
                      </a:pPr>
                      <a:r>
                        <a:rPr lang="en-US" sz="950" dirty="0">
                          <a:solidFill>
                            <a:srgbClr val="F0F4F8"/>
                          </a:solidFill>
                        </a:rPr>
                        <a:t>ba &gt; 0.50  (hyper-aggro)</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marL="0" indent="0">
                        <a:buNone/>
                      </a:pPr>
                      <a:r>
                        <a:rPr lang="en-US" sz="950" dirty="0">
                          <a:solidFill>
                            <a:srgbClr val="F0F4F8"/>
                          </a:solidFill>
                        </a:rPr>
                        <a:t>0.60</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marL="0" indent="0">
                        <a:buNone/>
                      </a:pPr>
                      <a:r>
                        <a:rPr lang="en-US" sz="950" dirty="0">
                          <a:solidFill>
                            <a:srgbClr val="F0F4F8"/>
                          </a:solidFill>
                        </a:rPr>
                        <a:t>Strong recovery — rarely fold to large bets</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0001"/>
                  </a:ext>
                </a:extLst>
              </a:tr>
              <a:tr h="155448">
                <a:tc>
                  <a:txBody>
                    <a:bodyPr/>
                    <a:lstStyle/>
                    <a:p>
                      <a:pPr marL="0" indent="0">
                        <a:buNone/>
                      </a:pPr>
                      <a:r>
                        <a:rPr lang="en-US" sz="950" dirty="0">
                          <a:solidFill>
                            <a:srgbClr val="F0F4F8"/>
                          </a:solidFill>
                        </a:rPr>
                        <a:t>0.40 &lt; ba ≤ 0.50</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marL="0" indent="0">
                        <a:buNone/>
                      </a:pPr>
                      <a:r>
                        <a:rPr lang="en-US" sz="950" dirty="0">
                          <a:solidFill>
                            <a:srgbClr val="F0F4F8"/>
                          </a:solidFill>
                        </a:rPr>
                        <a:t>0.70</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marL="0" indent="0">
                        <a:buNone/>
                      </a:pPr>
                      <a:r>
                        <a:rPr lang="en-US" sz="950" dirty="0">
                          <a:solidFill>
                            <a:srgbClr val="F0F4F8"/>
                          </a:solidFill>
                        </a:rPr>
                        <a:t>Moderate recovery</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0002"/>
                  </a:ext>
                </a:extLst>
              </a:tr>
              <a:tr h="155448">
                <a:tc>
                  <a:txBody>
                    <a:bodyPr/>
                    <a:lstStyle/>
                    <a:p>
                      <a:pPr marL="0" indent="0">
                        <a:buNone/>
                      </a:pPr>
                      <a:r>
                        <a:rPr lang="en-US" sz="950" dirty="0">
                          <a:solidFill>
                            <a:srgbClr val="F0F4F8"/>
                          </a:solidFill>
                        </a:rPr>
                        <a:t>0.30 &lt; ba ≤ 0.40</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marL="0" indent="0">
                        <a:buNone/>
                      </a:pPr>
                      <a:r>
                        <a:rPr lang="en-US" sz="950" dirty="0">
                          <a:solidFill>
                            <a:srgbClr val="F0F4F8"/>
                          </a:solidFill>
                        </a:rPr>
                        <a:t>0.82</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marL="0" indent="0">
                        <a:buNone/>
                      </a:pPr>
                      <a:r>
                        <a:rPr lang="en-US" sz="950" dirty="0">
                          <a:solidFill>
                            <a:srgbClr val="F0F4F8"/>
                          </a:solidFill>
                        </a:rPr>
                        <a:t>Light recovery</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0003"/>
                  </a:ext>
                </a:extLst>
              </a:tr>
              <a:tr h="155448">
                <a:tc>
                  <a:txBody>
                    <a:bodyPr/>
                    <a:lstStyle/>
                    <a:p>
                      <a:pPr marL="0" indent="0">
                        <a:buNone/>
                      </a:pPr>
                      <a:r>
                        <a:rPr lang="en-US" sz="950" dirty="0">
                          <a:solidFill>
                            <a:srgbClr val="F0F4F8"/>
                          </a:solidFill>
                        </a:rPr>
                        <a:t>ba &lt; 0.12  (very passive)</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marL="0" indent="0">
                        <a:buNone/>
                      </a:pPr>
                      <a:r>
                        <a:rPr lang="en-US" sz="950" dirty="0">
                          <a:solidFill>
                            <a:srgbClr val="F0F4F8"/>
                          </a:solidFill>
                        </a:rPr>
                        <a:t>1.28</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marL="0" indent="0">
                        <a:buNone/>
                      </a:pPr>
                      <a:r>
                        <a:rPr lang="en-US" sz="950" dirty="0">
                          <a:solidFill>
                            <a:srgbClr val="F0F4F8"/>
                          </a:solidFill>
                        </a:rPr>
                        <a:t>Tight calling — fold more, let them bluff into us</a:t>
                      </a:r>
                      <a:endParaRPr lang="en-US" sz="950" dirty="0"/>
                    </a:p>
                  </a:txBody>
                  <a:tcP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164592"/>
            <a:ext cx="9144000" cy="640080"/>
          </a:xfrm>
          <a:prstGeom prst="rect">
            <a:avLst/>
          </a:prstGeom>
          <a:solidFill>
            <a:srgbClr val="1B2A3B"/>
          </a:solidFill>
          <a:ln w="12700">
            <a:solidFill>
              <a:srgbClr val="1B2A3B"/>
            </a:solidFill>
            <a:prstDash val="solid"/>
          </a:ln>
        </p:spPr>
        <p:txBody>
          <a:bodyPr/>
          <a:lstStyle/>
          <a:p>
            <a:endParaRPr lang="en-IN" dirty="0"/>
          </a:p>
        </p:txBody>
      </p:sp>
      <p:sp>
        <p:nvSpPr>
          <p:cNvPr id="3" name="Shape 1"/>
          <p:cNvSpPr/>
          <p:nvPr/>
        </p:nvSpPr>
        <p:spPr>
          <a:xfrm>
            <a:off x="274320" y="256032"/>
            <a:ext cx="54864" cy="457200"/>
          </a:xfrm>
          <a:prstGeom prst="rect">
            <a:avLst/>
          </a:prstGeom>
          <a:solidFill>
            <a:srgbClr val="E2A84B"/>
          </a:solidFill>
          <a:ln w="12700">
            <a:solidFill>
              <a:srgbClr val="E2A84B"/>
            </a:solidFill>
            <a:prstDash val="solid"/>
          </a:ln>
        </p:spPr>
        <p:txBody>
          <a:bodyPr/>
          <a:lstStyle/>
          <a:p>
            <a:endParaRPr lang="en-IN" dirty="0"/>
          </a:p>
        </p:txBody>
      </p:sp>
      <p:sp>
        <p:nvSpPr>
          <p:cNvPr id="4" name="Text 2"/>
          <p:cNvSpPr/>
          <p:nvPr/>
        </p:nvSpPr>
        <p:spPr>
          <a:xfrm>
            <a:off x="457200" y="256032"/>
            <a:ext cx="8321040" cy="457200"/>
          </a:xfrm>
          <a:prstGeom prst="rect">
            <a:avLst/>
          </a:prstGeom>
          <a:noFill/>
          <a:ln/>
        </p:spPr>
        <p:txBody>
          <a:bodyPr wrap="square" lIns="0" tIns="0" rIns="0" bIns="0" rtlCol="0" anchor="ctr"/>
          <a:lstStyle/>
          <a:p>
            <a:pPr marL="0" indent="0" algn="l">
              <a:buNone/>
            </a:pPr>
            <a:r>
              <a:rPr lang="en-US" sz="2100" b="1" dirty="0">
                <a:solidFill>
                  <a:srgbClr val="F0F4F8"/>
                </a:solidFill>
                <a:latin typeface="Calibri" pitchFamily="34" charset="0"/>
                <a:ea typeface="Calibri" pitchFamily="34" charset="-122"/>
                <a:cs typeface="Calibri" pitchFamily="34" charset="-120"/>
              </a:rPr>
              <a:t>Folding and Calling Strategy - Dynamic Equity Floors</a:t>
            </a:r>
            <a:endParaRPr lang="en-US" sz="2100" dirty="0"/>
          </a:p>
        </p:txBody>
      </p:sp>
      <p:pic>
        <p:nvPicPr>
          <p:cNvPr id="5" name="Image 0" descr="/home/claude/orig_media/image6.png"/>
          <p:cNvPicPr>
            <a:picLocks noChangeAspect="1"/>
          </p:cNvPicPr>
          <p:nvPr/>
        </p:nvPicPr>
        <p:blipFill>
          <a:blip r:embed="rId3"/>
          <a:stretch>
            <a:fillRect/>
          </a:stretch>
        </p:blipFill>
        <p:spPr>
          <a:xfrm>
            <a:off x="369083" y="1051681"/>
            <a:ext cx="2483491" cy="2263641"/>
          </a:xfrm>
          <a:prstGeom prst="rect">
            <a:avLst/>
          </a:prstGeom>
        </p:spPr>
      </p:pic>
      <p:sp>
        <p:nvSpPr>
          <p:cNvPr id="8" name="Shape 3"/>
          <p:cNvSpPr/>
          <p:nvPr/>
        </p:nvSpPr>
        <p:spPr>
          <a:xfrm>
            <a:off x="92827" y="3611880"/>
            <a:ext cx="3076303" cy="1444752"/>
          </a:xfrm>
          <a:prstGeom prst="rect">
            <a:avLst/>
          </a:prstGeom>
          <a:solidFill>
            <a:srgbClr val="1B2A3B"/>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dirty="0"/>
          </a:p>
        </p:txBody>
      </p:sp>
      <p:sp>
        <p:nvSpPr>
          <p:cNvPr id="9" name="Shape 4"/>
          <p:cNvSpPr/>
          <p:nvPr/>
        </p:nvSpPr>
        <p:spPr>
          <a:xfrm>
            <a:off x="92827" y="3611880"/>
            <a:ext cx="54864" cy="1444752"/>
          </a:xfrm>
          <a:prstGeom prst="rect">
            <a:avLst/>
          </a:prstGeom>
          <a:solidFill>
            <a:srgbClr val="1DB8C7"/>
          </a:solidFill>
          <a:ln w="12700">
            <a:solidFill>
              <a:srgbClr val="1DB8C7"/>
            </a:solidFill>
            <a:prstDash val="solid"/>
          </a:ln>
        </p:spPr>
        <p:txBody>
          <a:bodyPr/>
          <a:lstStyle/>
          <a:p>
            <a:endParaRPr lang="en-IN" dirty="0"/>
          </a:p>
        </p:txBody>
      </p:sp>
      <p:sp>
        <p:nvSpPr>
          <p:cNvPr id="10" name="Text 5"/>
          <p:cNvSpPr/>
          <p:nvPr/>
        </p:nvSpPr>
        <p:spPr>
          <a:xfrm>
            <a:off x="248275" y="3675888"/>
            <a:ext cx="4389120" cy="256032"/>
          </a:xfrm>
          <a:prstGeom prst="rect">
            <a:avLst/>
          </a:prstGeom>
          <a:noFill/>
          <a:ln/>
        </p:spPr>
        <p:txBody>
          <a:bodyPr wrap="square" lIns="0" tIns="0" rIns="0" bIns="0" rtlCol="0" anchor="ctr"/>
          <a:lstStyle/>
          <a:p>
            <a:pPr marL="0" indent="0">
              <a:buNone/>
            </a:pPr>
            <a:r>
              <a:rPr lang="en-US" sz="1100" b="1" dirty="0">
                <a:solidFill>
                  <a:srgbClr val="1DB8C7"/>
                </a:solidFill>
                <a:latin typeface="Calibri" pitchFamily="34" charset="0"/>
                <a:ea typeface="Calibri" pitchFamily="34" charset="-122"/>
                <a:cs typeface="Calibri" pitchFamily="34" charset="-120"/>
              </a:rPr>
              <a:t>Info Asymmetry Protection</a:t>
            </a:r>
            <a:endParaRPr lang="en-US" sz="1100" dirty="0"/>
          </a:p>
        </p:txBody>
      </p:sp>
      <p:sp>
        <p:nvSpPr>
          <p:cNvPr id="11" name="Text 6"/>
          <p:cNvSpPr/>
          <p:nvPr/>
        </p:nvSpPr>
        <p:spPr>
          <a:xfrm>
            <a:off x="248275" y="3977640"/>
            <a:ext cx="4389120" cy="182880"/>
          </a:xfrm>
          <a:prstGeom prst="rect">
            <a:avLst/>
          </a:prstGeom>
          <a:noFill/>
          <a:ln/>
        </p:spPr>
        <p:txBody>
          <a:bodyPr wrap="square" lIns="0" tIns="0" rIns="0" bIns="0" rtlCol="0" anchor="ctr"/>
          <a:lstStyle/>
          <a:p>
            <a:pPr marL="0" indent="0">
              <a:buNone/>
            </a:pPr>
            <a:r>
              <a:rPr lang="en-US" sz="950" dirty="0">
                <a:solidFill>
                  <a:srgbClr val="F0F4F8"/>
                </a:solidFill>
                <a:latin typeface="Calibri" pitchFamily="34" charset="0"/>
                <a:ea typeface="Calibri" pitchFamily="34" charset="-122"/>
                <a:cs typeface="Calibri" pitchFamily="34" charset="-120"/>
              </a:rPr>
              <a:t>• Opponent has our card: cap invest at 25% of stack</a:t>
            </a:r>
            <a:endParaRPr lang="en-US" sz="950" dirty="0"/>
          </a:p>
        </p:txBody>
      </p:sp>
      <p:sp>
        <p:nvSpPr>
          <p:cNvPr id="12" name="Text 7"/>
          <p:cNvSpPr/>
          <p:nvPr/>
        </p:nvSpPr>
        <p:spPr>
          <a:xfrm>
            <a:off x="248275" y="4151376"/>
            <a:ext cx="4389120" cy="182880"/>
          </a:xfrm>
          <a:prstGeom prst="rect">
            <a:avLst/>
          </a:prstGeom>
          <a:noFill/>
          <a:ln/>
        </p:spPr>
        <p:txBody>
          <a:bodyPr wrap="square" lIns="0" tIns="0" rIns="0" bIns="0" rtlCol="0" anchor="ctr"/>
          <a:lstStyle/>
          <a:p>
            <a:pPr marL="0" indent="0">
              <a:buNone/>
            </a:pPr>
            <a:r>
              <a:rPr lang="en-US" sz="950" dirty="0">
                <a:solidFill>
                  <a:srgbClr val="F0F4F8"/>
                </a:solidFill>
                <a:latin typeface="Calibri" pitchFamily="34" charset="0"/>
                <a:ea typeface="Calibri" pitchFamily="34" charset="-122"/>
                <a:cs typeface="Calibri" pitchFamily="34" charset="-120"/>
              </a:rPr>
              <a:t>• Non-monster hand + </a:t>
            </a:r>
            <a:r>
              <a:rPr lang="en-US" sz="950" dirty="0" err="1">
                <a:solidFill>
                  <a:srgbClr val="F0F4F8"/>
                </a:solidFill>
                <a:latin typeface="Calibri" pitchFamily="34" charset="0"/>
                <a:ea typeface="Calibri" pitchFamily="34" charset="-122"/>
                <a:cs typeface="Calibri" pitchFamily="34" charset="-120"/>
              </a:rPr>
              <a:t>proj_invest</a:t>
            </a:r>
            <a:r>
              <a:rPr lang="en-US" sz="950" dirty="0">
                <a:solidFill>
                  <a:srgbClr val="F0F4F8"/>
                </a:solidFill>
                <a:latin typeface="Calibri" pitchFamily="34" charset="0"/>
                <a:ea typeface="Calibri" pitchFamily="34" charset="-122"/>
                <a:cs typeface="Calibri" pitchFamily="34" charset="-120"/>
              </a:rPr>
              <a:t> &gt; 1250: FOLD</a:t>
            </a:r>
            <a:endParaRPr lang="en-US" sz="950" dirty="0"/>
          </a:p>
        </p:txBody>
      </p:sp>
      <p:sp>
        <p:nvSpPr>
          <p:cNvPr id="13" name="Text 8"/>
          <p:cNvSpPr/>
          <p:nvPr/>
        </p:nvSpPr>
        <p:spPr>
          <a:xfrm>
            <a:off x="248275" y="4325112"/>
            <a:ext cx="4389120" cy="182880"/>
          </a:xfrm>
          <a:prstGeom prst="rect">
            <a:avLst/>
          </a:prstGeom>
          <a:noFill/>
          <a:ln/>
        </p:spPr>
        <p:txBody>
          <a:bodyPr wrap="square" lIns="0" tIns="0" rIns="0" bIns="0" rtlCol="0" anchor="ctr"/>
          <a:lstStyle/>
          <a:p>
            <a:pPr marL="0" indent="0">
              <a:buNone/>
            </a:pPr>
            <a:r>
              <a:rPr lang="en-US" sz="950" dirty="0">
                <a:solidFill>
                  <a:srgbClr val="F0F4F8"/>
                </a:solidFill>
                <a:latin typeface="Calibri" pitchFamily="34" charset="0"/>
                <a:ea typeface="Calibri" pitchFamily="34" charset="-122"/>
                <a:cs typeface="Calibri" pitchFamily="34" charset="-120"/>
              </a:rPr>
              <a:t>• Equity threshold for exception: eq ≥ 0.90</a:t>
            </a:r>
            <a:endParaRPr lang="en-US" sz="950" dirty="0"/>
          </a:p>
        </p:txBody>
      </p:sp>
      <p:sp>
        <p:nvSpPr>
          <p:cNvPr id="14" name="Text 9"/>
          <p:cNvSpPr/>
          <p:nvPr/>
        </p:nvSpPr>
        <p:spPr>
          <a:xfrm>
            <a:off x="248275" y="4498848"/>
            <a:ext cx="4389120" cy="182880"/>
          </a:xfrm>
          <a:prstGeom prst="rect">
            <a:avLst/>
          </a:prstGeom>
          <a:noFill/>
          <a:ln/>
        </p:spPr>
        <p:txBody>
          <a:bodyPr wrap="square" lIns="0" tIns="0" rIns="0" bIns="0" rtlCol="0" anchor="ctr"/>
          <a:lstStyle/>
          <a:p>
            <a:pPr marL="0" indent="0">
              <a:buNone/>
            </a:pPr>
            <a:r>
              <a:rPr lang="en-US" sz="950" dirty="0">
                <a:solidFill>
                  <a:srgbClr val="F0F4F8"/>
                </a:solidFill>
                <a:latin typeface="Calibri" pitchFamily="34" charset="0"/>
                <a:ea typeface="Calibri" pitchFamily="34" charset="-122"/>
                <a:cs typeface="Calibri" pitchFamily="34" charset="-120"/>
              </a:rPr>
              <a:t>• BB fold gate lower than SB (already invested)</a:t>
            </a:r>
            <a:endParaRPr lang="en-US" sz="950" dirty="0"/>
          </a:p>
        </p:txBody>
      </p:sp>
      <p:sp>
        <p:nvSpPr>
          <p:cNvPr id="15" name="Text 10"/>
          <p:cNvSpPr/>
          <p:nvPr/>
        </p:nvSpPr>
        <p:spPr>
          <a:xfrm>
            <a:off x="248275" y="4672584"/>
            <a:ext cx="4389120" cy="182880"/>
          </a:xfrm>
          <a:prstGeom prst="rect">
            <a:avLst/>
          </a:prstGeom>
          <a:noFill/>
          <a:ln/>
        </p:spPr>
        <p:txBody>
          <a:bodyPr wrap="square" lIns="0" tIns="0" rIns="0" bIns="0" rtlCol="0" anchor="ctr"/>
          <a:lstStyle/>
          <a:p>
            <a:pPr marL="0" indent="0">
              <a:buNone/>
            </a:pPr>
            <a:r>
              <a:rPr lang="en-US" sz="950" dirty="0">
                <a:solidFill>
                  <a:srgbClr val="F0F4F8"/>
                </a:solidFill>
                <a:latin typeface="Calibri" pitchFamily="34" charset="0"/>
                <a:ea typeface="Calibri" pitchFamily="34" charset="-122"/>
                <a:cs typeface="Calibri" pitchFamily="34" charset="-120"/>
              </a:rPr>
              <a:t>• Preflop gate: 0.39 + min(0.12, cr×0.40)  (BB)</a:t>
            </a:r>
            <a:endParaRPr lang="en-US" sz="950" dirty="0"/>
          </a:p>
        </p:txBody>
      </p:sp>
      <p:sp>
        <p:nvSpPr>
          <p:cNvPr id="16" name="Text 11"/>
          <p:cNvSpPr/>
          <p:nvPr/>
        </p:nvSpPr>
        <p:spPr>
          <a:xfrm>
            <a:off x="248275" y="4846320"/>
            <a:ext cx="4389120" cy="182880"/>
          </a:xfrm>
          <a:prstGeom prst="rect">
            <a:avLst/>
          </a:prstGeom>
          <a:noFill/>
          <a:ln/>
        </p:spPr>
        <p:txBody>
          <a:bodyPr wrap="square" lIns="0" tIns="0" rIns="0" bIns="0" rtlCol="0" anchor="ctr"/>
          <a:lstStyle/>
          <a:p>
            <a:pPr marL="0" indent="0">
              <a:buNone/>
            </a:pPr>
            <a:r>
              <a:rPr lang="en-US" sz="950" dirty="0">
                <a:solidFill>
                  <a:srgbClr val="F0F4F8"/>
                </a:solidFill>
                <a:latin typeface="Calibri" pitchFamily="34" charset="0"/>
                <a:ea typeface="Calibri" pitchFamily="34" charset="-122"/>
                <a:cs typeface="Calibri" pitchFamily="34" charset="-120"/>
              </a:rPr>
              <a:t>• Preflop gate: 0.43 + min(0.12, cr×0.40)  (SB)</a:t>
            </a:r>
            <a:endParaRPr lang="en-US" sz="950" dirty="0"/>
          </a:p>
        </p:txBody>
      </p:sp>
      <p:sp>
        <p:nvSpPr>
          <p:cNvPr id="17" name="Shape 3">
            <a:extLst>
              <a:ext uri="{FF2B5EF4-FFF2-40B4-BE49-F238E27FC236}">
                <a16:creationId xmlns:a16="http://schemas.microsoft.com/office/drawing/2014/main" id="{4FCFDCE1-6B7A-4080-AF4F-B3BC7F98A3C6}"/>
              </a:ext>
            </a:extLst>
          </p:cNvPr>
          <p:cNvSpPr/>
          <p:nvPr/>
        </p:nvSpPr>
        <p:spPr>
          <a:xfrm>
            <a:off x="3269714" y="3148149"/>
            <a:ext cx="5767509" cy="1917894"/>
          </a:xfrm>
          <a:prstGeom prst="rect">
            <a:avLst/>
          </a:prstGeom>
          <a:solidFill>
            <a:srgbClr val="1B2A3B"/>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dirty="0"/>
          </a:p>
        </p:txBody>
      </p:sp>
      <p:sp>
        <p:nvSpPr>
          <p:cNvPr id="18" name="Shape 4">
            <a:extLst>
              <a:ext uri="{FF2B5EF4-FFF2-40B4-BE49-F238E27FC236}">
                <a16:creationId xmlns:a16="http://schemas.microsoft.com/office/drawing/2014/main" id="{D791287D-D6D7-405D-0C93-68203DEE4349}"/>
              </a:ext>
            </a:extLst>
          </p:cNvPr>
          <p:cNvSpPr/>
          <p:nvPr/>
        </p:nvSpPr>
        <p:spPr>
          <a:xfrm>
            <a:off x="3269714" y="3148149"/>
            <a:ext cx="54864" cy="1917894"/>
          </a:xfrm>
          <a:prstGeom prst="rect">
            <a:avLst/>
          </a:prstGeom>
          <a:solidFill>
            <a:srgbClr val="1DB8C7"/>
          </a:solidFill>
          <a:ln w="12700">
            <a:solidFill>
              <a:srgbClr val="1DB8C7"/>
            </a:solidFill>
            <a:prstDash val="solid"/>
          </a:ln>
        </p:spPr>
        <p:txBody>
          <a:bodyPr/>
          <a:lstStyle/>
          <a:p>
            <a:endParaRPr lang="en-IN"/>
          </a:p>
        </p:txBody>
      </p:sp>
      <p:sp>
        <p:nvSpPr>
          <p:cNvPr id="20" name="Text 6">
            <a:extLst>
              <a:ext uri="{FF2B5EF4-FFF2-40B4-BE49-F238E27FC236}">
                <a16:creationId xmlns:a16="http://schemas.microsoft.com/office/drawing/2014/main" id="{7D9A3AC4-9703-E5A7-0207-4FB416CBE428}"/>
              </a:ext>
            </a:extLst>
          </p:cNvPr>
          <p:cNvSpPr/>
          <p:nvPr/>
        </p:nvSpPr>
        <p:spPr>
          <a:xfrm>
            <a:off x="3369347" y="3796050"/>
            <a:ext cx="2921806" cy="182880"/>
          </a:xfrm>
          <a:prstGeom prst="rect">
            <a:avLst/>
          </a:prstGeom>
          <a:noFill/>
          <a:ln/>
        </p:spPr>
        <p:txBody>
          <a:bodyPr wrap="square" lIns="0" tIns="0" rIns="0" bIns="0" rtlCol="0" anchor="ctr"/>
          <a:lstStyle/>
          <a:p>
            <a:pPr marL="0" indent="0">
              <a:buNone/>
            </a:pPr>
            <a:r>
              <a:rPr lang="en-US" sz="950" dirty="0">
                <a:solidFill>
                  <a:srgbClr val="F0F4F8"/>
                </a:solidFill>
                <a:latin typeface="Calibri" pitchFamily="34" charset="0"/>
                <a:ea typeface="Calibri" pitchFamily="34" charset="-122"/>
                <a:cs typeface="Calibri" pitchFamily="34" charset="-120"/>
              </a:rPr>
              <a:t>• Apply last bonus to decide whether call or fold on our adjusted equity and if </a:t>
            </a:r>
            <a:endParaRPr lang="en-US" sz="950" dirty="0"/>
          </a:p>
        </p:txBody>
      </p:sp>
      <p:graphicFrame>
        <p:nvGraphicFramePr>
          <p:cNvPr id="23" name="Table 22">
            <a:extLst>
              <a:ext uri="{FF2B5EF4-FFF2-40B4-BE49-F238E27FC236}">
                <a16:creationId xmlns:a16="http://schemas.microsoft.com/office/drawing/2014/main" id="{A1A50E89-84BC-4BB7-8D57-54D12B632A6A}"/>
              </a:ext>
            </a:extLst>
          </p:cNvPr>
          <p:cNvGraphicFramePr>
            <a:graphicFrameLocks noGrp="1"/>
          </p:cNvGraphicFramePr>
          <p:nvPr>
            <p:extLst>
              <p:ext uri="{D42A27DB-BD31-4B8C-83A1-F6EECF244321}">
                <p14:modId xmlns:p14="http://schemas.microsoft.com/office/powerpoint/2010/main" val="2055676581"/>
              </p:ext>
            </p:extLst>
          </p:nvPr>
        </p:nvGraphicFramePr>
        <p:xfrm>
          <a:off x="6291153" y="3648565"/>
          <a:ext cx="2650809" cy="1371382"/>
        </p:xfrm>
        <a:graphic>
          <a:graphicData uri="http://schemas.openxmlformats.org/drawingml/2006/table">
            <a:tbl>
              <a:tblPr/>
              <a:tblGrid>
                <a:gridCol w="1445895">
                  <a:extLst>
                    <a:ext uri="{9D8B030D-6E8A-4147-A177-3AD203B41FA5}">
                      <a16:colId xmlns:a16="http://schemas.microsoft.com/office/drawing/2014/main" val="2921290071"/>
                    </a:ext>
                  </a:extLst>
                </a:gridCol>
                <a:gridCol w="1204914">
                  <a:extLst>
                    <a:ext uri="{9D8B030D-6E8A-4147-A177-3AD203B41FA5}">
                      <a16:colId xmlns:a16="http://schemas.microsoft.com/office/drawing/2014/main" val="1375890230"/>
                    </a:ext>
                  </a:extLst>
                </a:gridCol>
              </a:tblGrid>
              <a:tr h="187435">
                <a:tc>
                  <a:txBody>
                    <a:bodyPr/>
                    <a:lstStyle/>
                    <a:p>
                      <a:pPr>
                        <a:buNone/>
                      </a:pPr>
                      <a:r>
                        <a:rPr lang="en-US" sz="800" dirty="0">
                          <a:solidFill>
                            <a:schemeClr val="bg1"/>
                          </a:solidFill>
                        </a:rPr>
                        <a:t>Draw Type</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a:buNone/>
                      </a:pPr>
                      <a:r>
                        <a:rPr lang="en-US" sz="800">
                          <a:solidFill>
                            <a:schemeClr val="bg1"/>
                          </a:solidFill>
                        </a:rPr>
                        <a:t>Bonus</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extLst>
                  <a:ext uri="{0D108BD9-81ED-4DB2-BD59-A6C34878D82A}">
                    <a16:rowId xmlns:a16="http://schemas.microsoft.com/office/drawing/2014/main" val="2408357124"/>
                  </a:ext>
                </a:extLst>
              </a:tr>
              <a:tr h="187435">
                <a:tc>
                  <a:txBody>
                    <a:bodyPr/>
                    <a:lstStyle/>
                    <a:p>
                      <a:pPr>
                        <a:buNone/>
                      </a:pPr>
                      <a:r>
                        <a:rPr lang="en-US" sz="800" dirty="0">
                          <a:solidFill>
                            <a:schemeClr val="bg1"/>
                          </a:solidFill>
                        </a:rPr>
                        <a:t>Combo (flush + straight)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a:solidFill>
                            <a:schemeClr val="bg1"/>
                          </a:solidFill>
                        </a:rPr>
                        <a:t>+0.10</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4127834003"/>
                  </a:ext>
                </a:extLst>
              </a:tr>
              <a:tr h="187435">
                <a:tc>
                  <a:txBody>
                    <a:bodyPr/>
                    <a:lstStyle/>
                    <a:p>
                      <a:pPr>
                        <a:buNone/>
                      </a:pPr>
                      <a:r>
                        <a:rPr lang="en-US" sz="800" dirty="0">
                          <a:solidFill>
                            <a:schemeClr val="bg1"/>
                          </a:solidFill>
                        </a:rPr>
                        <a:t>Flush draw</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a:solidFill>
                            <a:schemeClr val="bg1"/>
                          </a:solidFill>
                        </a:rPr>
                        <a:t>+0.07</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613088518"/>
                  </a:ext>
                </a:extLst>
              </a:tr>
              <a:tr h="304582">
                <a:tc>
                  <a:txBody>
                    <a:bodyPr/>
                    <a:lstStyle/>
                    <a:p>
                      <a:pPr>
                        <a:buNone/>
                      </a:pPr>
                      <a:r>
                        <a:rPr lang="en-US" sz="800">
                          <a:solidFill>
                            <a:schemeClr val="bg1"/>
                          </a:solidFill>
                        </a:rPr>
                        <a:t>Open-ended straight (OESD)</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a:solidFill>
                            <a:schemeClr val="bg1"/>
                          </a:solidFill>
                        </a:rPr>
                        <a:t>+0.06</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3669006793"/>
                  </a:ext>
                </a:extLst>
              </a:tr>
              <a:tr h="187435">
                <a:tc>
                  <a:txBody>
                    <a:bodyPr/>
                    <a:lstStyle/>
                    <a:p>
                      <a:pPr>
                        <a:buNone/>
                      </a:pPr>
                      <a:r>
                        <a:rPr lang="en-US" sz="800">
                          <a:solidFill>
                            <a:schemeClr val="bg1"/>
                          </a:solidFill>
                        </a:rPr>
                        <a:t>Gutshot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+0.03</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351648477"/>
                  </a:ext>
                </a:extLst>
              </a:tr>
              <a:tr h="187435">
                <a:tc>
                  <a:txBody>
                    <a:bodyPr/>
                    <a:lstStyle/>
                    <a:p>
                      <a:pPr>
                        <a:buNone/>
                      </a:pPr>
                      <a:r>
                        <a:rPr lang="en-US" sz="800" dirty="0">
                          <a:solidFill>
                            <a:schemeClr val="bg1"/>
                          </a:solidFill>
                        </a:rPr>
                        <a:t>Draw Type</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Bonus</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3504659832"/>
                  </a:ext>
                </a:extLst>
              </a:tr>
            </a:tbl>
          </a:graphicData>
        </a:graphic>
      </p:graphicFrame>
      <p:sp>
        <p:nvSpPr>
          <p:cNvPr id="24" name="Shape 4">
            <a:extLst>
              <a:ext uri="{FF2B5EF4-FFF2-40B4-BE49-F238E27FC236}">
                <a16:creationId xmlns:a16="http://schemas.microsoft.com/office/drawing/2014/main" id="{71F1407F-7B02-0BFB-9FBA-5337F21111A5}"/>
              </a:ext>
            </a:extLst>
          </p:cNvPr>
          <p:cNvSpPr/>
          <p:nvPr/>
        </p:nvSpPr>
        <p:spPr>
          <a:xfrm>
            <a:off x="3425162" y="4228516"/>
            <a:ext cx="2524347" cy="723543"/>
          </a:xfrm>
          <a:prstGeom prst="rect">
            <a:avLst/>
          </a:prstGeom>
          <a:solidFill>
            <a:srgbClr val="0E1A0E"/>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a:p>
        </p:txBody>
      </p:sp>
      <p:sp>
        <p:nvSpPr>
          <p:cNvPr id="25" name="Text 5">
            <a:extLst>
              <a:ext uri="{FF2B5EF4-FFF2-40B4-BE49-F238E27FC236}">
                <a16:creationId xmlns:a16="http://schemas.microsoft.com/office/drawing/2014/main" id="{37887C7F-1A11-3E37-50A7-1DDC89DC718E}"/>
              </a:ext>
            </a:extLst>
          </p:cNvPr>
          <p:cNvSpPr/>
          <p:nvPr/>
        </p:nvSpPr>
        <p:spPr>
          <a:xfrm>
            <a:off x="3455658" y="4327346"/>
            <a:ext cx="2236868" cy="512065"/>
          </a:xfrm>
          <a:prstGeom prst="rect">
            <a:avLst/>
          </a:prstGeom>
          <a:noFill/>
          <a:ln/>
        </p:spPr>
        <p:txBody>
          <a:bodyPr wrap="square" lIns="0" tIns="0" rIns="0" bIns="0" rtlCol="0" anchor="ctr"/>
          <a:lstStyle/>
          <a:p>
            <a:r>
              <a:rPr lang="en-US" sz="700" dirty="0">
                <a:solidFill>
                  <a:srgbClr val="44A57A"/>
                </a:solidFill>
              </a:rPr>
              <a:t> if adj &gt; (</a:t>
            </a:r>
            <a:r>
              <a:rPr lang="en-US" sz="700" dirty="0" err="1">
                <a:solidFill>
                  <a:srgbClr val="44A57A"/>
                </a:solidFill>
              </a:rPr>
              <a:t>p_odds</a:t>
            </a:r>
            <a:r>
              <a:rPr lang="en-US" sz="700" dirty="0">
                <a:solidFill>
                  <a:srgbClr val="44A57A"/>
                </a:solidFill>
              </a:rPr>
              <a:t> + margin + pip):</a:t>
            </a:r>
          </a:p>
          <a:p>
            <a:r>
              <a:rPr lang="en-US" sz="700" dirty="0">
                <a:solidFill>
                  <a:srgbClr val="44A57A"/>
                </a:solidFill>
              </a:rPr>
              <a:t>                return </a:t>
            </a:r>
            <a:r>
              <a:rPr lang="en-US" sz="700" dirty="0" err="1">
                <a:solidFill>
                  <a:srgbClr val="44A57A"/>
                </a:solidFill>
              </a:rPr>
              <a:t>ActionCall</a:t>
            </a:r>
            <a:r>
              <a:rPr lang="en-US" sz="700" dirty="0">
                <a:solidFill>
                  <a:srgbClr val="44A57A"/>
                </a:solidFill>
              </a:rPr>
              <a:t>() if </a:t>
            </a:r>
            <a:r>
              <a:rPr lang="en-US" sz="700" dirty="0" err="1">
                <a:solidFill>
                  <a:srgbClr val="44A57A"/>
                </a:solidFill>
              </a:rPr>
              <a:t>cs.can_act</a:t>
            </a:r>
            <a:r>
              <a:rPr lang="en-US" sz="700" dirty="0">
                <a:solidFill>
                  <a:srgbClr val="44A57A"/>
                </a:solidFill>
              </a:rPr>
              <a:t>(</a:t>
            </a:r>
            <a:r>
              <a:rPr lang="en-US" sz="700" dirty="0" err="1">
                <a:solidFill>
                  <a:srgbClr val="44A57A"/>
                </a:solidFill>
              </a:rPr>
              <a:t>ActionCall</a:t>
            </a:r>
            <a:r>
              <a:rPr lang="en-US" sz="700" dirty="0">
                <a:solidFill>
                  <a:srgbClr val="44A57A"/>
                </a:solidFill>
              </a:rPr>
              <a:t>) else </a:t>
            </a:r>
            <a:r>
              <a:rPr lang="en-US" sz="700" dirty="0" err="1">
                <a:solidFill>
                  <a:srgbClr val="44A57A"/>
                </a:solidFill>
              </a:rPr>
              <a:t>ActionCheck</a:t>
            </a:r>
            <a:r>
              <a:rPr lang="en-US" sz="700" dirty="0">
                <a:solidFill>
                  <a:srgbClr val="44A57A"/>
                </a:solidFill>
              </a:rPr>
              <a:t>()</a:t>
            </a:r>
          </a:p>
          <a:p>
            <a:r>
              <a:rPr lang="en-US" sz="700" dirty="0">
                <a:solidFill>
                  <a:srgbClr val="44A57A"/>
                </a:solidFill>
              </a:rPr>
              <a:t>            else:</a:t>
            </a:r>
          </a:p>
          <a:p>
            <a:r>
              <a:rPr lang="en-US" sz="700" dirty="0">
                <a:solidFill>
                  <a:srgbClr val="44A57A"/>
                </a:solidFill>
              </a:rPr>
              <a:t>                return </a:t>
            </a:r>
            <a:r>
              <a:rPr lang="en-US" sz="700" dirty="0" err="1">
                <a:solidFill>
                  <a:srgbClr val="44A57A"/>
                </a:solidFill>
              </a:rPr>
              <a:t>ActionFold</a:t>
            </a:r>
            <a:r>
              <a:rPr lang="en-US" sz="700" dirty="0">
                <a:solidFill>
                  <a:srgbClr val="44A57A"/>
                </a:solidFill>
              </a:rPr>
              <a:t>() if </a:t>
            </a:r>
            <a:r>
              <a:rPr lang="en-US" sz="700" dirty="0" err="1">
                <a:solidFill>
                  <a:srgbClr val="44A57A"/>
                </a:solidFill>
              </a:rPr>
              <a:t>cs.can_act</a:t>
            </a:r>
            <a:r>
              <a:rPr lang="en-US" sz="700" dirty="0">
                <a:solidFill>
                  <a:srgbClr val="44A57A"/>
                </a:solidFill>
              </a:rPr>
              <a:t>(</a:t>
            </a:r>
            <a:r>
              <a:rPr lang="en-US" sz="700" dirty="0" err="1">
                <a:solidFill>
                  <a:srgbClr val="44A57A"/>
                </a:solidFill>
              </a:rPr>
              <a:t>ActionFold</a:t>
            </a:r>
            <a:r>
              <a:rPr lang="en-US" sz="700" dirty="0">
                <a:solidFill>
                  <a:srgbClr val="44A57A"/>
                </a:solidFill>
              </a:rPr>
              <a:t>) else </a:t>
            </a:r>
            <a:r>
              <a:rPr lang="en-US" sz="700" dirty="0" err="1">
                <a:solidFill>
                  <a:srgbClr val="44A57A"/>
                </a:solidFill>
              </a:rPr>
              <a:t>ActionCheck</a:t>
            </a:r>
            <a:r>
              <a:rPr lang="en-US" sz="700" dirty="0">
                <a:solidFill>
                  <a:srgbClr val="44A57A"/>
                </a:solidFill>
              </a:rPr>
              <a:t>()</a:t>
            </a:r>
          </a:p>
        </p:txBody>
      </p:sp>
      <p:sp>
        <p:nvSpPr>
          <p:cNvPr id="26" name="Text 6">
            <a:extLst>
              <a:ext uri="{FF2B5EF4-FFF2-40B4-BE49-F238E27FC236}">
                <a16:creationId xmlns:a16="http://schemas.microsoft.com/office/drawing/2014/main" id="{2E502D4B-420C-2F31-CD27-F89C35B704D0}"/>
              </a:ext>
            </a:extLst>
          </p:cNvPr>
          <p:cNvSpPr/>
          <p:nvPr/>
        </p:nvSpPr>
        <p:spPr>
          <a:xfrm>
            <a:off x="3269714" y="3273819"/>
            <a:ext cx="2921806" cy="182880"/>
          </a:xfrm>
          <a:prstGeom prst="rect">
            <a:avLst/>
          </a:prstGeom>
          <a:noFill/>
          <a:ln/>
        </p:spPr>
        <p:txBody>
          <a:bodyPr wrap="square" lIns="0" tIns="0" rIns="0" bIns="0" rtlCol="0" anchor="ctr"/>
          <a:lstStyle/>
          <a:p>
            <a:pPr marL="0" indent="0">
              <a:buNone/>
            </a:pPr>
            <a:endParaRPr lang="en-US" sz="950" dirty="0"/>
          </a:p>
        </p:txBody>
      </p:sp>
      <p:sp>
        <p:nvSpPr>
          <p:cNvPr id="28" name="Rectangle 2">
            <a:extLst>
              <a:ext uri="{FF2B5EF4-FFF2-40B4-BE49-F238E27FC236}">
                <a16:creationId xmlns:a16="http://schemas.microsoft.com/office/drawing/2014/main" id="{1F8D28B3-5FE4-130D-3FF3-C5C3BA15E029}"/>
              </a:ext>
            </a:extLst>
          </p:cNvPr>
          <p:cNvSpPr>
            <a:spLocks noChangeArrowheads="1"/>
          </p:cNvSpPr>
          <p:nvPr/>
        </p:nvSpPr>
        <p:spPr bwMode="auto">
          <a:xfrm>
            <a:off x="3324578" y="3034747"/>
            <a:ext cx="569140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0" i="0" u="none" strike="noStrike" cap="none" normalizeH="0" baseline="0" dirty="0">
                <a:ln>
                  <a:noFill/>
                </a:ln>
                <a:solidFill>
                  <a:schemeClr val="bg1"/>
                </a:solidFill>
                <a:effectLst/>
                <a:latin typeface="Arial" panose="020B0604020202020204" pitchFamily="34" charset="0"/>
              </a:rPr>
              <a:t>If our bot has </a:t>
            </a:r>
            <a:r>
              <a:rPr kumimoji="0" lang="en-US" altLang="en-US" sz="800" b="1" i="0" u="none" strike="noStrike" cap="none" normalizeH="0" baseline="0" dirty="0">
                <a:ln>
                  <a:noFill/>
                </a:ln>
                <a:solidFill>
                  <a:schemeClr val="bg1"/>
                </a:solidFill>
                <a:effectLst/>
                <a:latin typeface="Arial" panose="020B0604020202020204" pitchFamily="34" charset="0"/>
              </a:rPr>
              <a:t>extra information (see opponent’s card)</a:t>
            </a:r>
            <a:r>
              <a:rPr kumimoji="0" lang="en-US" altLang="en-US" sz="800" b="0" i="0" u="none" strike="noStrike" cap="none" normalizeH="0" baseline="0" dirty="0">
                <a:ln>
                  <a:noFill/>
                </a:ln>
                <a:solidFill>
                  <a:schemeClr val="bg1"/>
                </a:solidFill>
                <a:effectLst/>
                <a:latin typeface="Arial" panose="020B0604020202020204" pitchFamily="34" charset="0"/>
              </a:rPr>
              <a:t>, our equity is reliable → call as soon as it beats pot odds, no buffer needed.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0" i="0" u="none" strike="noStrike" cap="none" normalizeH="0" baseline="0" dirty="0">
                <a:ln>
                  <a:noFill/>
                </a:ln>
                <a:solidFill>
                  <a:schemeClr val="bg1"/>
                </a:solidFill>
                <a:effectLst/>
                <a:latin typeface="Arial" panose="020B0604020202020204" pitchFamily="34" charset="0"/>
              </a:rPr>
              <a:t>If </a:t>
            </a:r>
            <a:r>
              <a:rPr kumimoji="0" lang="en-US" altLang="en-US" sz="800" b="1" i="0" u="none" strike="noStrike" cap="none" normalizeH="0" baseline="0" dirty="0">
                <a:ln>
                  <a:noFill/>
                </a:ln>
                <a:solidFill>
                  <a:schemeClr val="bg1"/>
                </a:solidFill>
                <a:effectLst/>
                <a:latin typeface="Arial" panose="020B0604020202020204" pitchFamily="34" charset="0"/>
              </a:rPr>
              <a:t>opponent has info on our bot</a:t>
            </a:r>
            <a:r>
              <a:rPr kumimoji="0" lang="en-US" altLang="en-US" sz="800" b="0" i="0" u="none" strike="noStrike" cap="none" normalizeH="0" baseline="0" dirty="0">
                <a:ln>
                  <a:noFill/>
                </a:ln>
                <a:solidFill>
                  <a:schemeClr val="bg1"/>
                </a:solidFill>
                <a:effectLst/>
                <a:latin typeface="Arial" panose="020B0604020202020204" pitchFamily="34" charset="0"/>
              </a:rPr>
              <a:t>, our equity is likely overestimated → require a strong safety margin (~12%) before calling. </a:t>
            </a:r>
          </a:p>
        </p:txBody>
      </p:sp>
      <p:sp>
        <p:nvSpPr>
          <p:cNvPr id="29" name="Text 6">
            <a:extLst>
              <a:ext uri="{FF2B5EF4-FFF2-40B4-BE49-F238E27FC236}">
                <a16:creationId xmlns:a16="http://schemas.microsoft.com/office/drawing/2014/main" id="{D6C9A1C8-14E9-08E9-B897-44D1CE444F67}"/>
              </a:ext>
            </a:extLst>
          </p:cNvPr>
          <p:cNvSpPr/>
          <p:nvPr/>
        </p:nvSpPr>
        <p:spPr>
          <a:xfrm>
            <a:off x="1507159" y="3360301"/>
            <a:ext cx="690469" cy="182880"/>
          </a:xfrm>
          <a:prstGeom prst="rect">
            <a:avLst/>
          </a:prstGeom>
          <a:noFill/>
          <a:ln/>
        </p:spPr>
        <p:txBody>
          <a:bodyPr wrap="square" lIns="0" tIns="0" rIns="0" bIns="0" rtlCol="0" anchor="ctr"/>
          <a:lstStyle/>
          <a:p>
            <a:pPr marL="0" indent="0">
              <a:buNone/>
            </a:pPr>
            <a:r>
              <a:rPr lang="en-US" sz="950" dirty="0">
                <a:solidFill>
                  <a:srgbClr val="F0F4F8"/>
                </a:solidFill>
                <a:latin typeface="Calibri" pitchFamily="34" charset="0"/>
                <a:ea typeface="Calibri" pitchFamily="34" charset="-122"/>
                <a:cs typeface="Calibri" pitchFamily="34" charset="-120"/>
              </a:rPr>
              <a:t>Preflop</a:t>
            </a:r>
            <a:endParaRPr lang="en-US" sz="950" dirty="0"/>
          </a:p>
        </p:txBody>
      </p:sp>
      <p:sp>
        <p:nvSpPr>
          <p:cNvPr id="31" name="Text 6">
            <a:extLst>
              <a:ext uri="{FF2B5EF4-FFF2-40B4-BE49-F238E27FC236}">
                <a16:creationId xmlns:a16="http://schemas.microsoft.com/office/drawing/2014/main" id="{1A4B22CB-601B-FC4A-0DCB-7A606BD50986}"/>
              </a:ext>
            </a:extLst>
          </p:cNvPr>
          <p:cNvSpPr/>
          <p:nvPr/>
        </p:nvSpPr>
        <p:spPr>
          <a:xfrm>
            <a:off x="4272485" y="2900877"/>
            <a:ext cx="690469" cy="182880"/>
          </a:xfrm>
          <a:prstGeom prst="rect">
            <a:avLst/>
          </a:prstGeom>
          <a:noFill/>
          <a:ln/>
        </p:spPr>
        <p:txBody>
          <a:bodyPr wrap="square" lIns="0" tIns="0" rIns="0" bIns="0" rtlCol="0" anchor="ctr"/>
          <a:lstStyle/>
          <a:p>
            <a:pPr marL="0" indent="0">
              <a:buNone/>
            </a:pPr>
            <a:r>
              <a:rPr lang="en-US" sz="950" dirty="0">
                <a:solidFill>
                  <a:srgbClr val="F0F4F8"/>
                </a:solidFill>
                <a:latin typeface="Calibri" pitchFamily="34" charset="0"/>
                <a:ea typeface="Calibri" pitchFamily="34" charset="-122"/>
                <a:cs typeface="Calibri" pitchFamily="34" charset="-120"/>
              </a:rPr>
              <a:t>Post Flop</a:t>
            </a:r>
            <a:endParaRPr lang="en-US" sz="950" dirty="0"/>
          </a:p>
        </p:txBody>
      </p:sp>
      <p:sp>
        <p:nvSpPr>
          <p:cNvPr id="32" name="Text 6">
            <a:extLst>
              <a:ext uri="{FF2B5EF4-FFF2-40B4-BE49-F238E27FC236}">
                <a16:creationId xmlns:a16="http://schemas.microsoft.com/office/drawing/2014/main" id="{9FF1C041-EC67-9FF2-547D-A4D076DB2160}"/>
              </a:ext>
            </a:extLst>
          </p:cNvPr>
          <p:cNvSpPr/>
          <p:nvPr/>
        </p:nvSpPr>
        <p:spPr>
          <a:xfrm>
            <a:off x="7164977" y="2915689"/>
            <a:ext cx="1161643" cy="182880"/>
          </a:xfrm>
          <a:prstGeom prst="rect">
            <a:avLst/>
          </a:prstGeom>
          <a:noFill/>
          <a:ln/>
        </p:spPr>
        <p:txBody>
          <a:bodyPr wrap="square" lIns="0" tIns="0" rIns="0" bIns="0" rtlCol="0" anchor="ctr"/>
          <a:lstStyle/>
          <a:p>
            <a:pPr marL="0" indent="0">
              <a:buNone/>
            </a:pPr>
            <a:r>
              <a:rPr lang="en-US" sz="950" dirty="0">
                <a:solidFill>
                  <a:srgbClr val="F0F4F8"/>
                </a:solidFill>
                <a:latin typeface="Calibri" pitchFamily="34" charset="0"/>
                <a:ea typeface="Calibri" pitchFamily="34" charset="-122"/>
                <a:cs typeface="Calibri" pitchFamily="34" charset="-120"/>
              </a:rPr>
              <a:t>Pot commitment logic</a:t>
            </a:r>
            <a:endParaRPr lang="en-US" sz="950" dirty="0"/>
          </a:p>
        </p:txBody>
      </p:sp>
      <p:graphicFrame>
        <p:nvGraphicFramePr>
          <p:cNvPr id="19" name="Table 18">
            <a:extLst>
              <a:ext uri="{FF2B5EF4-FFF2-40B4-BE49-F238E27FC236}">
                <a16:creationId xmlns:a16="http://schemas.microsoft.com/office/drawing/2014/main" id="{AAB0CEAD-FD05-E4F2-F03A-50F073F09702}"/>
              </a:ext>
            </a:extLst>
          </p:cNvPr>
          <p:cNvGraphicFramePr>
            <a:graphicFrameLocks noGrp="1"/>
          </p:cNvGraphicFramePr>
          <p:nvPr>
            <p:extLst>
              <p:ext uri="{D42A27DB-BD31-4B8C-83A1-F6EECF244321}">
                <p14:modId xmlns:p14="http://schemas.microsoft.com/office/powerpoint/2010/main" val="2854288615"/>
              </p:ext>
            </p:extLst>
          </p:nvPr>
        </p:nvGraphicFramePr>
        <p:xfrm>
          <a:off x="6226193" y="843084"/>
          <a:ext cx="2715769" cy="2042160"/>
        </p:xfrm>
        <a:graphic>
          <a:graphicData uri="http://schemas.openxmlformats.org/drawingml/2006/table">
            <a:tbl>
              <a:tblPr/>
              <a:tblGrid>
                <a:gridCol w="1018413">
                  <a:extLst>
                    <a:ext uri="{9D8B030D-6E8A-4147-A177-3AD203B41FA5}">
                      <a16:colId xmlns:a16="http://schemas.microsoft.com/office/drawing/2014/main" val="2470002103"/>
                    </a:ext>
                  </a:extLst>
                </a:gridCol>
                <a:gridCol w="848678">
                  <a:extLst>
                    <a:ext uri="{9D8B030D-6E8A-4147-A177-3AD203B41FA5}">
                      <a16:colId xmlns:a16="http://schemas.microsoft.com/office/drawing/2014/main" val="2431916635"/>
                    </a:ext>
                  </a:extLst>
                </a:gridCol>
                <a:gridCol w="848678">
                  <a:extLst>
                    <a:ext uri="{9D8B030D-6E8A-4147-A177-3AD203B41FA5}">
                      <a16:colId xmlns:a16="http://schemas.microsoft.com/office/drawing/2014/main" val="448048573"/>
                    </a:ext>
                  </a:extLst>
                </a:gridCol>
              </a:tblGrid>
              <a:tr h="172839">
                <a:tc>
                  <a:txBody>
                    <a:bodyPr/>
                    <a:lstStyle/>
                    <a:p>
                      <a:pPr>
                        <a:buNone/>
                      </a:pPr>
                      <a:r>
                        <a:rPr lang="en-US" sz="700">
                          <a:solidFill>
                            <a:schemeClr val="bg1"/>
                          </a:solidFill>
                        </a:rPr>
                        <a:t>Condition</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a:buNone/>
                      </a:pPr>
                      <a:r>
                        <a:rPr lang="en-US" sz="700">
                          <a:solidFill>
                            <a:schemeClr val="bg1"/>
                          </a:solidFill>
                        </a:rPr>
                        <a:t>Equity Floor</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a:buNone/>
                      </a:pPr>
                      <a:r>
                        <a:rPr lang="en-US" sz="700">
                          <a:solidFill>
                            <a:schemeClr val="bg1"/>
                          </a:solidFill>
                        </a:rPr>
                        <a:t>Rationale</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extLst>
                  <a:ext uri="{0D108BD9-81ED-4DB2-BD59-A6C34878D82A}">
                    <a16:rowId xmlns:a16="http://schemas.microsoft.com/office/drawing/2014/main" val="1814107688"/>
                  </a:ext>
                </a:extLst>
              </a:tr>
              <a:tr h="358973">
                <a:tc>
                  <a:txBody>
                    <a:bodyPr/>
                    <a:lstStyle/>
                    <a:p>
                      <a:pPr>
                        <a:buNone/>
                      </a:pPr>
                      <a:r>
                        <a:rPr lang="en-US" sz="700" dirty="0">
                          <a:solidFill>
                            <a:schemeClr val="bg1"/>
                          </a:solidFill>
                        </a:rPr>
                        <a:t>Pot &gt; 700 or projected</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a:solidFill>
                            <a:schemeClr val="bg1"/>
                          </a:solidFill>
                        </a:rPr>
                        <a:t>54% (or pot odds, whichever higher)</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a:solidFill>
                            <a:schemeClr val="bg1"/>
                          </a:solidFill>
                        </a:rPr>
                        <a:t>Base commitment threshold in large pots</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121288025"/>
                  </a:ext>
                </a:extLst>
              </a:tr>
              <a:tr h="265906">
                <a:tc>
                  <a:txBody>
                    <a:bodyPr/>
                    <a:lstStyle/>
                    <a:p>
                      <a:pPr>
                        <a:buNone/>
                      </a:pPr>
                      <a:r>
                        <a:rPr lang="en-US" sz="700">
                          <a:solidFill>
                            <a:schemeClr val="bg1"/>
                          </a:solidFill>
                        </a:rPr>
                        <a:t>Already committed &gt;22%</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dirty="0">
                          <a:solidFill>
                            <a:schemeClr val="bg1"/>
                          </a:solidFill>
                        </a:rPr>
                        <a:t>Just pot odds</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a:solidFill>
                            <a:schemeClr val="bg1"/>
                          </a:solidFill>
                        </a:rPr>
                        <a:t>Cheap to call</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306730846"/>
                  </a:ext>
                </a:extLst>
              </a:tr>
              <a:tr h="358973">
                <a:tc>
                  <a:txBody>
                    <a:bodyPr/>
                    <a:lstStyle/>
                    <a:p>
                      <a:pPr>
                        <a:buNone/>
                      </a:pPr>
                      <a:r>
                        <a:rPr lang="en-US" sz="700">
                          <a:solidFill>
                            <a:schemeClr val="bg1"/>
                          </a:solidFill>
                        </a:rPr>
                        <a:t>SPR &lt; 1.5 and bet &gt; 50%</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a:solidFill>
                            <a:schemeClr val="bg1"/>
                          </a:solidFill>
                        </a:rPr>
                        <a:t>&lt; 38% (or pot odds)</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dirty="0">
                          <a:solidFill>
                            <a:schemeClr val="bg1"/>
                          </a:solidFill>
                        </a:rPr>
                        <a:t>Near stack-off = lower bar to continue</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2754092801"/>
                  </a:ext>
                </a:extLst>
              </a:tr>
              <a:tr h="265906">
                <a:tc>
                  <a:txBody>
                    <a:bodyPr/>
                    <a:lstStyle/>
                    <a:p>
                      <a:pPr>
                        <a:buNone/>
                      </a:pPr>
                      <a:r>
                        <a:rPr lang="en-US" sz="700">
                          <a:solidFill>
                            <a:schemeClr val="bg1"/>
                          </a:solidFill>
                        </a:rPr>
                        <a:t>Already committed &gt;55%</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a:solidFill>
                            <a:schemeClr val="bg1"/>
                          </a:solidFill>
                        </a:rPr>
                        <a:t>28% (or pot odds)</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a:solidFill>
                            <a:schemeClr val="bg1"/>
                          </a:solidFill>
                        </a:rPr>
                        <a:t>Almost all-in anyway, call</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755907074"/>
                  </a:ext>
                </a:extLst>
              </a:tr>
              <a:tr h="358973">
                <a:tc>
                  <a:txBody>
                    <a:bodyPr/>
                    <a:lstStyle/>
                    <a:p>
                      <a:pPr>
                        <a:buNone/>
                      </a:pPr>
                      <a:r>
                        <a:rPr lang="en-US" sz="700">
                          <a:solidFill>
                            <a:schemeClr val="bg1"/>
                          </a:solidFill>
                        </a:rPr>
                        <a:t>Paired board + large bet (&gt;38%)</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dirty="0">
                          <a:solidFill>
                            <a:schemeClr val="bg1"/>
                          </a:solidFill>
                        </a:rPr>
                        <a:t>60% minimum</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dirty="0">
                          <a:solidFill>
                            <a:schemeClr val="bg1"/>
                          </a:solidFill>
                        </a:rPr>
                        <a:t>Paired boards inflate opponent trips</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3531527470"/>
                  </a:ext>
                </a:extLst>
              </a:tr>
            </a:tbl>
          </a:graphicData>
        </a:graphic>
      </p:graphicFrame>
      <p:pic>
        <p:nvPicPr>
          <p:cNvPr id="30" name="Picture 29">
            <a:extLst>
              <a:ext uri="{FF2B5EF4-FFF2-40B4-BE49-F238E27FC236}">
                <a16:creationId xmlns:a16="http://schemas.microsoft.com/office/drawing/2014/main" id="{9A92305F-4605-C9C7-E4C6-0E9335CE1BDC}"/>
              </a:ext>
            </a:extLst>
          </p:cNvPr>
          <p:cNvPicPr>
            <a:picLocks noChangeAspect="1"/>
          </p:cNvPicPr>
          <p:nvPr/>
        </p:nvPicPr>
        <p:blipFill>
          <a:blip r:embed="rId4"/>
          <a:stretch>
            <a:fillRect/>
          </a:stretch>
        </p:blipFill>
        <p:spPr>
          <a:xfrm>
            <a:off x="2948488" y="1085371"/>
            <a:ext cx="3194491" cy="17506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35983279-FE52-172C-A745-6081C00A2E37}"/>
              </a:ext>
            </a:extLst>
          </p:cNvPr>
          <p:cNvSpPr/>
          <p:nvPr/>
        </p:nvSpPr>
        <p:spPr>
          <a:xfrm>
            <a:off x="0" y="164592"/>
            <a:ext cx="9144000" cy="640080"/>
          </a:xfrm>
          <a:prstGeom prst="rect">
            <a:avLst/>
          </a:prstGeom>
          <a:solidFill>
            <a:srgbClr val="1B2A3B"/>
          </a:solidFill>
          <a:ln w="12700">
            <a:solidFill>
              <a:srgbClr val="1B2A3B"/>
            </a:solidFill>
            <a:prstDash val="solid"/>
          </a:ln>
        </p:spPr>
        <p:txBody>
          <a:bodyPr/>
          <a:lstStyle/>
          <a:p>
            <a:endParaRPr lang="en-IN"/>
          </a:p>
        </p:txBody>
      </p:sp>
      <p:sp>
        <p:nvSpPr>
          <p:cNvPr id="3" name="Text 2">
            <a:extLst>
              <a:ext uri="{FF2B5EF4-FFF2-40B4-BE49-F238E27FC236}">
                <a16:creationId xmlns:a16="http://schemas.microsoft.com/office/drawing/2014/main" id="{6CEE8490-4118-AB62-55F8-F6B734A50BDA}"/>
              </a:ext>
            </a:extLst>
          </p:cNvPr>
          <p:cNvSpPr/>
          <p:nvPr/>
        </p:nvSpPr>
        <p:spPr>
          <a:xfrm>
            <a:off x="594360" y="164592"/>
            <a:ext cx="8229600" cy="640080"/>
          </a:xfrm>
          <a:prstGeom prst="rect">
            <a:avLst/>
          </a:prstGeom>
          <a:noFill/>
          <a:ln/>
        </p:spPr>
        <p:txBody>
          <a:bodyPr wrap="square" lIns="0" tIns="0" rIns="0" bIns="0" rtlCol="0" anchor="ctr"/>
          <a:lstStyle/>
          <a:p>
            <a:pPr marL="0" indent="0">
              <a:buNone/>
            </a:pPr>
            <a:r>
              <a:rPr lang="en-US" sz="2800" b="1" dirty="0">
                <a:solidFill>
                  <a:srgbClr val="E8ECF1"/>
                </a:solidFill>
                <a:latin typeface="Calibri" pitchFamily="34" charset="0"/>
                <a:ea typeface="Calibri" pitchFamily="34" charset="-122"/>
                <a:cs typeface="Calibri" pitchFamily="34" charset="-120"/>
              </a:rPr>
              <a:t>Auction Optimizer - From Naive to Data-Driven</a:t>
            </a:r>
            <a:endParaRPr lang="en-US" sz="2800" dirty="0"/>
          </a:p>
        </p:txBody>
      </p:sp>
      <p:sp>
        <p:nvSpPr>
          <p:cNvPr id="4" name="Shape 1">
            <a:extLst>
              <a:ext uri="{FF2B5EF4-FFF2-40B4-BE49-F238E27FC236}">
                <a16:creationId xmlns:a16="http://schemas.microsoft.com/office/drawing/2014/main" id="{EE94AFCE-FDA7-394F-CC33-6A9DCCFA8412}"/>
              </a:ext>
            </a:extLst>
          </p:cNvPr>
          <p:cNvSpPr/>
          <p:nvPr/>
        </p:nvSpPr>
        <p:spPr>
          <a:xfrm>
            <a:off x="411480" y="201168"/>
            <a:ext cx="54864" cy="566928"/>
          </a:xfrm>
          <a:prstGeom prst="rect">
            <a:avLst/>
          </a:prstGeom>
          <a:solidFill>
            <a:srgbClr val="E8A838"/>
          </a:solidFill>
          <a:ln/>
        </p:spPr>
      </p:sp>
      <p:sp>
        <p:nvSpPr>
          <p:cNvPr id="8" name="Text 5"/>
          <p:cNvSpPr/>
          <p:nvPr/>
        </p:nvSpPr>
        <p:spPr>
          <a:xfrm>
            <a:off x="275781" y="3634947"/>
            <a:ext cx="3017520" cy="320040"/>
          </a:xfrm>
          <a:prstGeom prst="rect">
            <a:avLst/>
          </a:prstGeom>
          <a:solidFill>
            <a:srgbClr val="162029"/>
          </a:solidFill>
          <a:ln/>
        </p:spPr>
        <p:txBody>
          <a:bodyPr wrap="square" lIns="50800" tIns="50800" rIns="50800" bIns="50800" rtlCol="0" anchor="ctr"/>
          <a:lstStyle/>
          <a:p>
            <a:pPr marL="0" indent="0">
              <a:buNone/>
            </a:pPr>
            <a:r>
              <a:rPr lang="en-US" sz="1100" dirty="0">
                <a:solidFill>
                  <a:srgbClr val="E8A838"/>
                </a:solidFill>
                <a:latin typeface="Consolas" pitchFamily="34" charset="0"/>
                <a:ea typeface="Consolas" pitchFamily="34" charset="-122"/>
                <a:cs typeface="Consolas" pitchFamily="34" charset="-120"/>
              </a:rPr>
              <a:t>total_pot = 2.43 × preflop_pot + 93.4</a:t>
            </a:r>
            <a:endParaRPr lang="en-US" sz="1100" dirty="0"/>
          </a:p>
        </p:txBody>
      </p:sp>
      <p:sp>
        <p:nvSpPr>
          <p:cNvPr id="9" name="Text 6"/>
          <p:cNvSpPr/>
          <p:nvPr/>
        </p:nvSpPr>
        <p:spPr>
          <a:xfrm>
            <a:off x="629784" y="4060216"/>
            <a:ext cx="2309513" cy="228600"/>
          </a:xfrm>
          <a:prstGeom prst="rect">
            <a:avLst/>
          </a:prstGeom>
          <a:noFill/>
          <a:ln/>
        </p:spPr>
        <p:txBody>
          <a:bodyPr wrap="square" lIns="0" tIns="0" rIns="0" bIns="0" rtlCol="0" anchor="ctr"/>
          <a:lstStyle/>
          <a:p>
            <a:pPr marL="0" indent="0">
              <a:buNone/>
            </a:pPr>
            <a:r>
              <a:rPr lang="en-US" sz="950" dirty="0">
                <a:solidFill>
                  <a:srgbClr val="8899AA"/>
                </a:solidFill>
                <a:latin typeface="Calibri" pitchFamily="34" charset="0"/>
                <a:ea typeface="Calibri" pitchFamily="34" charset="-122"/>
                <a:cs typeface="Calibri" pitchFamily="34" charset="-120"/>
              </a:rPr>
              <a:t>R² = 0.674   |   Median |error| = 65 chips</a:t>
            </a:r>
            <a:endParaRPr lang="en-US" sz="950" dirty="0"/>
          </a:p>
        </p:txBody>
      </p:sp>
      <p:sp>
        <p:nvSpPr>
          <p:cNvPr id="24" name="Text 8">
            <a:extLst>
              <a:ext uri="{FF2B5EF4-FFF2-40B4-BE49-F238E27FC236}">
                <a16:creationId xmlns:a16="http://schemas.microsoft.com/office/drawing/2014/main" id="{8E5979B9-62E5-DF35-FB30-83BAE1FEF018}"/>
              </a:ext>
            </a:extLst>
          </p:cNvPr>
          <p:cNvSpPr/>
          <p:nvPr/>
        </p:nvSpPr>
        <p:spPr>
          <a:xfrm>
            <a:off x="205159" y="4460598"/>
            <a:ext cx="3098506" cy="481007"/>
          </a:xfrm>
          <a:prstGeom prst="rect">
            <a:avLst/>
          </a:prstGeom>
          <a:noFill/>
          <a:ln/>
        </p:spPr>
        <p:txBody>
          <a:bodyPr wrap="square" lIns="0" tIns="0" rIns="0" bIns="0" rtlCol="0" anchor="ctr"/>
          <a:lstStyle/>
          <a:p>
            <a:pPr marL="0" indent="0">
              <a:buNone/>
            </a:pPr>
            <a:r>
              <a:rPr lang="en-US" sz="800" b="1" dirty="0">
                <a:solidFill>
                  <a:srgbClr val="E8A838"/>
                </a:solidFill>
                <a:latin typeface="Calibri" pitchFamily="34" charset="0"/>
                <a:ea typeface="Calibri" pitchFamily="34" charset="-122"/>
                <a:cs typeface="Calibri" pitchFamily="34" charset="-120"/>
              </a:rPr>
              <a:t>Why this matters: </a:t>
            </a:r>
            <a:r>
              <a:rPr lang="en-US" sz="800" dirty="0">
                <a:solidFill>
                  <a:srgbClr val="8899AA"/>
                </a:solidFill>
                <a:latin typeface="Calibri" pitchFamily="34" charset="0"/>
                <a:ea typeface="Calibri" pitchFamily="34" charset="-122"/>
                <a:cs typeface="Calibri" pitchFamily="34" charset="-120"/>
              </a:rPr>
              <a:t>A naive bid of 50 chips is ~26% of exp_pot when pot=40 but only ~5% when pot=400. Our bid must scale with expected pot to avoid systematic overbidding on small pots and underbidding on large ones. We approximated the fit to </a:t>
            </a:r>
            <a:r>
              <a:rPr lang="en-US" sz="800" b="1" dirty="0">
                <a:solidFill>
                  <a:srgbClr val="56CCF2"/>
                </a:solidFill>
                <a:latin typeface="Calibri" pitchFamily="34" charset="0"/>
                <a:ea typeface="Calibri" pitchFamily="34" charset="-122"/>
                <a:cs typeface="Calibri" pitchFamily="34" charset="-120"/>
              </a:rPr>
              <a:t>exp_pot = 2.5 × pot + 100</a:t>
            </a:r>
            <a:r>
              <a:rPr lang="en-US" sz="800" dirty="0">
                <a:solidFill>
                  <a:srgbClr val="8899AA"/>
                </a:solidFill>
                <a:latin typeface="Calibri" pitchFamily="34" charset="0"/>
                <a:ea typeface="Calibri" pitchFamily="34" charset="-122"/>
                <a:cs typeface="Calibri" pitchFamily="34" charset="-120"/>
              </a:rPr>
              <a:t> for code simplicity.</a:t>
            </a:r>
            <a:endParaRPr lang="en-US" sz="800" dirty="0"/>
          </a:p>
        </p:txBody>
      </p:sp>
      <p:pic>
        <p:nvPicPr>
          <p:cNvPr id="25" name="Image 0" descr="/home/claude/img_kmeans.png"/>
          <p:cNvPicPr>
            <a:picLocks noChangeAspect="1"/>
          </p:cNvPicPr>
          <p:nvPr/>
        </p:nvPicPr>
        <p:blipFill>
          <a:blip r:embed="rId2"/>
          <a:stretch>
            <a:fillRect/>
          </a:stretch>
        </p:blipFill>
        <p:spPr>
          <a:xfrm>
            <a:off x="3154376" y="1290098"/>
            <a:ext cx="3281090" cy="1579677"/>
          </a:xfrm>
          <a:prstGeom prst="rect">
            <a:avLst/>
          </a:prstGeom>
        </p:spPr>
      </p:pic>
      <p:sp>
        <p:nvSpPr>
          <p:cNvPr id="27" name="Text 6"/>
          <p:cNvSpPr/>
          <p:nvPr/>
        </p:nvSpPr>
        <p:spPr>
          <a:xfrm>
            <a:off x="3413832" y="4358201"/>
            <a:ext cx="2784553" cy="685800"/>
          </a:xfrm>
          <a:prstGeom prst="rect">
            <a:avLst/>
          </a:prstGeom>
          <a:noFill/>
          <a:ln/>
        </p:spPr>
        <p:txBody>
          <a:bodyPr wrap="square" lIns="0" tIns="0" rIns="0" bIns="0" rtlCol="0" anchor="ctr"/>
          <a:lstStyle/>
          <a:p>
            <a:pPr marL="0" indent="0">
              <a:buNone/>
            </a:pPr>
            <a:r>
              <a:rPr lang="en-US" sz="800" b="1" dirty="0">
                <a:solidFill>
                  <a:srgbClr val="E8A838"/>
                </a:solidFill>
                <a:latin typeface="Calibri" pitchFamily="34" charset="0"/>
                <a:ea typeface="Calibri" pitchFamily="34" charset="-122"/>
                <a:cs typeface="Calibri" pitchFamily="34" charset="-120"/>
              </a:rPr>
              <a:t>Why k-means? </a:t>
            </a:r>
            <a:r>
              <a:rPr lang="en-US" sz="800" dirty="0">
                <a:solidFill>
                  <a:srgbClr val="8899AA"/>
                </a:solidFill>
                <a:latin typeface="Calibri" pitchFamily="34" charset="0"/>
                <a:ea typeface="Calibri" pitchFamily="34" charset="-122"/>
                <a:cs typeface="Calibri" pitchFamily="34" charset="-120"/>
              </a:rPr>
              <a:t>Uniform x-axis splits (e.g. 0.20 buckets) put most hands in 1-2 tiers. 1-D k-means clusters by density - placing tier boundaries where equity values naturally separate. This gives finer granularity in the crowded 0.35–0.55 zone where most flop equities land, and coarser bins at the extremes where hands are rare.</a:t>
            </a:r>
            <a:endParaRPr lang="en-US" sz="800" dirty="0"/>
          </a:p>
        </p:txBody>
      </p:sp>
      <p:sp>
        <p:nvSpPr>
          <p:cNvPr id="30" name="Text 2">
            <a:extLst>
              <a:ext uri="{FF2B5EF4-FFF2-40B4-BE49-F238E27FC236}">
                <a16:creationId xmlns:a16="http://schemas.microsoft.com/office/drawing/2014/main" id="{F8B214F4-8AF6-2DBC-50E6-4E436D052FFF}"/>
              </a:ext>
            </a:extLst>
          </p:cNvPr>
          <p:cNvSpPr/>
          <p:nvPr/>
        </p:nvSpPr>
        <p:spPr>
          <a:xfrm>
            <a:off x="594360" y="3184612"/>
            <a:ext cx="2683798" cy="306614"/>
          </a:xfrm>
          <a:prstGeom prst="rect">
            <a:avLst/>
          </a:prstGeom>
          <a:noFill/>
          <a:ln/>
        </p:spPr>
        <p:txBody>
          <a:bodyPr wrap="square" lIns="0" tIns="0" rIns="0" bIns="0" rtlCol="0" anchor="ctr"/>
          <a:lstStyle/>
          <a:p>
            <a:pPr marL="0" indent="0">
              <a:buNone/>
            </a:pPr>
            <a:r>
              <a:rPr lang="en-US" sz="1200" b="1" dirty="0">
                <a:solidFill>
                  <a:srgbClr val="E8ECF1"/>
                </a:solidFill>
                <a:latin typeface="Calibri" pitchFamily="34" charset="0"/>
                <a:ea typeface="Calibri" pitchFamily="34" charset="-122"/>
                <a:cs typeface="Calibri" pitchFamily="34" charset="-120"/>
              </a:rPr>
              <a:t>Step 1: Expected Pot Estimation</a:t>
            </a:r>
            <a:endParaRPr lang="en-US" sz="1200" dirty="0"/>
          </a:p>
        </p:txBody>
      </p:sp>
      <p:pic>
        <p:nvPicPr>
          <p:cNvPr id="32" name="Picture 31">
            <a:extLst>
              <a:ext uri="{FF2B5EF4-FFF2-40B4-BE49-F238E27FC236}">
                <a16:creationId xmlns:a16="http://schemas.microsoft.com/office/drawing/2014/main" id="{068BC201-6AF4-F2EC-C47B-B2DA2E6E3CE4}"/>
              </a:ext>
            </a:extLst>
          </p:cNvPr>
          <p:cNvPicPr>
            <a:picLocks noChangeAspect="1"/>
          </p:cNvPicPr>
          <p:nvPr/>
        </p:nvPicPr>
        <p:blipFill>
          <a:blip r:embed="rId3"/>
          <a:stretch>
            <a:fillRect/>
          </a:stretch>
        </p:blipFill>
        <p:spPr>
          <a:xfrm>
            <a:off x="6563301" y="1241338"/>
            <a:ext cx="2505007" cy="1643550"/>
          </a:xfrm>
          <a:prstGeom prst="rect">
            <a:avLst/>
          </a:prstGeom>
        </p:spPr>
      </p:pic>
      <p:sp>
        <p:nvSpPr>
          <p:cNvPr id="33" name="Text 6">
            <a:extLst>
              <a:ext uri="{FF2B5EF4-FFF2-40B4-BE49-F238E27FC236}">
                <a16:creationId xmlns:a16="http://schemas.microsoft.com/office/drawing/2014/main" id="{DDB99E39-15E7-CFDB-908E-BF239F3CB1AC}"/>
              </a:ext>
            </a:extLst>
          </p:cNvPr>
          <p:cNvSpPr/>
          <p:nvPr/>
        </p:nvSpPr>
        <p:spPr>
          <a:xfrm>
            <a:off x="6514487" y="4378008"/>
            <a:ext cx="2505006" cy="685800"/>
          </a:xfrm>
          <a:prstGeom prst="rect">
            <a:avLst/>
          </a:prstGeom>
          <a:noFill/>
          <a:ln/>
        </p:spPr>
        <p:txBody>
          <a:bodyPr wrap="square" lIns="0" tIns="0" rIns="0" bIns="0" rtlCol="0" anchor="ctr"/>
          <a:lstStyle/>
          <a:p>
            <a:r>
              <a:rPr lang="en-US" sz="800" b="1" dirty="0">
                <a:solidFill>
                  <a:srgbClr val="E8A838"/>
                </a:solidFill>
                <a:latin typeface="Calibri" pitchFamily="34" charset="0"/>
                <a:ea typeface="Calibri" pitchFamily="34" charset="-122"/>
                <a:cs typeface="Calibri" pitchFamily="34" charset="-120"/>
              </a:rPr>
              <a:t>Key insight</a:t>
            </a:r>
            <a:r>
              <a:rPr lang="en-US" sz="800" b="1" dirty="0">
                <a:solidFill>
                  <a:schemeClr val="bg1">
                    <a:lumMod val="65000"/>
                  </a:schemeClr>
                </a:solidFill>
                <a:latin typeface="Calibri" pitchFamily="34" charset="0"/>
                <a:ea typeface="Calibri" pitchFamily="34" charset="-122"/>
                <a:cs typeface="Calibri" pitchFamily="34" charset="-120"/>
              </a:rPr>
              <a:t>: </a:t>
            </a:r>
            <a:r>
              <a:rPr lang="en-US" sz="800" dirty="0">
                <a:solidFill>
                  <a:schemeClr val="bg1">
                    <a:lumMod val="65000"/>
                  </a:schemeClr>
                </a:solidFill>
              </a:rPr>
              <a:t>Off-base is the average chip value gained from auction information for a given equity tier, estimated via Monte Carlo (5000) simulations and scaled by expected pot size. Def-base is the defensive value of winning the auction, i.e., denying the opponent access to your card information.</a:t>
            </a:r>
          </a:p>
        </p:txBody>
      </p:sp>
      <p:graphicFrame>
        <p:nvGraphicFramePr>
          <p:cNvPr id="35" name="Table 34">
            <a:extLst>
              <a:ext uri="{FF2B5EF4-FFF2-40B4-BE49-F238E27FC236}">
                <a16:creationId xmlns:a16="http://schemas.microsoft.com/office/drawing/2014/main" id="{A480C7B7-73F8-3E06-EF00-18D09B933BC3}"/>
              </a:ext>
            </a:extLst>
          </p:cNvPr>
          <p:cNvGraphicFramePr>
            <a:graphicFrameLocks noGrp="1"/>
          </p:cNvGraphicFramePr>
          <p:nvPr>
            <p:extLst>
              <p:ext uri="{D42A27DB-BD31-4B8C-83A1-F6EECF244321}">
                <p14:modId xmlns:p14="http://schemas.microsoft.com/office/powerpoint/2010/main" val="3201849723"/>
              </p:ext>
            </p:extLst>
          </p:nvPr>
        </p:nvGraphicFramePr>
        <p:xfrm>
          <a:off x="3413832" y="3492437"/>
          <a:ext cx="2650809" cy="502920"/>
        </p:xfrm>
        <a:graphic>
          <a:graphicData uri="http://schemas.openxmlformats.org/drawingml/2006/table">
            <a:tbl>
              <a:tblPr/>
              <a:tblGrid>
                <a:gridCol w="611725">
                  <a:extLst>
                    <a:ext uri="{9D8B030D-6E8A-4147-A177-3AD203B41FA5}">
                      <a16:colId xmlns:a16="http://schemas.microsoft.com/office/drawing/2014/main" val="3837900826"/>
                    </a:ext>
                  </a:extLst>
                </a:gridCol>
                <a:gridCol w="509771">
                  <a:extLst>
                    <a:ext uri="{9D8B030D-6E8A-4147-A177-3AD203B41FA5}">
                      <a16:colId xmlns:a16="http://schemas.microsoft.com/office/drawing/2014/main" val="1379513190"/>
                    </a:ext>
                  </a:extLst>
                </a:gridCol>
                <a:gridCol w="509771">
                  <a:extLst>
                    <a:ext uri="{9D8B030D-6E8A-4147-A177-3AD203B41FA5}">
                      <a16:colId xmlns:a16="http://schemas.microsoft.com/office/drawing/2014/main" val="1544889150"/>
                    </a:ext>
                  </a:extLst>
                </a:gridCol>
                <a:gridCol w="509771">
                  <a:extLst>
                    <a:ext uri="{9D8B030D-6E8A-4147-A177-3AD203B41FA5}">
                      <a16:colId xmlns:a16="http://schemas.microsoft.com/office/drawing/2014/main" val="2865391848"/>
                    </a:ext>
                  </a:extLst>
                </a:gridCol>
                <a:gridCol w="509771">
                  <a:extLst>
                    <a:ext uri="{9D8B030D-6E8A-4147-A177-3AD203B41FA5}">
                      <a16:colId xmlns:a16="http://schemas.microsoft.com/office/drawing/2014/main" val="13004489"/>
                    </a:ext>
                  </a:extLst>
                </a:gridCol>
              </a:tblGrid>
              <a:tr h="156309">
                <a:tc>
                  <a:txBody>
                    <a:bodyPr/>
                    <a:lstStyle/>
                    <a:p>
                      <a:pPr>
                        <a:buNone/>
                      </a:pPr>
                      <a:r>
                        <a:rPr lang="en-US" sz="700" dirty="0">
                          <a:solidFill>
                            <a:schemeClr val="bg1"/>
                          </a:solidFill>
                        </a:rPr>
                        <a:t>T4 (Top)</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a:buNone/>
                      </a:pPr>
                      <a:r>
                        <a:rPr lang="en-US" sz="700" dirty="0">
                          <a:solidFill>
                            <a:schemeClr val="bg1"/>
                          </a:solidFill>
                        </a:rPr>
                        <a:t>T3</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a:buNone/>
                      </a:pPr>
                      <a:r>
                        <a:rPr lang="en-US" sz="700">
                          <a:solidFill>
                            <a:schemeClr val="bg1"/>
                          </a:solidFill>
                        </a:rPr>
                        <a:t>T2</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a:buNone/>
                      </a:pPr>
                      <a:r>
                        <a:rPr lang="en-US" sz="700">
                          <a:solidFill>
                            <a:schemeClr val="bg1"/>
                          </a:solidFill>
                        </a:rPr>
                        <a:t>T1</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a:buNone/>
                      </a:pPr>
                      <a:r>
                        <a:rPr lang="en-US" sz="700" dirty="0">
                          <a:solidFill>
                            <a:schemeClr val="bg1"/>
                          </a:solidFill>
                        </a:rPr>
                        <a:t>T0 (Low)</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extLst>
                  <a:ext uri="{0D108BD9-81ED-4DB2-BD59-A6C34878D82A}">
                    <a16:rowId xmlns:a16="http://schemas.microsoft.com/office/drawing/2014/main" val="2100931116"/>
                  </a:ext>
                </a:extLst>
              </a:tr>
              <a:tr h="135963">
                <a:tc>
                  <a:txBody>
                    <a:bodyPr/>
                    <a:lstStyle/>
                    <a:p>
                      <a:pPr>
                        <a:buNone/>
                      </a:pPr>
                      <a:r>
                        <a:rPr lang="en-US" sz="700" dirty="0">
                          <a:solidFill>
                            <a:schemeClr val="bg1"/>
                          </a:solidFill>
                        </a:rPr>
                        <a:t>0.72</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dirty="0">
                          <a:solidFill>
                            <a:schemeClr val="bg1"/>
                          </a:solidFill>
                        </a:rPr>
                        <a:t>0.56–0.72</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dirty="0">
                          <a:solidFill>
                            <a:schemeClr val="bg1"/>
                          </a:solidFill>
                        </a:rPr>
                        <a:t>0.42–0.56</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dirty="0">
                          <a:solidFill>
                            <a:schemeClr val="bg1"/>
                          </a:solidFill>
                        </a:rPr>
                        <a:t>0.33–0.42</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dirty="0">
                          <a:solidFill>
                            <a:schemeClr val="bg1"/>
                          </a:solidFill>
                        </a:rPr>
                        <a:t>≤ 0.33</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434271576"/>
                  </a:ext>
                </a:extLst>
              </a:tr>
            </a:tbl>
          </a:graphicData>
        </a:graphic>
      </p:graphicFrame>
      <p:pic>
        <p:nvPicPr>
          <p:cNvPr id="37" name="Picture 36">
            <a:extLst>
              <a:ext uri="{FF2B5EF4-FFF2-40B4-BE49-F238E27FC236}">
                <a16:creationId xmlns:a16="http://schemas.microsoft.com/office/drawing/2014/main" id="{968ABCF3-B33D-8E90-5BF0-C50FCA34E6F5}"/>
              </a:ext>
            </a:extLst>
          </p:cNvPr>
          <p:cNvPicPr>
            <a:picLocks noChangeAspect="1"/>
          </p:cNvPicPr>
          <p:nvPr/>
        </p:nvPicPr>
        <p:blipFill>
          <a:blip r:embed="rId4"/>
          <a:stretch>
            <a:fillRect/>
          </a:stretch>
        </p:blipFill>
        <p:spPr>
          <a:xfrm>
            <a:off x="335282" y="1211318"/>
            <a:ext cx="2691259" cy="1864189"/>
          </a:xfrm>
          <a:prstGeom prst="rect">
            <a:avLst/>
          </a:prstGeom>
        </p:spPr>
      </p:pic>
      <p:sp>
        <p:nvSpPr>
          <p:cNvPr id="41" name="Text 3"/>
          <p:cNvSpPr/>
          <p:nvPr/>
        </p:nvSpPr>
        <p:spPr>
          <a:xfrm>
            <a:off x="491541" y="868764"/>
            <a:ext cx="8412480" cy="329184"/>
          </a:xfrm>
          <a:prstGeom prst="rect">
            <a:avLst/>
          </a:prstGeom>
          <a:noFill/>
          <a:ln/>
        </p:spPr>
        <p:txBody>
          <a:bodyPr wrap="square" rtlCol="0" anchor="ctr"/>
          <a:lstStyle/>
          <a:p>
            <a:pPr marL="0" indent="0">
              <a:buNone/>
            </a:pPr>
            <a:r>
              <a:rPr lang="en-US" sz="1200" i="1" dirty="0">
                <a:solidFill>
                  <a:srgbClr val="9DAFC0"/>
                </a:solidFill>
                <a:latin typeface="Calibri" pitchFamily="34" charset="0"/>
                <a:ea typeface="Calibri" pitchFamily="34" charset="-122"/>
                <a:cs typeface="Calibri" pitchFamily="34" charset="-120"/>
              </a:rPr>
              <a:t>The auction is about gaining info AND denying it to the opponent.</a:t>
            </a:r>
            <a:endParaRPr lang="en-US" sz="1200" dirty="0"/>
          </a:p>
        </p:txBody>
      </p:sp>
      <p:graphicFrame>
        <p:nvGraphicFramePr>
          <p:cNvPr id="42" name="Table 41">
            <a:extLst>
              <a:ext uri="{FF2B5EF4-FFF2-40B4-BE49-F238E27FC236}">
                <a16:creationId xmlns:a16="http://schemas.microsoft.com/office/drawing/2014/main" id="{F52A8893-D5B3-98E8-9BDC-63AF37BAEC07}"/>
              </a:ext>
            </a:extLst>
          </p:cNvPr>
          <p:cNvGraphicFramePr>
            <a:graphicFrameLocks noGrp="1"/>
          </p:cNvGraphicFramePr>
          <p:nvPr>
            <p:extLst>
              <p:ext uri="{D42A27DB-BD31-4B8C-83A1-F6EECF244321}">
                <p14:modId xmlns:p14="http://schemas.microsoft.com/office/powerpoint/2010/main" val="1046197333"/>
              </p:ext>
            </p:extLst>
          </p:nvPr>
        </p:nvGraphicFramePr>
        <p:xfrm>
          <a:off x="6514485" y="3260188"/>
          <a:ext cx="2505008" cy="1056894"/>
        </p:xfrm>
        <a:graphic>
          <a:graphicData uri="http://schemas.openxmlformats.org/drawingml/2006/table">
            <a:tbl>
              <a:tblPr/>
              <a:tblGrid>
                <a:gridCol w="1252504">
                  <a:extLst>
                    <a:ext uri="{9D8B030D-6E8A-4147-A177-3AD203B41FA5}">
                      <a16:colId xmlns:a16="http://schemas.microsoft.com/office/drawing/2014/main" val="3105632235"/>
                    </a:ext>
                  </a:extLst>
                </a:gridCol>
                <a:gridCol w="1252504">
                  <a:extLst>
                    <a:ext uri="{9D8B030D-6E8A-4147-A177-3AD203B41FA5}">
                      <a16:colId xmlns:a16="http://schemas.microsoft.com/office/drawing/2014/main" val="243872868"/>
                    </a:ext>
                  </a:extLst>
                </a:gridCol>
              </a:tblGrid>
              <a:tr h="92488">
                <a:tc>
                  <a:txBody>
                    <a:bodyPr/>
                    <a:lstStyle/>
                    <a:p>
                      <a:pPr>
                        <a:buNone/>
                      </a:pPr>
                      <a:r>
                        <a:rPr lang="en-US" sz="400" b="1" dirty="0">
                          <a:solidFill>
                            <a:schemeClr val="bg1"/>
                          </a:solidFill>
                        </a:rPr>
                        <a:t>Variable</a:t>
                      </a:r>
                      <a:endParaRPr lang="en-US" sz="400" dirty="0">
                        <a:solidFill>
                          <a:schemeClr val="bg1"/>
                        </a:solidFill>
                      </a:endParaRP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a:buNone/>
                      </a:pPr>
                      <a:r>
                        <a:rPr lang="en-US" sz="400" b="1" dirty="0">
                          <a:solidFill>
                            <a:schemeClr val="bg1"/>
                          </a:solidFill>
                        </a:rPr>
                        <a:t>Formula</a:t>
                      </a:r>
                      <a:endParaRPr lang="en-US" sz="400" dirty="0">
                        <a:solidFill>
                          <a:schemeClr val="bg1"/>
                        </a:solidFill>
                      </a:endParaRP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extLst>
                  <a:ext uri="{0D108BD9-81ED-4DB2-BD59-A6C34878D82A}">
                    <a16:rowId xmlns:a16="http://schemas.microsoft.com/office/drawing/2014/main" val="3560196745"/>
                  </a:ext>
                </a:extLst>
              </a:tr>
              <a:tr h="92488">
                <a:tc>
                  <a:txBody>
                    <a:bodyPr/>
                    <a:lstStyle/>
                    <a:p>
                      <a:pPr>
                        <a:buNone/>
                      </a:pPr>
                      <a:r>
                        <a:rPr lang="en-US" sz="400" b="1" dirty="0">
                          <a:solidFill>
                            <a:schemeClr val="bg1"/>
                          </a:solidFill>
                        </a:rPr>
                        <a:t>Expected payoff</a:t>
                      </a:r>
                      <a:endParaRPr lang="en-US" sz="400" dirty="0">
                        <a:solidFill>
                          <a:schemeClr val="bg1"/>
                        </a:solidFill>
                      </a:endParaRP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l-GR" sz="400">
                          <a:solidFill>
                            <a:schemeClr val="bg1"/>
                          </a:solidFill>
                        </a:rPr>
                        <a:t>Δ</a:t>
                      </a:r>
                      <a:r>
                        <a:rPr lang="en-US" sz="400">
                          <a:solidFill>
                            <a:schemeClr val="bg1"/>
                          </a:solidFill>
                        </a:rPr>
                        <a:t>eq × exp_pot</a:t>
                      </a: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46748605"/>
                  </a:ext>
                </a:extLst>
              </a:tr>
              <a:tr h="151648">
                <a:tc>
                  <a:txBody>
                    <a:bodyPr/>
                    <a:lstStyle/>
                    <a:p>
                      <a:pPr>
                        <a:buNone/>
                      </a:pPr>
                      <a:r>
                        <a:rPr lang="en-US" sz="400" b="1">
                          <a:solidFill>
                            <a:schemeClr val="bg1"/>
                          </a:solidFill>
                        </a:rPr>
                        <a:t>off_base</a:t>
                      </a:r>
                      <a:endParaRPr lang="en-US" sz="400">
                        <a:solidFill>
                          <a:schemeClr val="bg1"/>
                        </a:solidFill>
                      </a:endParaRP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400">
                          <a:solidFill>
                            <a:schemeClr val="bg1"/>
                          </a:solidFill>
                        </a:rPr>
                        <a:t>mean( |Δeq| × exp_pot ) over rounds where we won auction</a:t>
                      </a: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756942479"/>
                  </a:ext>
                </a:extLst>
              </a:tr>
              <a:tr h="151648">
                <a:tc>
                  <a:txBody>
                    <a:bodyPr/>
                    <a:lstStyle/>
                    <a:p>
                      <a:pPr>
                        <a:buNone/>
                      </a:pPr>
                      <a:r>
                        <a:rPr lang="en-US" sz="400" b="1" dirty="0" err="1">
                          <a:solidFill>
                            <a:schemeClr val="bg1"/>
                          </a:solidFill>
                        </a:rPr>
                        <a:t>emp_delta</a:t>
                      </a:r>
                      <a:endParaRPr lang="en-US" sz="400" dirty="0">
                        <a:solidFill>
                          <a:schemeClr val="bg1"/>
                        </a:solidFill>
                      </a:endParaRP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400" dirty="0" err="1">
                          <a:solidFill>
                            <a:schemeClr val="bg1"/>
                          </a:solidFill>
                        </a:rPr>
                        <a:t>trimmed_mean</a:t>
                      </a:r>
                      <a:r>
                        <a:rPr lang="en-US" sz="400" dirty="0">
                          <a:solidFill>
                            <a:schemeClr val="bg1"/>
                          </a:solidFill>
                        </a:rPr>
                        <a:t>(payoff | we won) − </a:t>
                      </a:r>
                      <a:r>
                        <a:rPr lang="en-US" sz="400" dirty="0" err="1">
                          <a:solidFill>
                            <a:schemeClr val="bg1"/>
                          </a:solidFill>
                        </a:rPr>
                        <a:t>trimmed_mean</a:t>
                      </a:r>
                      <a:r>
                        <a:rPr lang="en-US" sz="400" dirty="0">
                          <a:solidFill>
                            <a:schemeClr val="bg1"/>
                          </a:solidFill>
                        </a:rPr>
                        <a:t>(payoff | </a:t>
                      </a:r>
                      <a:r>
                        <a:rPr lang="en-US" sz="400" dirty="0" err="1">
                          <a:solidFill>
                            <a:schemeClr val="bg1"/>
                          </a:solidFill>
                        </a:rPr>
                        <a:t>opp</a:t>
                      </a:r>
                      <a:r>
                        <a:rPr lang="en-US" sz="400" dirty="0">
                          <a:solidFill>
                            <a:schemeClr val="bg1"/>
                          </a:solidFill>
                        </a:rPr>
                        <a:t> won)</a:t>
                      </a: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991393225"/>
                  </a:ext>
                </a:extLst>
              </a:tr>
              <a:tr h="92488">
                <a:tc>
                  <a:txBody>
                    <a:bodyPr/>
                    <a:lstStyle/>
                    <a:p>
                      <a:pPr>
                        <a:buNone/>
                      </a:pPr>
                      <a:r>
                        <a:rPr lang="en-US" sz="400" b="1" dirty="0" err="1">
                          <a:solidFill>
                            <a:schemeClr val="bg1"/>
                          </a:solidFill>
                        </a:rPr>
                        <a:t>def_base</a:t>
                      </a:r>
                      <a:endParaRPr lang="en-US" sz="400" dirty="0">
                        <a:solidFill>
                          <a:schemeClr val="bg1"/>
                        </a:solidFill>
                      </a:endParaRP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400">
                          <a:solidFill>
                            <a:schemeClr val="bg1"/>
                          </a:solidFill>
                        </a:rPr>
                        <a:t>emp_delta − off_base</a:t>
                      </a: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4260737908"/>
                  </a:ext>
                </a:extLst>
              </a:tr>
              <a:tr h="92488">
                <a:tc>
                  <a:txBody>
                    <a:bodyPr/>
                    <a:lstStyle/>
                    <a:p>
                      <a:pPr>
                        <a:buNone/>
                      </a:pPr>
                      <a:r>
                        <a:rPr lang="en-US" sz="400" b="1" dirty="0" err="1">
                          <a:solidFill>
                            <a:schemeClr val="bg1"/>
                          </a:solidFill>
                        </a:rPr>
                        <a:t>off_mult</a:t>
                      </a:r>
                      <a:endParaRPr lang="en-US" sz="400" dirty="0">
                        <a:solidFill>
                          <a:schemeClr val="bg1"/>
                        </a:solidFill>
                      </a:endParaRP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400">
                          <a:solidFill>
                            <a:schemeClr val="bg1"/>
                          </a:solidFill>
                        </a:rPr>
                        <a:t>12 · eq · (1 − eq) if eq ≤ 2/3; 4 · eq if eq &gt; 2/3</a:t>
                      </a: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905897140"/>
                  </a:ext>
                </a:extLst>
              </a:tr>
              <a:tr h="92488">
                <a:tc>
                  <a:txBody>
                    <a:bodyPr/>
                    <a:lstStyle/>
                    <a:p>
                      <a:pPr>
                        <a:buNone/>
                      </a:pPr>
                      <a:r>
                        <a:rPr lang="en-US" sz="400" b="1" dirty="0" err="1">
                          <a:solidFill>
                            <a:schemeClr val="bg1"/>
                          </a:solidFill>
                        </a:rPr>
                        <a:t>def_weight</a:t>
                      </a:r>
                      <a:endParaRPr lang="en-US" sz="400" dirty="0">
                        <a:solidFill>
                          <a:schemeClr val="bg1"/>
                        </a:solidFill>
                      </a:endParaRP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nn-NO" sz="400">
                          <a:solidFill>
                            <a:schemeClr val="bg1"/>
                          </a:solidFill>
                        </a:rPr>
                        <a:t>clip(0.70 + 1.20 · avg_eq, 0.70, 1.90)</a:t>
                      </a:r>
                      <a:endParaRPr lang="nn-NO" sz="400" dirty="0">
                        <a:solidFill>
                          <a:schemeClr val="bg1"/>
                        </a:solidFill>
                      </a:endParaRP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959142447"/>
                  </a:ext>
                </a:extLst>
              </a:tr>
              <a:tr h="92488">
                <a:tc>
                  <a:txBody>
                    <a:bodyPr/>
                    <a:lstStyle/>
                    <a:p>
                      <a:pPr>
                        <a:buNone/>
                      </a:pPr>
                      <a:r>
                        <a:rPr lang="en-US" sz="400" b="1" dirty="0" err="1">
                          <a:solidFill>
                            <a:schemeClr val="bg1"/>
                          </a:solidFill>
                        </a:rPr>
                        <a:t>off_tier</a:t>
                      </a:r>
                      <a:endParaRPr lang="en-US" sz="400" dirty="0">
                        <a:solidFill>
                          <a:schemeClr val="bg1"/>
                        </a:solidFill>
                      </a:endParaRP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400">
                          <a:solidFill>
                            <a:schemeClr val="bg1"/>
                          </a:solidFill>
                        </a:rPr>
                        <a:t>off_base × off_mult</a:t>
                      </a: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050464729"/>
                  </a:ext>
                </a:extLst>
              </a:tr>
              <a:tr h="92488">
                <a:tc>
                  <a:txBody>
                    <a:bodyPr/>
                    <a:lstStyle/>
                    <a:p>
                      <a:pPr>
                        <a:buNone/>
                      </a:pPr>
                      <a:r>
                        <a:rPr lang="en-US" sz="400" b="1" dirty="0" err="1">
                          <a:solidFill>
                            <a:schemeClr val="bg1"/>
                          </a:solidFill>
                        </a:rPr>
                        <a:t>def_tier</a:t>
                      </a:r>
                      <a:endParaRPr lang="en-US" sz="400" dirty="0">
                        <a:solidFill>
                          <a:schemeClr val="bg1"/>
                        </a:solidFill>
                      </a:endParaRP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400" dirty="0" err="1">
                          <a:solidFill>
                            <a:schemeClr val="bg1"/>
                          </a:solidFill>
                        </a:rPr>
                        <a:t>def_base</a:t>
                      </a:r>
                      <a:r>
                        <a:rPr lang="en-US" sz="400" dirty="0">
                          <a:solidFill>
                            <a:schemeClr val="bg1"/>
                          </a:solidFill>
                        </a:rPr>
                        <a:t> × </a:t>
                      </a:r>
                      <a:r>
                        <a:rPr lang="en-US" sz="400" dirty="0" err="1">
                          <a:solidFill>
                            <a:schemeClr val="bg1"/>
                          </a:solidFill>
                        </a:rPr>
                        <a:t>def_weight</a:t>
                      </a:r>
                      <a:endParaRPr lang="en-US" sz="400" dirty="0">
                        <a:solidFill>
                          <a:schemeClr val="bg1"/>
                        </a:solidFill>
                      </a:endParaRPr>
                    </a:p>
                  </a:txBody>
                  <a:tcPr marL="42925" marR="42925" marT="21463" marB="21463"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2879489510"/>
                  </a:ext>
                </a:extLst>
              </a:tr>
            </a:tbl>
          </a:graphicData>
        </a:graphic>
      </p:graphicFrame>
      <p:sp>
        <p:nvSpPr>
          <p:cNvPr id="43" name="Text 2"/>
          <p:cNvSpPr/>
          <p:nvPr/>
        </p:nvSpPr>
        <p:spPr>
          <a:xfrm>
            <a:off x="3548535" y="2919589"/>
            <a:ext cx="3507377" cy="640080"/>
          </a:xfrm>
          <a:prstGeom prst="rect">
            <a:avLst/>
          </a:prstGeom>
          <a:noFill/>
          <a:ln/>
        </p:spPr>
        <p:txBody>
          <a:bodyPr wrap="square" lIns="0" tIns="0" rIns="0" bIns="0" rtlCol="0" anchor="ctr"/>
          <a:lstStyle/>
          <a:p>
            <a:pPr marL="0" indent="0">
              <a:buNone/>
            </a:pPr>
            <a:r>
              <a:rPr lang="en-US" sz="1200" b="1" dirty="0">
                <a:solidFill>
                  <a:srgbClr val="E8ECF1"/>
                </a:solidFill>
                <a:latin typeface="Calibri" pitchFamily="34" charset="0"/>
                <a:ea typeface="Calibri" pitchFamily="34" charset="-122"/>
                <a:cs typeface="Calibri" pitchFamily="34" charset="-120"/>
              </a:rPr>
              <a:t>Step 2: K-Means Equity Tier Clustering</a:t>
            </a:r>
            <a:endParaRPr lang="en-US" sz="1200" dirty="0"/>
          </a:p>
        </p:txBody>
      </p:sp>
      <p:sp>
        <p:nvSpPr>
          <p:cNvPr id="44" name="Text 2"/>
          <p:cNvSpPr/>
          <p:nvPr/>
        </p:nvSpPr>
        <p:spPr>
          <a:xfrm>
            <a:off x="6332574" y="2771831"/>
            <a:ext cx="8229600" cy="640080"/>
          </a:xfrm>
          <a:prstGeom prst="rect">
            <a:avLst/>
          </a:prstGeom>
          <a:noFill/>
          <a:ln/>
        </p:spPr>
        <p:txBody>
          <a:bodyPr wrap="square" lIns="0" tIns="0" rIns="0" bIns="0" rtlCol="0" anchor="ctr"/>
          <a:lstStyle/>
          <a:p>
            <a:pPr marL="0" indent="0">
              <a:buNone/>
            </a:pPr>
            <a:r>
              <a:rPr lang="en-US" sz="1200" b="1" dirty="0">
                <a:solidFill>
                  <a:srgbClr val="E8ECF1"/>
                </a:solidFill>
                <a:latin typeface="Calibri" pitchFamily="34" charset="0"/>
                <a:ea typeface="Calibri" pitchFamily="34" charset="-122"/>
                <a:cs typeface="Calibri" pitchFamily="34" charset="-120"/>
              </a:rPr>
              <a:t>Step 3: True </a:t>
            </a:r>
            <a:r>
              <a:rPr lang="en-US" sz="1200" b="1">
                <a:solidFill>
                  <a:srgbClr val="E8ECF1"/>
                </a:solidFill>
                <a:latin typeface="Calibri" pitchFamily="34" charset="0"/>
                <a:ea typeface="Calibri" pitchFamily="34" charset="-122"/>
                <a:cs typeface="Calibri" pitchFamily="34" charset="-120"/>
              </a:rPr>
              <a:t>Value -  </a:t>
            </a:r>
            <a:r>
              <a:rPr lang="en-US" sz="1200" b="1" dirty="0">
                <a:solidFill>
                  <a:srgbClr val="E8ECF1"/>
                </a:solidFill>
                <a:latin typeface="Calibri" pitchFamily="34" charset="0"/>
                <a:ea typeface="Calibri" pitchFamily="34" charset="-122"/>
                <a:cs typeface="Calibri" pitchFamily="34" charset="-120"/>
              </a:rPr>
              <a:t>Offensive + Defensive</a:t>
            </a:r>
            <a:endParaRPr lang="en-US" sz="1200" dirty="0"/>
          </a:p>
        </p:txBody>
      </p:sp>
    </p:spTree>
    <p:extLst>
      <p:ext uri="{BB962C8B-B14F-4D97-AF65-F5344CB8AC3E}">
        <p14:creationId xmlns:p14="http://schemas.microsoft.com/office/powerpoint/2010/main" val="3599611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6384941" y="358349"/>
            <a:ext cx="2435564" cy="2123367"/>
          </a:xfrm>
          <a:prstGeom prst="rect">
            <a:avLst/>
          </a:prstGeom>
          <a:solidFill>
            <a:srgbClr val="1F2D3D"/>
          </a:solidFill>
          <a:ln/>
          <a:effectLst>
            <a:outerShdw blurRad="50800" dist="12700" dir="8100000" algn="bl" rotWithShape="0">
              <a:srgbClr val="000000">
                <a:alpha val="15000"/>
              </a:srgbClr>
            </a:outerShdw>
          </a:effectLst>
        </p:spPr>
      </p:sp>
      <p:sp>
        <p:nvSpPr>
          <p:cNvPr id="7" name="Shape 5"/>
          <p:cNvSpPr/>
          <p:nvPr/>
        </p:nvSpPr>
        <p:spPr>
          <a:xfrm>
            <a:off x="6346918" y="317777"/>
            <a:ext cx="54864" cy="548640"/>
          </a:xfrm>
          <a:prstGeom prst="rect">
            <a:avLst/>
          </a:prstGeom>
          <a:solidFill>
            <a:srgbClr val="E8A838"/>
          </a:solidFill>
          <a:ln/>
        </p:spPr>
      </p:sp>
      <p:sp>
        <p:nvSpPr>
          <p:cNvPr id="8" name="Text 6"/>
          <p:cNvSpPr/>
          <p:nvPr/>
        </p:nvSpPr>
        <p:spPr>
          <a:xfrm>
            <a:off x="6451933" y="292060"/>
            <a:ext cx="1828800" cy="201168"/>
          </a:xfrm>
          <a:prstGeom prst="rect">
            <a:avLst/>
          </a:prstGeom>
          <a:noFill/>
          <a:ln/>
        </p:spPr>
        <p:txBody>
          <a:bodyPr wrap="square" lIns="0" tIns="0" rIns="0" bIns="0" rtlCol="0" anchor="ctr"/>
          <a:lstStyle/>
          <a:p>
            <a:pPr marL="0" indent="0">
              <a:buNone/>
            </a:pPr>
            <a:r>
              <a:rPr lang="en-US" sz="700" b="1" dirty="0">
                <a:solidFill>
                  <a:srgbClr val="E8A838"/>
                </a:solidFill>
                <a:latin typeface="Consolas" pitchFamily="34" charset="0"/>
                <a:ea typeface="Consolas" pitchFamily="34" charset="-122"/>
                <a:cs typeface="Consolas" pitchFamily="34" charset="-120"/>
              </a:rPr>
              <a:t>true_val</a:t>
            </a:r>
            <a:endParaRPr lang="en-US" sz="700" dirty="0"/>
          </a:p>
        </p:txBody>
      </p:sp>
      <p:sp>
        <p:nvSpPr>
          <p:cNvPr id="9" name="Text 7"/>
          <p:cNvSpPr/>
          <p:nvPr/>
        </p:nvSpPr>
        <p:spPr>
          <a:xfrm>
            <a:off x="6426528" y="480165"/>
            <a:ext cx="3749040" cy="310896"/>
          </a:xfrm>
          <a:prstGeom prst="rect">
            <a:avLst/>
          </a:prstGeom>
          <a:noFill/>
          <a:ln/>
        </p:spPr>
        <p:txBody>
          <a:bodyPr wrap="square" lIns="0" tIns="0" rIns="0" bIns="0" rtlCol="0" anchor="ctr"/>
          <a:lstStyle/>
          <a:p>
            <a:pPr marL="0" indent="0">
              <a:buNone/>
            </a:pPr>
            <a:r>
              <a:rPr lang="en-US" sz="700" dirty="0">
                <a:solidFill>
                  <a:schemeClr val="bg1">
                    <a:lumMod val="65000"/>
                  </a:schemeClr>
                </a:solidFill>
                <a:latin typeface="Consolas" panose="020B0609020204030204" pitchFamily="49" charset="0"/>
                <a:ea typeface="Consolas" pitchFamily="34" charset="-122"/>
                <a:cs typeface="Consolas" pitchFamily="34" charset="-120"/>
              </a:rPr>
              <a:t>off_tier + </a:t>
            </a:r>
            <a:r>
              <a:rPr lang="en-US" sz="700" dirty="0" err="1">
                <a:solidFill>
                  <a:schemeClr val="bg1">
                    <a:lumMod val="65000"/>
                  </a:schemeClr>
                </a:solidFill>
                <a:latin typeface="Consolas" panose="020B0609020204030204" pitchFamily="49" charset="0"/>
                <a:ea typeface="Consolas" pitchFamily="34" charset="-122"/>
                <a:cs typeface="Consolas" pitchFamily="34" charset="-120"/>
              </a:rPr>
              <a:t>def_tier</a:t>
            </a:r>
            <a:endParaRPr lang="en-US" sz="700" dirty="0">
              <a:solidFill>
                <a:schemeClr val="bg1">
                  <a:lumMod val="65000"/>
                </a:schemeClr>
              </a:solidFill>
              <a:latin typeface="Consolas" panose="020B0609020204030204" pitchFamily="49" charset="0"/>
              <a:ea typeface="Consolas" pitchFamily="34" charset="-122"/>
              <a:cs typeface="Consolas" pitchFamily="34" charset="-120"/>
            </a:endParaRPr>
          </a:p>
          <a:p>
            <a:r>
              <a:rPr lang="nb-NO" sz="700" dirty="0">
                <a:solidFill>
                  <a:schemeClr val="bg1">
                    <a:lumMod val="65000"/>
                  </a:schemeClr>
                </a:solidFill>
                <a:latin typeface="Consolas" panose="020B0609020204030204" pitchFamily="49" charset="0"/>
              </a:rPr>
              <a:t>tier_opp = opp_bids[mask]</a:t>
            </a:r>
          </a:p>
          <a:p>
            <a:pPr marL="0" indent="0">
              <a:buNone/>
            </a:pPr>
            <a:endParaRPr lang="en-US" sz="700" dirty="0">
              <a:solidFill>
                <a:schemeClr val="bg1">
                  <a:lumMod val="65000"/>
                </a:schemeClr>
              </a:solidFill>
            </a:endParaRPr>
          </a:p>
        </p:txBody>
      </p:sp>
      <p:sp>
        <p:nvSpPr>
          <p:cNvPr id="12" name="Shape 10"/>
          <p:cNvSpPr/>
          <p:nvPr/>
        </p:nvSpPr>
        <p:spPr>
          <a:xfrm>
            <a:off x="6348906" y="808123"/>
            <a:ext cx="45719" cy="476590"/>
          </a:xfrm>
          <a:prstGeom prst="rect">
            <a:avLst/>
          </a:prstGeom>
          <a:solidFill>
            <a:srgbClr val="2EC4B6"/>
          </a:solidFill>
          <a:ln/>
        </p:spPr>
      </p:sp>
      <p:sp>
        <p:nvSpPr>
          <p:cNvPr id="3" name="Text 11"/>
          <p:cNvSpPr/>
          <p:nvPr/>
        </p:nvSpPr>
        <p:spPr>
          <a:xfrm>
            <a:off x="6449387" y="780939"/>
            <a:ext cx="1828800" cy="201168"/>
          </a:xfrm>
          <a:prstGeom prst="rect">
            <a:avLst/>
          </a:prstGeom>
          <a:noFill/>
          <a:ln/>
        </p:spPr>
        <p:txBody>
          <a:bodyPr wrap="square" lIns="0" tIns="0" rIns="0" bIns="0" rtlCol="0" anchor="ctr"/>
          <a:lstStyle/>
          <a:p>
            <a:pPr marL="0" indent="0">
              <a:buNone/>
            </a:pPr>
            <a:r>
              <a:rPr lang="en-US" sz="700" b="1" dirty="0">
                <a:solidFill>
                  <a:srgbClr val="2EC4B6"/>
                </a:solidFill>
                <a:latin typeface="Consolas" pitchFamily="34" charset="0"/>
                <a:ea typeface="Consolas" pitchFamily="34" charset="-122"/>
                <a:cs typeface="Consolas" pitchFamily="34" charset="-120"/>
              </a:rPr>
              <a:t>derive_bid_range()</a:t>
            </a:r>
            <a:endParaRPr lang="en-US" sz="700" dirty="0"/>
          </a:p>
        </p:txBody>
      </p:sp>
      <p:sp>
        <p:nvSpPr>
          <p:cNvPr id="14" name="Text 12"/>
          <p:cNvSpPr/>
          <p:nvPr/>
        </p:nvSpPr>
        <p:spPr>
          <a:xfrm>
            <a:off x="6449387" y="929202"/>
            <a:ext cx="3749040" cy="310896"/>
          </a:xfrm>
          <a:prstGeom prst="rect">
            <a:avLst/>
          </a:prstGeom>
          <a:noFill/>
          <a:ln/>
        </p:spPr>
        <p:txBody>
          <a:bodyPr wrap="square" lIns="0" tIns="0" rIns="0" bIns="0" rtlCol="0" anchor="ctr"/>
          <a:lstStyle/>
          <a:p>
            <a:pPr marL="0" indent="0">
              <a:buNone/>
            </a:pPr>
            <a:r>
              <a:rPr lang="en-US" sz="700" dirty="0">
                <a:solidFill>
                  <a:srgbClr val="8899AA"/>
                </a:solidFill>
                <a:latin typeface="Consolas" pitchFamily="34" charset="0"/>
                <a:ea typeface="Consolas" pitchFamily="34" charset="-122"/>
                <a:cs typeface="Consolas" pitchFamily="34" charset="-120"/>
              </a:rPr>
              <a:t>bid_lo = true_val × lo_mult</a:t>
            </a:r>
            <a:endParaRPr lang="en-US" sz="700" dirty="0"/>
          </a:p>
          <a:p>
            <a:pPr marL="0" indent="0">
              <a:buNone/>
            </a:pPr>
            <a:r>
              <a:rPr lang="en-US" sz="700" dirty="0">
                <a:solidFill>
                  <a:srgbClr val="8899AA"/>
                </a:solidFill>
                <a:latin typeface="Consolas" pitchFamily="34" charset="0"/>
                <a:ea typeface="Consolas" pitchFamily="34" charset="-122"/>
                <a:cs typeface="Consolas" pitchFamily="34" charset="-120"/>
              </a:rPr>
              <a:t>bid_hi = true_val × hi_mult</a:t>
            </a:r>
            <a:endParaRPr lang="en-US" sz="700" dirty="0"/>
          </a:p>
        </p:txBody>
      </p:sp>
      <p:sp>
        <p:nvSpPr>
          <p:cNvPr id="4" name="Shape 15"/>
          <p:cNvSpPr/>
          <p:nvPr/>
        </p:nvSpPr>
        <p:spPr>
          <a:xfrm>
            <a:off x="6351392" y="1247706"/>
            <a:ext cx="45719" cy="431237"/>
          </a:xfrm>
          <a:prstGeom prst="rect">
            <a:avLst/>
          </a:prstGeom>
          <a:solidFill>
            <a:srgbClr val="56CCF2"/>
          </a:solidFill>
          <a:ln/>
        </p:spPr>
      </p:sp>
      <p:sp>
        <p:nvSpPr>
          <p:cNvPr id="18" name="Text 16"/>
          <p:cNvSpPr/>
          <p:nvPr/>
        </p:nvSpPr>
        <p:spPr>
          <a:xfrm>
            <a:off x="6451933" y="1238627"/>
            <a:ext cx="1828800" cy="201168"/>
          </a:xfrm>
          <a:prstGeom prst="rect">
            <a:avLst/>
          </a:prstGeom>
          <a:noFill/>
          <a:ln/>
        </p:spPr>
        <p:txBody>
          <a:bodyPr wrap="square" lIns="0" tIns="0" rIns="0" bIns="0" rtlCol="0" anchor="ctr"/>
          <a:lstStyle/>
          <a:p>
            <a:pPr marL="0" indent="0">
              <a:buNone/>
            </a:pPr>
            <a:r>
              <a:rPr lang="en-US" sz="700" b="1" dirty="0">
                <a:solidFill>
                  <a:srgbClr val="56CCF2"/>
                </a:solidFill>
                <a:latin typeface="Consolas" pitchFamily="34" charset="0"/>
                <a:ea typeface="Consolas" pitchFamily="34" charset="-122"/>
                <a:cs typeface="Consolas" pitchFamily="34" charset="-120"/>
              </a:rPr>
              <a:t>fractions</a:t>
            </a:r>
            <a:endParaRPr lang="en-US" sz="700" dirty="0"/>
          </a:p>
        </p:txBody>
      </p:sp>
      <p:sp>
        <p:nvSpPr>
          <p:cNvPr id="5" name="Text 17"/>
          <p:cNvSpPr/>
          <p:nvPr/>
        </p:nvSpPr>
        <p:spPr>
          <a:xfrm>
            <a:off x="6451933" y="1353907"/>
            <a:ext cx="3749040" cy="310896"/>
          </a:xfrm>
          <a:prstGeom prst="rect">
            <a:avLst/>
          </a:prstGeom>
          <a:noFill/>
          <a:ln/>
        </p:spPr>
        <p:txBody>
          <a:bodyPr wrap="square" lIns="0" tIns="0" rIns="0" bIns="0" rtlCol="0" anchor="ctr"/>
          <a:lstStyle/>
          <a:p>
            <a:pPr marL="0" indent="0">
              <a:buNone/>
            </a:pPr>
            <a:r>
              <a:rPr lang="en-US" sz="700" dirty="0">
                <a:solidFill>
                  <a:srgbClr val="8899AA"/>
                </a:solidFill>
                <a:latin typeface="Consolas" pitchFamily="34" charset="0"/>
                <a:ea typeface="Consolas" pitchFamily="34" charset="-122"/>
                <a:cs typeface="Consolas" pitchFamily="34" charset="-120"/>
              </a:rPr>
              <a:t>frac_lo = bid_lo / avg_exp</a:t>
            </a:r>
            <a:endParaRPr lang="en-US" sz="700" dirty="0"/>
          </a:p>
          <a:p>
            <a:pPr marL="0" indent="0">
              <a:buNone/>
            </a:pPr>
            <a:r>
              <a:rPr lang="en-US" sz="700" dirty="0">
                <a:solidFill>
                  <a:srgbClr val="8899AA"/>
                </a:solidFill>
                <a:latin typeface="Consolas" pitchFamily="34" charset="0"/>
                <a:ea typeface="Consolas" pitchFamily="34" charset="-122"/>
                <a:cs typeface="Consolas" pitchFamily="34" charset="-120"/>
              </a:rPr>
              <a:t>frac_hi = bid_hi / avg_exp</a:t>
            </a:r>
            <a:endParaRPr lang="en-US" sz="700" dirty="0"/>
          </a:p>
        </p:txBody>
      </p:sp>
      <p:sp>
        <p:nvSpPr>
          <p:cNvPr id="24" name="Shape 20"/>
          <p:cNvSpPr/>
          <p:nvPr/>
        </p:nvSpPr>
        <p:spPr>
          <a:xfrm>
            <a:off x="6351392" y="1654965"/>
            <a:ext cx="45719" cy="431237"/>
          </a:xfrm>
          <a:prstGeom prst="rect">
            <a:avLst/>
          </a:prstGeom>
          <a:solidFill>
            <a:srgbClr val="4ADE80"/>
          </a:solidFill>
          <a:ln/>
        </p:spPr>
        <p:txBody>
          <a:bodyPr/>
          <a:lstStyle/>
          <a:p>
            <a:endParaRPr lang="en-US" dirty="0"/>
          </a:p>
        </p:txBody>
      </p:sp>
      <p:sp>
        <p:nvSpPr>
          <p:cNvPr id="25" name="Text 21"/>
          <p:cNvSpPr/>
          <p:nvPr/>
        </p:nvSpPr>
        <p:spPr>
          <a:xfrm>
            <a:off x="6449387" y="1690521"/>
            <a:ext cx="1828800" cy="201168"/>
          </a:xfrm>
          <a:prstGeom prst="rect">
            <a:avLst/>
          </a:prstGeom>
          <a:noFill/>
          <a:ln/>
        </p:spPr>
        <p:txBody>
          <a:bodyPr wrap="square" lIns="0" tIns="0" rIns="0" bIns="0" rtlCol="0" anchor="ctr"/>
          <a:lstStyle/>
          <a:p>
            <a:pPr marL="0" indent="0">
              <a:buNone/>
            </a:pPr>
            <a:r>
              <a:rPr lang="en-US" sz="700" b="1" dirty="0">
                <a:solidFill>
                  <a:srgbClr val="4ADE80"/>
                </a:solidFill>
                <a:latin typeface="Consolas" pitchFamily="34" charset="0"/>
                <a:ea typeface="Consolas" pitchFamily="34" charset="-122"/>
                <a:cs typeface="Consolas" pitchFamily="34" charset="-120"/>
              </a:rPr>
              <a:t>blend w/ opponent</a:t>
            </a:r>
            <a:endParaRPr lang="en-US" sz="700" dirty="0"/>
          </a:p>
        </p:txBody>
      </p:sp>
      <p:sp>
        <p:nvSpPr>
          <p:cNvPr id="26" name="Text 22"/>
          <p:cNvSpPr/>
          <p:nvPr/>
        </p:nvSpPr>
        <p:spPr>
          <a:xfrm>
            <a:off x="6449387" y="1807434"/>
            <a:ext cx="3749040" cy="310896"/>
          </a:xfrm>
          <a:prstGeom prst="rect">
            <a:avLst/>
          </a:prstGeom>
          <a:noFill/>
          <a:ln/>
        </p:spPr>
        <p:txBody>
          <a:bodyPr wrap="square" lIns="0" tIns="0" rIns="0" bIns="0" rtlCol="0" anchor="ctr"/>
          <a:lstStyle/>
          <a:p>
            <a:pPr marL="0" indent="0">
              <a:buNone/>
            </a:pPr>
            <a:r>
              <a:rPr lang="en-US" sz="700">
                <a:solidFill>
                  <a:srgbClr val="8899AA"/>
                </a:solidFill>
                <a:latin typeface="Consolas" pitchFamily="34" charset="0"/>
                <a:ea typeface="Consolas" pitchFamily="34" charset="-122"/>
                <a:cs typeface="Consolas" pitchFamily="34" charset="-120"/>
              </a:rPr>
              <a:t>frac_lo = 0.55×theory + 0.45×opp_P60</a:t>
            </a:r>
            <a:endParaRPr lang="en-US" sz="700"/>
          </a:p>
          <a:p>
            <a:pPr marL="0" indent="0">
              <a:buNone/>
            </a:pPr>
            <a:r>
              <a:rPr lang="en-US" sz="700">
                <a:solidFill>
                  <a:srgbClr val="8899AA"/>
                </a:solidFill>
                <a:latin typeface="Consolas" pitchFamily="34" charset="0"/>
                <a:ea typeface="Consolas" pitchFamily="34" charset="-122"/>
                <a:cs typeface="Consolas" pitchFamily="34" charset="-120"/>
              </a:rPr>
              <a:t>frac_hi = 0.45×theory + 0.55×opp_P85</a:t>
            </a:r>
            <a:endParaRPr lang="en-US" sz="700" dirty="0"/>
          </a:p>
        </p:txBody>
      </p:sp>
      <p:sp>
        <p:nvSpPr>
          <p:cNvPr id="29" name="Shape 25"/>
          <p:cNvSpPr/>
          <p:nvPr/>
        </p:nvSpPr>
        <p:spPr>
          <a:xfrm>
            <a:off x="6348905" y="2078086"/>
            <a:ext cx="52877" cy="363058"/>
          </a:xfrm>
          <a:prstGeom prst="rect">
            <a:avLst/>
          </a:prstGeom>
          <a:solidFill>
            <a:srgbClr val="E8A838"/>
          </a:solidFill>
          <a:ln/>
        </p:spPr>
      </p:sp>
      <p:sp>
        <p:nvSpPr>
          <p:cNvPr id="30" name="Text 26"/>
          <p:cNvSpPr/>
          <p:nvPr/>
        </p:nvSpPr>
        <p:spPr>
          <a:xfrm>
            <a:off x="6433026" y="2077752"/>
            <a:ext cx="1828800" cy="201168"/>
          </a:xfrm>
          <a:prstGeom prst="rect">
            <a:avLst/>
          </a:prstGeom>
          <a:noFill/>
          <a:ln/>
        </p:spPr>
        <p:txBody>
          <a:bodyPr wrap="square" lIns="0" tIns="0" rIns="0" bIns="0" rtlCol="0" anchor="ctr"/>
          <a:lstStyle/>
          <a:p>
            <a:pPr marL="0" indent="0">
              <a:buNone/>
            </a:pPr>
            <a:r>
              <a:rPr lang="en-US" sz="700" b="1" dirty="0">
                <a:solidFill>
                  <a:srgbClr val="E8A838"/>
                </a:solidFill>
                <a:latin typeface="Consolas" pitchFamily="34" charset="0"/>
                <a:ea typeface="Consolas" pitchFamily="34" charset="-122"/>
                <a:cs typeface="Consolas" pitchFamily="34" charset="-120"/>
              </a:rPr>
              <a:t>final bid (per tier)</a:t>
            </a:r>
            <a:endParaRPr lang="en-US" sz="700" dirty="0"/>
          </a:p>
        </p:txBody>
      </p:sp>
      <p:sp>
        <p:nvSpPr>
          <p:cNvPr id="31" name="Text 27"/>
          <p:cNvSpPr/>
          <p:nvPr/>
        </p:nvSpPr>
        <p:spPr>
          <a:xfrm>
            <a:off x="6433026" y="2141760"/>
            <a:ext cx="3749040" cy="310896"/>
          </a:xfrm>
          <a:prstGeom prst="rect">
            <a:avLst/>
          </a:prstGeom>
          <a:noFill/>
          <a:ln/>
        </p:spPr>
        <p:txBody>
          <a:bodyPr wrap="square" lIns="0" tIns="0" rIns="0" bIns="0" rtlCol="0" anchor="ctr"/>
          <a:lstStyle/>
          <a:p>
            <a:pPr marL="0" indent="0">
              <a:buNone/>
            </a:pPr>
            <a:r>
              <a:rPr lang="en-US" sz="700" dirty="0">
                <a:solidFill>
                  <a:srgbClr val="8899AA"/>
                </a:solidFill>
                <a:latin typeface="Consolas" pitchFamily="34" charset="0"/>
                <a:ea typeface="Consolas" pitchFamily="34" charset="-122"/>
                <a:cs typeface="Consolas" pitchFamily="34" charset="-120"/>
              </a:rPr>
              <a:t>bid = int(exp_pot × uniform(frac_lo, frac_hi))</a:t>
            </a:r>
            <a:endParaRPr lang="en-US" sz="700" dirty="0"/>
          </a:p>
        </p:txBody>
      </p:sp>
      <p:sp>
        <p:nvSpPr>
          <p:cNvPr id="32" name="Shape 29"/>
          <p:cNvSpPr/>
          <p:nvPr/>
        </p:nvSpPr>
        <p:spPr>
          <a:xfrm>
            <a:off x="5168106" y="2632454"/>
            <a:ext cx="3579083" cy="1264592"/>
          </a:xfrm>
          <a:prstGeom prst="rect">
            <a:avLst/>
          </a:prstGeom>
          <a:solidFill>
            <a:srgbClr val="1F2D3D"/>
          </a:solidFill>
          <a:ln/>
          <a:effectLst>
            <a:outerShdw blurRad="76200" dist="12700" dir="8100000" algn="bl" rotWithShape="0">
              <a:srgbClr val="000000">
                <a:alpha val="15000"/>
              </a:srgbClr>
            </a:outerShdw>
          </a:effectLst>
        </p:spPr>
        <p:txBody>
          <a:bodyPr/>
          <a:lstStyle/>
          <a:p>
            <a:endParaRPr lang="en-US" dirty="0"/>
          </a:p>
        </p:txBody>
      </p:sp>
      <p:sp>
        <p:nvSpPr>
          <p:cNvPr id="33" name="Text 30"/>
          <p:cNvSpPr/>
          <p:nvPr/>
        </p:nvSpPr>
        <p:spPr>
          <a:xfrm>
            <a:off x="4699865" y="2713445"/>
            <a:ext cx="4244339" cy="299433"/>
          </a:xfrm>
          <a:prstGeom prst="rect">
            <a:avLst/>
          </a:prstGeom>
          <a:noFill/>
          <a:ln/>
        </p:spPr>
        <p:txBody>
          <a:bodyPr wrap="square" lIns="0" tIns="0" rIns="0" bIns="0" rtlCol="0" anchor="ctr"/>
          <a:lstStyle/>
          <a:p>
            <a:pPr algn="ctr"/>
            <a:r>
              <a:rPr lang="en-US" sz="1200" b="1" dirty="0" err="1">
                <a:solidFill>
                  <a:srgbClr val="56CCF2"/>
                </a:solidFill>
                <a:latin typeface="Consolas" pitchFamily="34" charset="0"/>
                <a:ea typeface="Consolas" pitchFamily="34" charset="-122"/>
                <a:cs typeface="Consolas" pitchFamily="34" charset="-120"/>
              </a:rPr>
              <a:t>frac_lo</a:t>
            </a:r>
            <a:r>
              <a:rPr lang="en-US" sz="1200" b="1" dirty="0">
                <a:solidFill>
                  <a:srgbClr val="56CCF2"/>
                </a:solidFill>
                <a:latin typeface="Consolas" pitchFamily="34" charset="0"/>
                <a:ea typeface="Consolas" pitchFamily="34" charset="-122"/>
                <a:cs typeface="Consolas" pitchFamily="34" charset="-120"/>
              </a:rPr>
              <a:t> (floor) &amp; </a:t>
            </a:r>
            <a:r>
              <a:rPr lang="en-US" sz="1200" b="1" dirty="0" err="1">
                <a:solidFill>
                  <a:srgbClr val="E8A838"/>
                </a:solidFill>
                <a:latin typeface="Consolas" pitchFamily="34" charset="0"/>
                <a:ea typeface="Consolas" pitchFamily="34" charset="-122"/>
                <a:cs typeface="Consolas" pitchFamily="34" charset="-120"/>
              </a:rPr>
              <a:t>frac_hi</a:t>
            </a:r>
            <a:r>
              <a:rPr lang="en-US" sz="1200" b="1" dirty="0">
                <a:solidFill>
                  <a:srgbClr val="E8A838"/>
                </a:solidFill>
                <a:latin typeface="Consolas" pitchFamily="34" charset="0"/>
                <a:ea typeface="Consolas" pitchFamily="34" charset="-122"/>
                <a:cs typeface="Consolas" pitchFamily="34" charset="-120"/>
              </a:rPr>
              <a:t> (ceiling)</a:t>
            </a:r>
            <a:endParaRPr lang="en-US" sz="1200" dirty="0"/>
          </a:p>
          <a:p>
            <a:pPr marL="0" indent="0">
              <a:buNone/>
            </a:pPr>
            <a:endParaRPr lang="en-US" sz="1200" dirty="0"/>
          </a:p>
        </p:txBody>
      </p:sp>
      <p:sp>
        <p:nvSpPr>
          <p:cNvPr id="34" name="Text 31"/>
          <p:cNvSpPr/>
          <p:nvPr/>
        </p:nvSpPr>
        <p:spPr>
          <a:xfrm>
            <a:off x="5265065" y="2745078"/>
            <a:ext cx="3445019" cy="849254"/>
          </a:xfrm>
          <a:prstGeom prst="rect">
            <a:avLst/>
          </a:prstGeom>
          <a:noFill/>
          <a:ln/>
        </p:spPr>
        <p:txBody>
          <a:bodyPr wrap="square" lIns="0" tIns="0" rIns="0" bIns="0" rtlCol="0" anchor="ctr"/>
          <a:lstStyle/>
          <a:p>
            <a:pPr marL="0" indent="0">
              <a:buNone/>
            </a:pPr>
            <a:r>
              <a:rPr lang="en-US" sz="900" b="1" dirty="0">
                <a:solidFill>
                  <a:srgbClr val="E8ECF1"/>
                </a:solidFill>
                <a:latin typeface="Calibri" pitchFamily="34" charset="0"/>
                <a:ea typeface="Calibri" pitchFamily="34" charset="-122"/>
                <a:cs typeface="Calibri" pitchFamily="34" charset="-120"/>
              </a:rPr>
              <a:t>55% theory + 45% opponent q60 (60</a:t>
            </a:r>
            <a:r>
              <a:rPr lang="en-US" sz="900" b="1" baseline="30000" dirty="0">
                <a:solidFill>
                  <a:srgbClr val="E8ECF1"/>
                </a:solidFill>
                <a:latin typeface="Calibri" pitchFamily="34" charset="0"/>
                <a:ea typeface="Calibri" pitchFamily="34" charset="-122"/>
                <a:cs typeface="Calibri" pitchFamily="34" charset="-120"/>
              </a:rPr>
              <a:t>th</a:t>
            </a:r>
            <a:r>
              <a:rPr lang="en-US" sz="900" b="1" dirty="0">
                <a:solidFill>
                  <a:srgbClr val="E8ECF1"/>
                </a:solidFill>
                <a:latin typeface="Calibri" pitchFamily="34" charset="0"/>
                <a:ea typeface="Calibri" pitchFamily="34" charset="-122"/>
                <a:cs typeface="Calibri" pitchFamily="34" charset="-120"/>
              </a:rPr>
              <a:t> percentile)</a:t>
            </a:r>
            <a:endParaRPr lang="en-US" sz="900" dirty="0"/>
          </a:p>
          <a:p>
            <a:pPr marL="0" indent="0">
              <a:buNone/>
            </a:pPr>
            <a:r>
              <a:rPr lang="en-US" sz="900" dirty="0">
                <a:solidFill>
                  <a:srgbClr val="8899AA"/>
                </a:solidFill>
                <a:latin typeface="Calibri" pitchFamily="34" charset="0"/>
                <a:ea typeface="Calibri" pitchFamily="34" charset="-122"/>
                <a:cs typeface="Calibri" pitchFamily="34" charset="-120"/>
              </a:rPr>
              <a:t>Lean on what the info is worth. Floor ensures we don't bid less than the expected value justifies.</a:t>
            </a:r>
            <a:endParaRPr lang="en-US" sz="900" dirty="0"/>
          </a:p>
        </p:txBody>
      </p:sp>
      <p:sp>
        <p:nvSpPr>
          <p:cNvPr id="36" name="Text 33"/>
          <p:cNvSpPr/>
          <p:nvPr/>
        </p:nvSpPr>
        <p:spPr>
          <a:xfrm>
            <a:off x="1008389" y="1970774"/>
            <a:ext cx="3566160" cy="228600"/>
          </a:xfrm>
          <a:prstGeom prst="rect">
            <a:avLst/>
          </a:prstGeom>
          <a:noFill/>
          <a:ln/>
        </p:spPr>
        <p:txBody>
          <a:bodyPr wrap="square" lIns="0" tIns="0" rIns="0" bIns="0" rtlCol="0" anchor="ctr"/>
          <a:lstStyle/>
          <a:p>
            <a:pPr marL="0" indent="0">
              <a:buNone/>
            </a:pPr>
            <a:endParaRPr lang="en-US" sz="1200" dirty="0"/>
          </a:p>
        </p:txBody>
      </p:sp>
      <p:sp>
        <p:nvSpPr>
          <p:cNvPr id="37" name="Text 34"/>
          <p:cNvSpPr/>
          <p:nvPr/>
        </p:nvSpPr>
        <p:spPr>
          <a:xfrm>
            <a:off x="5265065" y="3208319"/>
            <a:ext cx="3445019" cy="849254"/>
          </a:xfrm>
          <a:prstGeom prst="rect">
            <a:avLst/>
          </a:prstGeom>
          <a:noFill/>
          <a:ln/>
        </p:spPr>
        <p:txBody>
          <a:bodyPr wrap="square" lIns="0" tIns="0" rIns="0" bIns="0" rtlCol="0" anchor="ctr"/>
          <a:lstStyle/>
          <a:p>
            <a:pPr marL="0" indent="0">
              <a:buNone/>
            </a:pPr>
            <a:r>
              <a:rPr lang="en-US" sz="900" b="1" dirty="0">
                <a:solidFill>
                  <a:srgbClr val="E8ECF1"/>
                </a:solidFill>
                <a:latin typeface="Calibri" pitchFamily="34" charset="0"/>
                <a:ea typeface="Calibri" pitchFamily="34" charset="-122"/>
                <a:cs typeface="Calibri" pitchFamily="34" charset="-120"/>
              </a:rPr>
              <a:t>45% theory + 55% opponent q85 (85</a:t>
            </a:r>
            <a:r>
              <a:rPr lang="en-US" sz="900" b="1" baseline="30000" dirty="0">
                <a:solidFill>
                  <a:srgbClr val="E8ECF1"/>
                </a:solidFill>
                <a:latin typeface="Calibri" pitchFamily="34" charset="0"/>
                <a:ea typeface="Calibri" pitchFamily="34" charset="-122"/>
                <a:cs typeface="Calibri" pitchFamily="34" charset="-120"/>
              </a:rPr>
              <a:t>th</a:t>
            </a:r>
            <a:r>
              <a:rPr lang="en-US" sz="900" b="1" dirty="0">
                <a:solidFill>
                  <a:srgbClr val="E8ECF1"/>
                </a:solidFill>
                <a:latin typeface="Calibri" pitchFamily="34" charset="0"/>
                <a:ea typeface="Calibri" pitchFamily="34" charset="-122"/>
                <a:cs typeface="Calibri" pitchFamily="34" charset="-120"/>
              </a:rPr>
              <a:t> percentile)</a:t>
            </a:r>
            <a:endParaRPr lang="en-US" sz="900" dirty="0"/>
          </a:p>
          <a:p>
            <a:pPr marL="0" indent="0">
              <a:buNone/>
            </a:pPr>
            <a:r>
              <a:rPr lang="en-US" sz="900" dirty="0">
                <a:solidFill>
                  <a:srgbClr val="8899AA"/>
                </a:solidFill>
                <a:latin typeface="Calibri" pitchFamily="34" charset="0"/>
                <a:ea typeface="Calibri" pitchFamily="34" charset="-122"/>
                <a:cs typeface="Calibri" pitchFamily="34" charset="-120"/>
              </a:rPr>
              <a:t>Ceiling driven more by opponent aggression. If they bid aggressively, we must raise our max to compete.</a:t>
            </a:r>
            <a:endParaRPr lang="en-US" sz="900" dirty="0"/>
          </a:p>
        </p:txBody>
      </p:sp>
      <p:pic>
        <p:nvPicPr>
          <p:cNvPr id="38" name="Picture 37">
            <a:extLst>
              <a:ext uri="{FF2B5EF4-FFF2-40B4-BE49-F238E27FC236}">
                <a16:creationId xmlns:a16="http://schemas.microsoft.com/office/drawing/2014/main" id="{F16ECD1E-7921-EE21-3DE7-FDD17765BD60}"/>
              </a:ext>
            </a:extLst>
          </p:cNvPr>
          <p:cNvPicPr>
            <a:picLocks noChangeAspect="1"/>
          </p:cNvPicPr>
          <p:nvPr/>
        </p:nvPicPr>
        <p:blipFill>
          <a:blip r:embed="rId2"/>
          <a:stretch>
            <a:fillRect/>
          </a:stretch>
        </p:blipFill>
        <p:spPr>
          <a:xfrm>
            <a:off x="431942" y="2811221"/>
            <a:ext cx="4070908" cy="1790918"/>
          </a:xfrm>
          <a:prstGeom prst="rect">
            <a:avLst/>
          </a:prstGeom>
        </p:spPr>
      </p:pic>
      <p:pic>
        <p:nvPicPr>
          <p:cNvPr id="41" name="Image 0" descr="/home/claude/img_backtest.png"/>
          <p:cNvPicPr>
            <a:picLocks noChangeAspect="1"/>
          </p:cNvPicPr>
          <p:nvPr/>
        </p:nvPicPr>
        <p:blipFill>
          <a:blip r:embed="rId3"/>
          <a:stretch>
            <a:fillRect/>
          </a:stretch>
        </p:blipFill>
        <p:spPr>
          <a:xfrm>
            <a:off x="213336" y="148960"/>
            <a:ext cx="5903395" cy="2227291"/>
          </a:xfrm>
          <a:prstGeom prst="rect">
            <a:avLst/>
          </a:prstGeom>
        </p:spPr>
      </p:pic>
      <p:sp>
        <p:nvSpPr>
          <p:cNvPr id="43" name="Shape 4"/>
          <p:cNvSpPr/>
          <p:nvPr/>
        </p:nvSpPr>
        <p:spPr>
          <a:xfrm>
            <a:off x="5010252" y="3995603"/>
            <a:ext cx="3795612" cy="1082722"/>
          </a:xfrm>
          <a:prstGeom prst="rect">
            <a:avLst/>
          </a:prstGeom>
          <a:solidFill>
            <a:srgbClr val="0E1A0E"/>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a:p>
        </p:txBody>
      </p:sp>
      <p:sp>
        <p:nvSpPr>
          <p:cNvPr id="44" name="Text 5"/>
          <p:cNvSpPr/>
          <p:nvPr/>
        </p:nvSpPr>
        <p:spPr>
          <a:xfrm>
            <a:off x="5139282" y="4068754"/>
            <a:ext cx="3544207" cy="378953"/>
          </a:xfrm>
          <a:prstGeom prst="rect">
            <a:avLst/>
          </a:prstGeom>
          <a:noFill/>
          <a:ln/>
        </p:spPr>
        <p:txBody>
          <a:bodyPr wrap="square" lIns="0" tIns="0" rIns="0" bIns="0" rtlCol="0" anchor="ctr"/>
          <a:lstStyle/>
          <a:p>
            <a:pPr marL="0" indent="0">
              <a:buNone/>
            </a:pPr>
            <a:r>
              <a:rPr lang="en-US" sz="900" dirty="0">
                <a:solidFill>
                  <a:srgbClr val="4EBF8E"/>
                </a:solidFill>
                <a:latin typeface="Courier New" pitchFamily="34" charset="0"/>
                <a:ea typeface="Courier New" pitchFamily="34" charset="-122"/>
                <a:cs typeface="Courier New" pitchFamily="34" charset="-120"/>
              </a:rPr>
              <a:t>exp_pot = pot × 2.5 + 100       # estimated total pot value</a:t>
            </a:r>
            <a:endParaRPr lang="en-US" sz="900" dirty="0"/>
          </a:p>
        </p:txBody>
      </p:sp>
      <p:sp>
        <p:nvSpPr>
          <p:cNvPr id="45" name="Text 6"/>
          <p:cNvSpPr/>
          <p:nvPr/>
        </p:nvSpPr>
        <p:spPr>
          <a:xfrm>
            <a:off x="5115936" y="4459061"/>
            <a:ext cx="3496052" cy="378953"/>
          </a:xfrm>
          <a:prstGeom prst="rect">
            <a:avLst/>
          </a:prstGeom>
          <a:noFill/>
          <a:ln/>
        </p:spPr>
        <p:txBody>
          <a:bodyPr wrap="square" lIns="0" tIns="0" rIns="0" bIns="0" rtlCol="0" anchor="ctr"/>
          <a:lstStyle/>
          <a:p>
            <a:pPr marL="0" indent="0">
              <a:buNone/>
            </a:pPr>
            <a:r>
              <a:rPr lang="en-US" sz="900" dirty="0">
                <a:solidFill>
                  <a:srgbClr val="4EBF8E"/>
                </a:solidFill>
                <a:latin typeface="Courier New" pitchFamily="34" charset="0"/>
                <a:ea typeface="Courier New" pitchFamily="34" charset="-122"/>
                <a:cs typeface="Courier New" pitchFamily="34" charset="-120"/>
              </a:rPr>
              <a:t>bid     = int(exp_pot × fraction)  # fraction ∈ [0.03, 0.30] scaled by equity</a:t>
            </a:r>
            <a:endParaRPr lang="en-US" sz="900" dirty="0"/>
          </a:p>
        </p:txBody>
      </p:sp>
      <p:sp>
        <p:nvSpPr>
          <p:cNvPr id="46" name="Text 2">
            <a:extLst>
              <a:ext uri="{FF2B5EF4-FFF2-40B4-BE49-F238E27FC236}">
                <a16:creationId xmlns:a16="http://schemas.microsoft.com/office/drawing/2014/main" id="{94E2658E-E73B-985A-1386-6E66E45D2347}"/>
              </a:ext>
            </a:extLst>
          </p:cNvPr>
          <p:cNvSpPr/>
          <p:nvPr/>
        </p:nvSpPr>
        <p:spPr>
          <a:xfrm>
            <a:off x="1449570" y="4589439"/>
            <a:ext cx="2683798" cy="306614"/>
          </a:xfrm>
          <a:prstGeom prst="rect">
            <a:avLst/>
          </a:prstGeom>
          <a:noFill/>
          <a:ln/>
        </p:spPr>
        <p:txBody>
          <a:bodyPr wrap="square" lIns="0" tIns="0" rIns="0" bIns="0" rtlCol="0" anchor="ctr"/>
          <a:lstStyle/>
          <a:p>
            <a:pPr marL="0" indent="0">
              <a:buNone/>
            </a:pPr>
            <a:r>
              <a:rPr lang="en-US" sz="1200" b="1" dirty="0">
                <a:solidFill>
                  <a:srgbClr val="E8ECF1"/>
                </a:solidFill>
                <a:latin typeface="Calibri" pitchFamily="34" charset="0"/>
                <a:ea typeface="Calibri" pitchFamily="34" charset="-122"/>
                <a:cs typeface="Calibri" pitchFamily="34" charset="-120"/>
              </a:rPr>
              <a:t>Final Ranges and Equity Visualization</a:t>
            </a:r>
            <a:endParaRPr lang="en-US" sz="1200" dirty="0"/>
          </a:p>
        </p:txBody>
      </p:sp>
      <p:sp>
        <p:nvSpPr>
          <p:cNvPr id="49" name="Text 2">
            <a:extLst>
              <a:ext uri="{FF2B5EF4-FFF2-40B4-BE49-F238E27FC236}">
                <a16:creationId xmlns:a16="http://schemas.microsoft.com/office/drawing/2014/main" id="{1F73FC3F-53E1-A513-E937-4FF1D9D49CDB}"/>
              </a:ext>
            </a:extLst>
          </p:cNvPr>
          <p:cNvSpPr/>
          <p:nvPr/>
        </p:nvSpPr>
        <p:spPr>
          <a:xfrm>
            <a:off x="2531684" y="2406831"/>
            <a:ext cx="2683798" cy="306614"/>
          </a:xfrm>
          <a:prstGeom prst="rect">
            <a:avLst/>
          </a:prstGeom>
          <a:noFill/>
          <a:ln/>
        </p:spPr>
        <p:txBody>
          <a:bodyPr wrap="square" lIns="0" tIns="0" rIns="0" bIns="0" rtlCol="0" anchor="ctr"/>
          <a:lstStyle/>
          <a:p>
            <a:pPr marL="0" indent="0">
              <a:buNone/>
            </a:pPr>
            <a:r>
              <a:rPr lang="en-US" sz="1200" b="1" dirty="0">
                <a:solidFill>
                  <a:srgbClr val="E8ECF1"/>
                </a:solidFill>
                <a:latin typeface="Calibri" pitchFamily="34" charset="0"/>
                <a:ea typeface="Calibri" pitchFamily="34" charset="-122"/>
                <a:cs typeface="Calibri" pitchFamily="34" charset="-120"/>
              </a:rPr>
              <a:t>Final Data Visualization</a:t>
            </a:r>
            <a:endParaRPr lang="en-US" sz="1200" dirty="0"/>
          </a:p>
        </p:txBody>
      </p:sp>
    </p:spTree>
    <p:extLst>
      <p:ext uri="{BB962C8B-B14F-4D97-AF65-F5344CB8AC3E}">
        <p14:creationId xmlns:p14="http://schemas.microsoft.com/office/powerpoint/2010/main" val="654581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531" y="164592"/>
            <a:ext cx="9144000" cy="640080"/>
          </a:xfrm>
          <a:prstGeom prst="rect">
            <a:avLst/>
          </a:prstGeom>
          <a:solidFill>
            <a:srgbClr val="1B2A3B"/>
          </a:solidFill>
          <a:ln w="12700">
            <a:solidFill>
              <a:srgbClr val="1B2A3B"/>
            </a:solidFill>
            <a:prstDash val="solid"/>
          </a:ln>
        </p:spPr>
        <p:txBody>
          <a:bodyPr/>
          <a:lstStyle/>
          <a:p>
            <a:endParaRPr lang="en-IN"/>
          </a:p>
        </p:txBody>
      </p:sp>
      <p:sp>
        <p:nvSpPr>
          <p:cNvPr id="3" name="Shape 1"/>
          <p:cNvSpPr/>
          <p:nvPr/>
        </p:nvSpPr>
        <p:spPr>
          <a:xfrm>
            <a:off x="274320" y="256032"/>
            <a:ext cx="54864" cy="457200"/>
          </a:xfrm>
          <a:prstGeom prst="rect">
            <a:avLst/>
          </a:prstGeom>
          <a:solidFill>
            <a:srgbClr val="E2A84B"/>
          </a:solidFill>
          <a:ln w="12700">
            <a:solidFill>
              <a:srgbClr val="E2A84B"/>
            </a:solidFill>
            <a:prstDash val="solid"/>
          </a:ln>
        </p:spPr>
        <p:txBody>
          <a:bodyPr/>
          <a:lstStyle/>
          <a:p>
            <a:endParaRPr lang="en-IN"/>
          </a:p>
        </p:txBody>
      </p:sp>
      <p:sp>
        <p:nvSpPr>
          <p:cNvPr id="4" name="Text 2"/>
          <p:cNvSpPr/>
          <p:nvPr/>
        </p:nvSpPr>
        <p:spPr>
          <a:xfrm>
            <a:off x="457200" y="256032"/>
            <a:ext cx="8321040" cy="457200"/>
          </a:xfrm>
          <a:prstGeom prst="rect">
            <a:avLst/>
          </a:prstGeom>
          <a:noFill/>
          <a:ln/>
        </p:spPr>
        <p:txBody>
          <a:bodyPr wrap="square" lIns="0" tIns="0" rIns="0" bIns="0" rtlCol="0" anchor="ctr"/>
          <a:lstStyle/>
          <a:p>
            <a:pPr marL="0" indent="0" algn="l">
              <a:buNone/>
            </a:pPr>
            <a:r>
              <a:rPr lang="en-US" sz="2100" b="1" dirty="0">
                <a:solidFill>
                  <a:srgbClr val="F0F4F8"/>
                </a:solidFill>
                <a:latin typeface="Calibri" pitchFamily="34" charset="0"/>
                <a:ea typeface="Calibri" pitchFamily="34" charset="-122"/>
                <a:cs typeface="Calibri" pitchFamily="34" charset="-120"/>
              </a:rPr>
              <a:t>Raising Strategy - Street-by-Street</a:t>
            </a:r>
            <a:endParaRPr lang="en-US" sz="2100" dirty="0"/>
          </a:p>
        </p:txBody>
      </p:sp>
      <p:sp>
        <p:nvSpPr>
          <p:cNvPr id="8" name="Shape 3"/>
          <p:cNvSpPr/>
          <p:nvPr/>
        </p:nvSpPr>
        <p:spPr>
          <a:xfrm>
            <a:off x="320040" y="3108960"/>
            <a:ext cx="2880360" cy="256032"/>
          </a:xfrm>
          <a:prstGeom prst="rect">
            <a:avLst/>
          </a:prstGeom>
          <a:solidFill>
            <a:srgbClr val="1DB8C7"/>
          </a:solidFill>
          <a:ln w="12700">
            <a:solidFill>
              <a:srgbClr val="1DB8C7"/>
            </a:solidFill>
            <a:prstDash val="solid"/>
          </a:ln>
        </p:spPr>
        <p:txBody>
          <a:bodyPr/>
          <a:lstStyle/>
          <a:p>
            <a:endParaRPr lang="en-IN"/>
          </a:p>
        </p:txBody>
      </p:sp>
      <p:sp>
        <p:nvSpPr>
          <p:cNvPr id="9" name="Text 4"/>
          <p:cNvSpPr/>
          <p:nvPr/>
        </p:nvSpPr>
        <p:spPr>
          <a:xfrm>
            <a:off x="374904" y="3136392"/>
            <a:ext cx="2788920" cy="201168"/>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Pre-Flop</a:t>
            </a:r>
            <a:endParaRPr lang="en-US" sz="1000" dirty="0"/>
          </a:p>
        </p:txBody>
      </p:sp>
      <p:sp>
        <p:nvSpPr>
          <p:cNvPr id="10" name="Shape 5"/>
          <p:cNvSpPr/>
          <p:nvPr/>
        </p:nvSpPr>
        <p:spPr>
          <a:xfrm>
            <a:off x="3314700" y="3094047"/>
            <a:ext cx="2880360" cy="256032"/>
          </a:xfrm>
          <a:prstGeom prst="rect">
            <a:avLst/>
          </a:prstGeom>
          <a:solidFill>
            <a:srgbClr val="E05C5C"/>
          </a:solidFill>
          <a:ln w="12700">
            <a:solidFill>
              <a:srgbClr val="E05C5C"/>
            </a:solidFill>
            <a:prstDash val="solid"/>
          </a:ln>
        </p:spPr>
        <p:txBody>
          <a:bodyPr/>
          <a:lstStyle/>
          <a:p>
            <a:endParaRPr lang="en-IN"/>
          </a:p>
        </p:txBody>
      </p:sp>
      <p:sp>
        <p:nvSpPr>
          <p:cNvPr id="11" name="Text 6"/>
          <p:cNvSpPr/>
          <p:nvPr/>
        </p:nvSpPr>
        <p:spPr>
          <a:xfrm>
            <a:off x="3392424" y="3136392"/>
            <a:ext cx="2788920" cy="201168"/>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River</a:t>
            </a:r>
            <a:endParaRPr lang="en-US" sz="1000" dirty="0"/>
          </a:p>
        </p:txBody>
      </p:sp>
      <p:sp>
        <p:nvSpPr>
          <p:cNvPr id="12" name="Shape 7"/>
          <p:cNvSpPr/>
          <p:nvPr/>
        </p:nvSpPr>
        <p:spPr>
          <a:xfrm>
            <a:off x="6309360" y="3108960"/>
            <a:ext cx="2514600" cy="256032"/>
          </a:xfrm>
          <a:prstGeom prst="rect">
            <a:avLst/>
          </a:prstGeom>
          <a:solidFill>
            <a:srgbClr val="E2A84B"/>
          </a:solidFill>
          <a:ln w="12700">
            <a:solidFill>
              <a:srgbClr val="E2A84B"/>
            </a:solidFill>
            <a:prstDash val="solid"/>
          </a:ln>
        </p:spPr>
        <p:txBody>
          <a:bodyPr/>
          <a:lstStyle/>
          <a:p>
            <a:endParaRPr lang="en-IN"/>
          </a:p>
        </p:txBody>
      </p:sp>
      <p:sp>
        <p:nvSpPr>
          <p:cNvPr id="13" name="Text 8"/>
          <p:cNvSpPr/>
          <p:nvPr/>
        </p:nvSpPr>
        <p:spPr>
          <a:xfrm>
            <a:off x="6364224" y="3136392"/>
            <a:ext cx="2423160" cy="201168"/>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Flop/Turn</a:t>
            </a:r>
            <a:endParaRPr lang="en-US" sz="1000" dirty="0"/>
          </a:p>
        </p:txBody>
      </p:sp>
      <p:sp>
        <p:nvSpPr>
          <p:cNvPr id="14" name="Shape 9"/>
          <p:cNvSpPr/>
          <p:nvPr/>
        </p:nvSpPr>
        <p:spPr>
          <a:xfrm>
            <a:off x="320040" y="3456432"/>
            <a:ext cx="8503920" cy="1572768"/>
          </a:xfrm>
          <a:prstGeom prst="rect">
            <a:avLst/>
          </a:prstGeom>
          <a:solidFill>
            <a:srgbClr val="1B2A3B"/>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a:p>
        </p:txBody>
      </p:sp>
      <p:sp>
        <p:nvSpPr>
          <p:cNvPr id="15" name="Shape 10"/>
          <p:cNvSpPr/>
          <p:nvPr/>
        </p:nvSpPr>
        <p:spPr>
          <a:xfrm>
            <a:off x="320040" y="3456432"/>
            <a:ext cx="54864" cy="1572768"/>
          </a:xfrm>
          <a:prstGeom prst="rect">
            <a:avLst/>
          </a:prstGeom>
          <a:solidFill>
            <a:srgbClr val="E2A84B"/>
          </a:solidFill>
          <a:ln w="12700">
            <a:solidFill>
              <a:srgbClr val="E2A84B"/>
            </a:solidFill>
            <a:prstDash val="solid"/>
          </a:ln>
        </p:spPr>
        <p:txBody>
          <a:bodyPr/>
          <a:lstStyle/>
          <a:p>
            <a:endParaRPr lang="en-IN"/>
          </a:p>
        </p:txBody>
      </p:sp>
      <p:sp>
        <p:nvSpPr>
          <p:cNvPr id="16" name="Text 11"/>
          <p:cNvSpPr/>
          <p:nvPr/>
        </p:nvSpPr>
        <p:spPr>
          <a:xfrm>
            <a:off x="502920" y="3520440"/>
            <a:ext cx="8138160" cy="256032"/>
          </a:xfrm>
          <a:prstGeom prst="rect">
            <a:avLst/>
          </a:prstGeom>
          <a:noFill/>
          <a:ln/>
        </p:spPr>
        <p:txBody>
          <a:bodyPr wrap="square" lIns="0" tIns="0" rIns="0" bIns="0" rtlCol="0" anchor="ctr"/>
          <a:lstStyle/>
          <a:p>
            <a:pPr marL="0" indent="0">
              <a:buNone/>
            </a:pPr>
            <a:r>
              <a:rPr lang="en-US" sz="1100" b="1" dirty="0">
                <a:solidFill>
                  <a:srgbClr val="E2A84B"/>
                </a:solidFill>
                <a:latin typeface="Calibri" pitchFamily="34" charset="0"/>
                <a:ea typeface="Calibri" pitchFamily="34" charset="-122"/>
                <a:cs typeface="Calibri" pitchFamily="34" charset="-120"/>
              </a:rPr>
              <a:t>Raising Logic Summary</a:t>
            </a:r>
            <a:endParaRPr lang="en-US" sz="1100" dirty="0"/>
          </a:p>
        </p:txBody>
      </p:sp>
      <p:sp>
        <p:nvSpPr>
          <p:cNvPr id="17" name="Text 12"/>
          <p:cNvSpPr/>
          <p:nvPr/>
        </p:nvSpPr>
        <p:spPr>
          <a:xfrm>
            <a:off x="502920" y="3822192"/>
            <a:ext cx="8138160" cy="256032"/>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 Preflop: conservative with reraises, aggressive opens. Skip raise when adj &lt; 0.73 and already invested.</a:t>
            </a:r>
            <a:endParaRPr lang="en-US" sz="1000" dirty="0"/>
          </a:p>
        </p:txBody>
      </p:sp>
      <p:sp>
        <p:nvSpPr>
          <p:cNvPr id="18" name="Text 13"/>
          <p:cNvSpPr/>
          <p:nvPr/>
        </p:nvSpPr>
        <p:spPr>
          <a:xfrm>
            <a:off x="502920" y="4096512"/>
            <a:ext cx="8138160" cy="256032"/>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 Flop &amp; Turn: check-raise 22 - 30% with monsters.  Semi-bluff draws 55 - 90% pot. </a:t>
            </a:r>
            <a:endParaRPr lang="en-US" sz="1000" dirty="0"/>
          </a:p>
        </p:txBody>
      </p:sp>
      <p:sp>
        <p:nvSpPr>
          <p:cNvPr id="19" name="Text 14"/>
          <p:cNvSpPr/>
          <p:nvPr/>
        </p:nvSpPr>
        <p:spPr>
          <a:xfrm>
            <a:off x="502920" y="4370832"/>
            <a:ext cx="8138160" cy="256032"/>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 River: value bet 55–90% when adj &gt; 0.78. Precise 28–40% pot bets when we have opponent's card (info edge).</a:t>
            </a:r>
            <a:endParaRPr lang="en-US" sz="1000" dirty="0"/>
          </a:p>
        </p:txBody>
      </p:sp>
      <p:sp>
        <p:nvSpPr>
          <p:cNvPr id="20" name="Text 15"/>
          <p:cNvSpPr/>
          <p:nvPr/>
        </p:nvSpPr>
        <p:spPr>
          <a:xfrm>
            <a:off x="502920" y="4645152"/>
            <a:ext cx="8138160" cy="256032"/>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 Info guard: no reraise on flop/turn when info-advantaged, unless set / flush / straight with eq &gt; 0.85. </a:t>
            </a:r>
            <a:endParaRPr lang="en-US" sz="1000" dirty="0"/>
          </a:p>
        </p:txBody>
      </p:sp>
      <p:graphicFrame>
        <p:nvGraphicFramePr>
          <p:cNvPr id="21" name="Table 20">
            <a:extLst>
              <a:ext uri="{FF2B5EF4-FFF2-40B4-BE49-F238E27FC236}">
                <a16:creationId xmlns:a16="http://schemas.microsoft.com/office/drawing/2014/main" id="{8C2B0D73-6B3C-5CFA-7192-D155B45E86D0}"/>
              </a:ext>
            </a:extLst>
          </p:cNvPr>
          <p:cNvGraphicFramePr>
            <a:graphicFrameLocks noGrp="1"/>
          </p:cNvGraphicFramePr>
          <p:nvPr>
            <p:extLst>
              <p:ext uri="{D42A27DB-BD31-4B8C-83A1-F6EECF244321}">
                <p14:modId xmlns:p14="http://schemas.microsoft.com/office/powerpoint/2010/main" val="2920145316"/>
              </p:ext>
            </p:extLst>
          </p:nvPr>
        </p:nvGraphicFramePr>
        <p:xfrm>
          <a:off x="386907" y="1174168"/>
          <a:ext cx="2715769" cy="1524000"/>
        </p:xfrm>
        <a:graphic>
          <a:graphicData uri="http://schemas.openxmlformats.org/drawingml/2006/table">
            <a:tbl>
              <a:tblPr/>
              <a:tblGrid>
                <a:gridCol w="1018413">
                  <a:extLst>
                    <a:ext uri="{9D8B030D-6E8A-4147-A177-3AD203B41FA5}">
                      <a16:colId xmlns:a16="http://schemas.microsoft.com/office/drawing/2014/main" val="3225351336"/>
                    </a:ext>
                  </a:extLst>
                </a:gridCol>
                <a:gridCol w="848678">
                  <a:extLst>
                    <a:ext uri="{9D8B030D-6E8A-4147-A177-3AD203B41FA5}">
                      <a16:colId xmlns:a16="http://schemas.microsoft.com/office/drawing/2014/main" val="4126953009"/>
                    </a:ext>
                  </a:extLst>
                </a:gridCol>
                <a:gridCol w="848678">
                  <a:extLst>
                    <a:ext uri="{9D8B030D-6E8A-4147-A177-3AD203B41FA5}">
                      <a16:colId xmlns:a16="http://schemas.microsoft.com/office/drawing/2014/main" val="2943953374"/>
                    </a:ext>
                  </a:extLst>
                </a:gridCol>
              </a:tblGrid>
              <a:tr h="121811">
                <a:tc>
                  <a:txBody>
                    <a:bodyPr/>
                    <a:lstStyle/>
                    <a:p>
                      <a:pPr>
                        <a:buNone/>
                      </a:pPr>
                      <a:r>
                        <a:rPr lang="en-US" sz="800" dirty="0">
                          <a:solidFill>
                            <a:schemeClr val="bg1"/>
                          </a:solidFill>
                        </a:rPr>
                        <a:t>Condition</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a:buNone/>
                      </a:pPr>
                      <a:r>
                        <a:rPr lang="en-US" sz="800" dirty="0">
                          <a:solidFill>
                            <a:schemeClr val="bg1"/>
                          </a:solidFill>
                        </a:rPr>
                        <a:t>Action</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a:buNone/>
                      </a:pPr>
                      <a:r>
                        <a:rPr lang="en-US" sz="800">
                          <a:solidFill>
                            <a:schemeClr val="bg1"/>
                          </a:solidFill>
                        </a:rPr>
                        <a:t>Sizing</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extLst>
                  <a:ext uri="{0D108BD9-81ED-4DB2-BD59-A6C34878D82A}">
                    <a16:rowId xmlns:a16="http://schemas.microsoft.com/office/drawing/2014/main" val="1621805505"/>
                  </a:ext>
                </a:extLst>
              </a:tr>
              <a:tr h="121811">
                <a:tc>
                  <a:txBody>
                    <a:bodyPr/>
                    <a:lstStyle/>
                    <a:p>
                      <a:pPr>
                        <a:buNone/>
                      </a:pPr>
                      <a:r>
                        <a:rPr lang="en-US" sz="800">
                          <a:solidFill>
                            <a:schemeClr val="bg1"/>
                          </a:solidFill>
                        </a:rPr>
                        <a:t>Facing 3-bet (cost &gt; 600, adj &gt; 0.80)</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Raise</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2.0–3.0× pot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39942912"/>
                  </a:ext>
                </a:extLst>
              </a:tr>
              <a:tr h="121811">
                <a:tc>
                  <a:txBody>
                    <a:bodyPr/>
                    <a:lstStyle/>
                    <a:p>
                      <a:pPr>
                        <a:buNone/>
                      </a:pPr>
                      <a:r>
                        <a:rPr lang="en-US" sz="800" dirty="0">
                          <a:solidFill>
                            <a:schemeClr val="bg1"/>
                          </a:solidFill>
                        </a:rPr>
                        <a:t>adj &gt; 0.80</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Open raise</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3.0–4.5× pot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240347290"/>
                  </a:ext>
                </a:extLst>
              </a:tr>
              <a:tr h="121811">
                <a:tc>
                  <a:txBody>
                    <a:bodyPr/>
                    <a:lstStyle/>
                    <a:p>
                      <a:pPr>
                        <a:buNone/>
                      </a:pPr>
                      <a:r>
                        <a:rPr lang="en-US" sz="800">
                          <a:solidFill>
                            <a:schemeClr val="bg1"/>
                          </a:solidFill>
                        </a:rPr>
                        <a:t>adj &gt; 0.64, cost ≤ 20</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a:solidFill>
                            <a:schemeClr val="bg1"/>
                          </a:solidFill>
                        </a:rPr>
                        <a:t>Medium raise</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2.5–3.5× pot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3006924639"/>
                  </a:ext>
                </a:extLst>
              </a:tr>
              <a:tr h="121811">
                <a:tc>
                  <a:txBody>
                    <a:bodyPr/>
                    <a:lstStyle/>
                    <a:p>
                      <a:pPr>
                        <a:buNone/>
                      </a:pPr>
                      <a:r>
                        <a:rPr lang="en-US" sz="800">
                          <a:solidFill>
                            <a:schemeClr val="bg1"/>
                          </a:solidFill>
                        </a:rPr>
                        <a:t>adj &gt; 0.52, cost ≤ 20</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a:solidFill>
                            <a:schemeClr val="bg1"/>
                          </a:solidFill>
                        </a:rPr>
                        <a:t>Small raise</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2.0–3.0× pot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3479400493"/>
                  </a:ext>
                </a:extLst>
              </a:tr>
              <a:tr h="121811">
                <a:tc>
                  <a:txBody>
                    <a:bodyPr/>
                    <a:lstStyle/>
                    <a:p>
                      <a:pPr>
                        <a:buNone/>
                      </a:pPr>
                      <a:r>
                        <a:rPr lang="en-US" sz="800">
                          <a:solidFill>
                            <a:schemeClr val="bg1"/>
                          </a:solidFill>
                        </a:rPr>
                        <a:t>adj &lt; 0.73, already</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Skip raise</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 (lean toward calling)</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525819313"/>
                  </a:ext>
                </a:extLst>
              </a:tr>
            </a:tbl>
          </a:graphicData>
        </a:graphic>
      </p:graphicFrame>
      <p:graphicFrame>
        <p:nvGraphicFramePr>
          <p:cNvPr id="22" name="Table 21">
            <a:extLst>
              <a:ext uri="{FF2B5EF4-FFF2-40B4-BE49-F238E27FC236}">
                <a16:creationId xmlns:a16="http://schemas.microsoft.com/office/drawing/2014/main" id="{F0933C90-4158-3314-3DB2-0F26F596D58A}"/>
              </a:ext>
            </a:extLst>
          </p:cNvPr>
          <p:cNvGraphicFramePr>
            <a:graphicFrameLocks noGrp="1"/>
          </p:cNvGraphicFramePr>
          <p:nvPr>
            <p:extLst>
              <p:ext uri="{D42A27DB-BD31-4B8C-83A1-F6EECF244321}">
                <p14:modId xmlns:p14="http://schemas.microsoft.com/office/powerpoint/2010/main" val="3641733528"/>
              </p:ext>
            </p:extLst>
          </p:nvPr>
        </p:nvGraphicFramePr>
        <p:xfrm>
          <a:off x="3314700" y="1174168"/>
          <a:ext cx="2880361" cy="1767840"/>
        </p:xfrm>
        <a:graphic>
          <a:graphicData uri="http://schemas.openxmlformats.org/drawingml/2006/table">
            <a:tbl>
              <a:tblPr/>
              <a:tblGrid>
                <a:gridCol w="1080135">
                  <a:extLst>
                    <a:ext uri="{9D8B030D-6E8A-4147-A177-3AD203B41FA5}">
                      <a16:colId xmlns:a16="http://schemas.microsoft.com/office/drawing/2014/main" val="2623703101"/>
                    </a:ext>
                  </a:extLst>
                </a:gridCol>
                <a:gridCol w="900113">
                  <a:extLst>
                    <a:ext uri="{9D8B030D-6E8A-4147-A177-3AD203B41FA5}">
                      <a16:colId xmlns:a16="http://schemas.microsoft.com/office/drawing/2014/main" val="872297416"/>
                    </a:ext>
                  </a:extLst>
                </a:gridCol>
                <a:gridCol w="900113">
                  <a:extLst>
                    <a:ext uri="{9D8B030D-6E8A-4147-A177-3AD203B41FA5}">
                      <a16:colId xmlns:a16="http://schemas.microsoft.com/office/drawing/2014/main" val="1795533427"/>
                    </a:ext>
                  </a:extLst>
                </a:gridCol>
              </a:tblGrid>
              <a:tr h="188623">
                <a:tc>
                  <a:txBody>
                    <a:bodyPr/>
                    <a:lstStyle/>
                    <a:p>
                      <a:pPr>
                        <a:buNone/>
                      </a:pPr>
                      <a:r>
                        <a:rPr lang="en-US" sz="800" dirty="0">
                          <a:solidFill>
                            <a:schemeClr val="bg1"/>
                          </a:solidFill>
                        </a:rPr>
                        <a:t>Situation</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a:buNone/>
                      </a:pPr>
                      <a:r>
                        <a:rPr lang="en-US" sz="800">
                          <a:solidFill>
                            <a:schemeClr val="bg1"/>
                          </a:solidFill>
                        </a:rPr>
                        <a:t>Condition</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a:buNone/>
                      </a:pPr>
                      <a:r>
                        <a:rPr lang="en-US" sz="800">
                          <a:solidFill>
                            <a:schemeClr val="bg1"/>
                          </a:solidFill>
                        </a:rPr>
                        <a:t>Action</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extLst>
                  <a:ext uri="{0D108BD9-81ED-4DB2-BD59-A6C34878D82A}">
                    <a16:rowId xmlns:a16="http://schemas.microsoft.com/office/drawing/2014/main" val="2287184732"/>
                  </a:ext>
                </a:extLst>
              </a:tr>
              <a:tr h="296408">
                <a:tc>
                  <a:txBody>
                    <a:bodyPr/>
                    <a:lstStyle/>
                    <a:p>
                      <a:pPr>
                        <a:buNone/>
                      </a:pPr>
                      <a:r>
                        <a:rPr lang="en-US" sz="800" dirty="0">
                          <a:solidFill>
                            <a:schemeClr val="bg1"/>
                          </a:solidFill>
                        </a:rPr>
                        <a:t>Betting first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Has auction info + equity &gt; 52%</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Bet 28–40% pot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2151939912"/>
                  </a:ext>
                </a:extLst>
              </a:tr>
              <a:tr h="188623">
                <a:tc>
                  <a:txBody>
                    <a:bodyPr/>
                    <a:lstStyle/>
                    <a:p>
                      <a:pPr>
                        <a:buNone/>
                      </a:pPr>
                      <a:r>
                        <a:rPr lang="en-US" sz="800">
                          <a:solidFill>
                            <a:schemeClr val="bg1"/>
                          </a:solidFill>
                        </a:rPr>
                        <a:t>Betting first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Equity &gt; 78%</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Bet 55–90% pot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2623849401"/>
                  </a:ext>
                </a:extLst>
              </a:tr>
              <a:tr h="188623">
                <a:tc>
                  <a:txBody>
                    <a:bodyPr/>
                    <a:lstStyle/>
                    <a:p>
                      <a:pPr>
                        <a:buNone/>
                      </a:pPr>
                      <a:r>
                        <a:rPr lang="en-US" sz="800">
                          <a:solidFill>
                            <a:schemeClr val="bg1"/>
                          </a:solidFill>
                        </a:rPr>
                        <a:t>Betting first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a:solidFill>
                            <a:schemeClr val="bg1"/>
                          </a:solidFill>
                        </a:rPr>
                        <a:t>Equity &gt; 62%</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Bet 40–65% pot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3258354611"/>
                  </a:ext>
                </a:extLst>
              </a:tr>
              <a:tr h="296408">
                <a:tc>
                  <a:txBody>
                    <a:bodyPr/>
                    <a:lstStyle/>
                    <a:p>
                      <a:pPr>
                        <a:buNone/>
                      </a:pPr>
                      <a:r>
                        <a:rPr lang="en-US" sz="800">
                          <a:solidFill>
                            <a:schemeClr val="bg1"/>
                          </a:solidFill>
                        </a:rPr>
                        <a:t>Betting first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a:solidFill>
                            <a:schemeClr val="bg1"/>
                          </a:solidFill>
                        </a:rPr>
                        <a:t>Equity &lt; 42%</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Bluff 55–80% pot (rare)</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753171312"/>
                  </a:ext>
                </a:extLst>
              </a:tr>
              <a:tr h="296408">
                <a:tc>
                  <a:txBody>
                    <a:bodyPr/>
                    <a:lstStyle/>
                    <a:p>
                      <a:pPr>
                        <a:buNone/>
                      </a:pPr>
                      <a:r>
                        <a:rPr lang="en-US" sz="800" dirty="0">
                          <a:solidFill>
                            <a:schemeClr val="bg1"/>
                          </a:solidFill>
                        </a:rPr>
                        <a:t>Facing a bet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a:solidFill>
                            <a:schemeClr val="bg1"/>
                          </a:solidFill>
                        </a:rPr>
                        <a:t>Equity &gt; 88%, no info disadvantage</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800" dirty="0">
                          <a:solidFill>
                            <a:schemeClr val="bg1"/>
                          </a:solidFill>
                        </a:rPr>
                        <a:t>Re-raise 2.8–4.5× bet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2700765167"/>
                  </a:ext>
                </a:extLst>
              </a:tr>
            </a:tbl>
          </a:graphicData>
        </a:graphic>
      </p:graphicFrame>
      <p:graphicFrame>
        <p:nvGraphicFramePr>
          <p:cNvPr id="23" name="Table 22">
            <a:extLst>
              <a:ext uri="{FF2B5EF4-FFF2-40B4-BE49-F238E27FC236}">
                <a16:creationId xmlns:a16="http://schemas.microsoft.com/office/drawing/2014/main" id="{602AEF81-39C4-0E84-0209-DA786F93425D}"/>
              </a:ext>
            </a:extLst>
          </p:cNvPr>
          <p:cNvGraphicFramePr>
            <a:graphicFrameLocks noGrp="1"/>
          </p:cNvGraphicFramePr>
          <p:nvPr>
            <p:extLst>
              <p:ext uri="{D42A27DB-BD31-4B8C-83A1-F6EECF244321}">
                <p14:modId xmlns:p14="http://schemas.microsoft.com/office/powerpoint/2010/main" val="4001964484"/>
              </p:ext>
            </p:extLst>
          </p:nvPr>
        </p:nvGraphicFramePr>
        <p:xfrm>
          <a:off x="6309360" y="1163718"/>
          <a:ext cx="2715769" cy="1837038"/>
        </p:xfrm>
        <a:graphic>
          <a:graphicData uri="http://schemas.openxmlformats.org/drawingml/2006/table">
            <a:tbl>
              <a:tblPr/>
              <a:tblGrid>
                <a:gridCol w="1018413">
                  <a:extLst>
                    <a:ext uri="{9D8B030D-6E8A-4147-A177-3AD203B41FA5}">
                      <a16:colId xmlns:a16="http://schemas.microsoft.com/office/drawing/2014/main" val="1632785492"/>
                    </a:ext>
                  </a:extLst>
                </a:gridCol>
                <a:gridCol w="848678">
                  <a:extLst>
                    <a:ext uri="{9D8B030D-6E8A-4147-A177-3AD203B41FA5}">
                      <a16:colId xmlns:a16="http://schemas.microsoft.com/office/drawing/2014/main" val="2139894149"/>
                    </a:ext>
                  </a:extLst>
                </a:gridCol>
                <a:gridCol w="848678">
                  <a:extLst>
                    <a:ext uri="{9D8B030D-6E8A-4147-A177-3AD203B41FA5}">
                      <a16:colId xmlns:a16="http://schemas.microsoft.com/office/drawing/2014/main" val="909605645"/>
                    </a:ext>
                  </a:extLst>
                </a:gridCol>
              </a:tblGrid>
              <a:tr h="144162">
                <a:tc>
                  <a:txBody>
                    <a:bodyPr/>
                    <a:lstStyle/>
                    <a:p>
                      <a:pPr>
                        <a:buNone/>
                      </a:pPr>
                      <a:r>
                        <a:rPr lang="en-US" sz="700" dirty="0">
                          <a:solidFill>
                            <a:schemeClr val="bg1"/>
                          </a:solidFill>
                        </a:rPr>
                        <a:t>Situation</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a:buNone/>
                      </a:pPr>
                      <a:r>
                        <a:rPr lang="en-US" sz="700">
                          <a:solidFill>
                            <a:schemeClr val="bg1"/>
                          </a:solidFill>
                        </a:rPr>
                        <a:t>Condition</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tc>
                  <a:txBody>
                    <a:bodyPr/>
                    <a:lstStyle/>
                    <a:p>
                      <a:pPr>
                        <a:buNone/>
                      </a:pPr>
                      <a:r>
                        <a:rPr lang="en-US" sz="700">
                          <a:solidFill>
                            <a:schemeClr val="bg1"/>
                          </a:solidFill>
                        </a:rPr>
                        <a:t>Action</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243447"/>
                    </a:solidFill>
                  </a:tcPr>
                </a:tc>
                <a:extLst>
                  <a:ext uri="{0D108BD9-81ED-4DB2-BD59-A6C34878D82A}">
                    <a16:rowId xmlns:a16="http://schemas.microsoft.com/office/drawing/2014/main" val="1608536806"/>
                  </a:ext>
                </a:extLst>
              </a:tr>
              <a:tr h="308919">
                <a:tc>
                  <a:txBody>
                    <a:bodyPr/>
                    <a:lstStyle/>
                    <a:p>
                      <a:pPr>
                        <a:buNone/>
                      </a:pPr>
                      <a:r>
                        <a:rPr lang="en-US" sz="700">
                          <a:solidFill>
                            <a:schemeClr val="bg1"/>
                          </a:solidFill>
                        </a:rPr>
                        <a:t>Facing a bet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a:solidFill>
                            <a:schemeClr val="bg1"/>
                          </a:solidFill>
                        </a:rPr>
                        <a:t>Equity &gt; 88%, monster hand</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a:solidFill>
                            <a:schemeClr val="bg1"/>
                          </a:solidFill>
                        </a:rPr>
                        <a:t>Check-raise 30% of the time (22%)</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437967445"/>
                  </a:ext>
                </a:extLst>
              </a:tr>
              <a:tr h="308919">
                <a:tc>
                  <a:txBody>
                    <a:bodyPr/>
                    <a:lstStyle/>
                    <a:p>
                      <a:pPr>
                        <a:buNone/>
                      </a:pPr>
                      <a:r>
                        <a:rPr lang="en-US" sz="700" dirty="0">
                          <a:solidFill>
                            <a:schemeClr val="bg1"/>
                          </a:solidFill>
                        </a:rPr>
                        <a:t>Facing a bet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dirty="0">
                          <a:solidFill>
                            <a:schemeClr val="bg1"/>
                          </a:solidFill>
                        </a:rPr>
                        <a:t>Equity &gt; 78%, info-reraise ok</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dirty="0">
                          <a:solidFill>
                            <a:schemeClr val="bg1"/>
                          </a:solidFill>
                        </a:rPr>
                        <a:t>Raise 2.8–4.0× bet (scaled down 15%)</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371371132"/>
                  </a:ext>
                </a:extLst>
              </a:tr>
              <a:tr h="226541">
                <a:tc>
                  <a:txBody>
                    <a:bodyPr/>
                    <a:lstStyle/>
                    <a:p>
                      <a:pPr>
                        <a:buNone/>
                      </a:pPr>
                      <a:r>
                        <a:rPr lang="en-US" sz="700">
                          <a:solidFill>
                            <a:schemeClr val="bg1"/>
                          </a:solidFill>
                        </a:rPr>
                        <a:t>Facing a bet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a:solidFill>
                            <a:schemeClr val="bg1"/>
                          </a:solidFill>
                        </a:rPr>
                        <a:t>Has info + non-monster hand</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a:solidFill>
                            <a:schemeClr val="bg1"/>
                          </a:solidFill>
                        </a:rPr>
                        <a:t>No reraise call/fold only</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1777906266"/>
                  </a:ext>
                </a:extLst>
              </a:tr>
              <a:tr h="226541">
                <a:tc>
                  <a:txBody>
                    <a:bodyPr/>
                    <a:lstStyle/>
                    <a:p>
                      <a:pPr>
                        <a:buNone/>
                      </a:pPr>
                      <a:r>
                        <a:rPr lang="en-US" sz="700">
                          <a:solidFill>
                            <a:schemeClr val="bg1"/>
                          </a:solidFill>
                        </a:rPr>
                        <a:t>Betting first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a:solidFill>
                            <a:schemeClr val="bg1"/>
                          </a:solidFill>
                        </a:rPr>
                        <a:t>Equity &gt; 96%</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a:solidFill>
                            <a:schemeClr val="bg1"/>
                          </a:solidFill>
                        </a:rPr>
                        <a:t>Slow-play check (4% of the time)</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4002518180"/>
                  </a:ext>
                </a:extLst>
              </a:tr>
              <a:tr h="308919">
                <a:tc>
                  <a:txBody>
                    <a:bodyPr/>
                    <a:lstStyle/>
                    <a:p>
                      <a:pPr>
                        <a:buNone/>
                      </a:pPr>
                      <a:r>
                        <a:rPr lang="en-US" sz="700">
                          <a:solidFill>
                            <a:schemeClr val="bg1"/>
                          </a:solidFill>
                        </a:rPr>
                        <a:t>Betting first</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a:solidFill>
                            <a:schemeClr val="bg1"/>
                          </a:solidFill>
                        </a:rPr>
                        <a:t>Equity &gt; 68%</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tc>
                  <a:txBody>
                    <a:bodyPr/>
                    <a:lstStyle/>
                    <a:p>
                      <a:pPr>
                        <a:buNone/>
                      </a:pPr>
                      <a:r>
                        <a:rPr lang="en-US" sz="700" dirty="0">
                          <a:solidFill>
                            <a:schemeClr val="bg1"/>
                          </a:solidFill>
                        </a:rPr>
                        <a:t>Bet 70–125% pot, larger if strong</a:t>
                      </a:r>
                    </a:p>
                  </a:txBody>
                  <a:tcPr anchor="ctr">
                    <a:lnL w="12700" cap="flat" cmpd="sng" algn="ctr">
                      <a:solidFill>
                        <a:srgbClr val="243447"/>
                      </a:solidFill>
                      <a:prstDash val="solid"/>
                      <a:round/>
                      <a:headEnd type="none" w="med" len="med"/>
                      <a:tailEnd type="none" w="med" len="med"/>
                    </a:lnL>
                    <a:lnR w="12700" cap="flat" cmpd="sng" algn="ctr">
                      <a:solidFill>
                        <a:srgbClr val="243447"/>
                      </a:solidFill>
                      <a:prstDash val="solid"/>
                      <a:round/>
                      <a:headEnd type="none" w="med" len="med"/>
                      <a:tailEnd type="none" w="med" len="med"/>
                    </a:lnR>
                    <a:lnT w="12700" cap="flat" cmpd="sng" algn="ctr">
                      <a:solidFill>
                        <a:srgbClr val="243447"/>
                      </a:solidFill>
                      <a:prstDash val="solid"/>
                      <a:round/>
                      <a:headEnd type="none" w="med" len="med"/>
                      <a:tailEnd type="none" w="med" len="med"/>
                    </a:lnT>
                    <a:lnB w="12700" cap="flat" cmpd="sng" algn="ctr">
                      <a:solidFill>
                        <a:srgbClr val="243447"/>
                      </a:solidFill>
                      <a:prstDash val="solid"/>
                      <a:round/>
                      <a:headEnd type="none" w="med" len="med"/>
                      <a:tailEnd type="none" w="med" len="med"/>
                    </a:lnB>
                    <a:solidFill>
                      <a:srgbClr val="1B2A3B"/>
                    </a:solidFill>
                  </a:tcPr>
                </a:tc>
                <a:extLst>
                  <a:ext uri="{0D108BD9-81ED-4DB2-BD59-A6C34878D82A}">
                    <a16:rowId xmlns:a16="http://schemas.microsoft.com/office/drawing/2014/main" val="238356046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164592"/>
            <a:ext cx="9144000" cy="640080"/>
          </a:xfrm>
          <a:prstGeom prst="rect">
            <a:avLst/>
          </a:prstGeom>
          <a:solidFill>
            <a:srgbClr val="1B2A3B"/>
          </a:solidFill>
          <a:ln w="12700">
            <a:solidFill>
              <a:srgbClr val="1B2A3B"/>
            </a:solidFill>
            <a:prstDash val="solid"/>
          </a:ln>
        </p:spPr>
        <p:txBody>
          <a:bodyPr/>
          <a:lstStyle/>
          <a:p>
            <a:endParaRPr lang="en-IN"/>
          </a:p>
        </p:txBody>
      </p:sp>
      <p:sp>
        <p:nvSpPr>
          <p:cNvPr id="3" name="Shape 1"/>
          <p:cNvSpPr/>
          <p:nvPr/>
        </p:nvSpPr>
        <p:spPr>
          <a:xfrm>
            <a:off x="274320" y="256032"/>
            <a:ext cx="54864" cy="457200"/>
          </a:xfrm>
          <a:prstGeom prst="rect">
            <a:avLst/>
          </a:prstGeom>
          <a:solidFill>
            <a:srgbClr val="E2A84B"/>
          </a:solidFill>
          <a:ln w="12700">
            <a:solidFill>
              <a:srgbClr val="E2A84B"/>
            </a:solidFill>
            <a:prstDash val="solid"/>
          </a:ln>
        </p:spPr>
        <p:txBody>
          <a:bodyPr/>
          <a:lstStyle/>
          <a:p>
            <a:endParaRPr lang="en-IN"/>
          </a:p>
        </p:txBody>
      </p:sp>
      <p:sp>
        <p:nvSpPr>
          <p:cNvPr id="4" name="Text 2"/>
          <p:cNvSpPr/>
          <p:nvPr/>
        </p:nvSpPr>
        <p:spPr>
          <a:xfrm>
            <a:off x="457200" y="256032"/>
            <a:ext cx="8321040" cy="457200"/>
          </a:xfrm>
          <a:prstGeom prst="rect">
            <a:avLst/>
          </a:prstGeom>
          <a:noFill/>
          <a:ln/>
        </p:spPr>
        <p:txBody>
          <a:bodyPr wrap="square" lIns="0" tIns="0" rIns="0" bIns="0" rtlCol="0" anchor="ctr"/>
          <a:lstStyle/>
          <a:p>
            <a:pPr marL="0" indent="0" algn="l">
              <a:buNone/>
            </a:pPr>
            <a:r>
              <a:rPr lang="en-US" sz="2100" b="1" dirty="0">
                <a:solidFill>
                  <a:srgbClr val="F0F4F8"/>
                </a:solidFill>
                <a:latin typeface="Calibri" pitchFamily="34" charset="0"/>
                <a:ea typeface="Calibri" pitchFamily="34" charset="-122"/>
                <a:cs typeface="Calibri" pitchFamily="34" charset="-120"/>
              </a:rPr>
              <a:t>Tactical Exploits - Bluff Catching &amp; Slowplay</a:t>
            </a:r>
            <a:endParaRPr lang="en-US" sz="2100" dirty="0"/>
          </a:p>
        </p:txBody>
      </p:sp>
      <p:sp>
        <p:nvSpPr>
          <p:cNvPr id="6" name="Shape 3"/>
          <p:cNvSpPr/>
          <p:nvPr/>
        </p:nvSpPr>
        <p:spPr>
          <a:xfrm>
            <a:off x="320040" y="960120"/>
            <a:ext cx="4114800" cy="2395728"/>
          </a:xfrm>
          <a:prstGeom prst="rect">
            <a:avLst/>
          </a:prstGeom>
          <a:solidFill>
            <a:srgbClr val="1B2A3B"/>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a:p>
        </p:txBody>
      </p:sp>
      <p:sp>
        <p:nvSpPr>
          <p:cNvPr id="7" name="Shape 4"/>
          <p:cNvSpPr/>
          <p:nvPr/>
        </p:nvSpPr>
        <p:spPr>
          <a:xfrm>
            <a:off x="320040" y="960120"/>
            <a:ext cx="4114800" cy="310896"/>
          </a:xfrm>
          <a:prstGeom prst="rect">
            <a:avLst/>
          </a:prstGeom>
          <a:solidFill>
            <a:srgbClr val="E05C5C"/>
          </a:solidFill>
          <a:ln w="12700">
            <a:solidFill>
              <a:srgbClr val="E05C5C"/>
            </a:solidFill>
            <a:prstDash val="solid"/>
          </a:ln>
        </p:spPr>
        <p:txBody>
          <a:bodyPr/>
          <a:lstStyle/>
          <a:p>
            <a:endParaRPr lang="en-IN"/>
          </a:p>
        </p:txBody>
      </p:sp>
      <p:sp>
        <p:nvSpPr>
          <p:cNvPr id="8" name="Text 5"/>
          <p:cNvSpPr/>
          <p:nvPr/>
        </p:nvSpPr>
        <p:spPr>
          <a:xfrm>
            <a:off x="411480" y="996696"/>
            <a:ext cx="393192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BLUFF CATCHING vs. OVERBETS</a:t>
            </a:r>
            <a:endParaRPr lang="en-US" sz="1100" dirty="0"/>
          </a:p>
        </p:txBody>
      </p:sp>
      <p:sp>
        <p:nvSpPr>
          <p:cNvPr id="9" name="Text 6"/>
          <p:cNvSpPr/>
          <p:nvPr/>
        </p:nvSpPr>
        <p:spPr>
          <a:xfrm>
            <a:off x="457200" y="1335024"/>
            <a:ext cx="3840480" cy="164592"/>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Overbets (&gt;3× pot) are statistically polarised — nearly</a:t>
            </a:r>
            <a:endParaRPr lang="en-US" sz="1000" dirty="0"/>
          </a:p>
        </p:txBody>
      </p:sp>
      <p:sp>
        <p:nvSpPr>
          <p:cNvPr id="10" name="Text 7"/>
          <p:cNvSpPr/>
          <p:nvPr/>
        </p:nvSpPr>
        <p:spPr>
          <a:xfrm>
            <a:off x="457200" y="1499616"/>
            <a:ext cx="3840480" cy="164592"/>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always either a bluff or the nuts.</a:t>
            </a:r>
            <a:endParaRPr lang="en-US" sz="1000" dirty="0"/>
          </a:p>
        </p:txBody>
      </p:sp>
      <p:sp>
        <p:nvSpPr>
          <p:cNvPr id="11" name="Text 8"/>
          <p:cNvSpPr/>
          <p:nvPr/>
        </p:nvSpPr>
        <p:spPr>
          <a:xfrm>
            <a:off x="457200" y="1664208"/>
            <a:ext cx="3840480" cy="164592"/>
          </a:xfrm>
          <a:prstGeom prst="rect">
            <a:avLst/>
          </a:prstGeom>
          <a:noFill/>
          <a:ln/>
        </p:spPr>
        <p:txBody>
          <a:bodyPr wrap="square" lIns="0" tIns="0" rIns="0" bIns="0" rtlCol="0" anchor="ctr"/>
          <a:lstStyle/>
          <a:p>
            <a:pPr marL="0" indent="0">
              <a:buNone/>
            </a:pPr>
            <a:endParaRPr lang="en-US" sz="1000" dirty="0"/>
          </a:p>
        </p:txBody>
      </p:sp>
      <p:sp>
        <p:nvSpPr>
          <p:cNvPr id="12" name="Text 9"/>
          <p:cNvSpPr/>
          <p:nvPr/>
        </p:nvSpPr>
        <p:spPr>
          <a:xfrm>
            <a:off x="457200" y="1828800"/>
            <a:ext cx="3840480" cy="164592"/>
          </a:xfrm>
          <a:prstGeom prst="rect">
            <a:avLst/>
          </a:prstGeom>
          <a:noFill/>
          <a:ln/>
        </p:spPr>
        <p:txBody>
          <a:bodyPr wrap="square" lIns="0" tIns="0" rIns="0" bIns="0" rtlCol="0" anchor="ctr"/>
          <a:lstStyle/>
          <a:p>
            <a:pPr marL="0" indent="0">
              <a:buNone/>
            </a:pPr>
            <a:r>
              <a:rPr lang="en-US" sz="1000" dirty="0">
                <a:solidFill>
                  <a:srgbClr val="E2A84B"/>
                </a:solidFill>
                <a:latin typeface="Calibri" pitchFamily="34" charset="0"/>
                <a:ea typeface="Calibri" pitchFamily="34" charset="-122"/>
                <a:cs typeface="Calibri" pitchFamily="34" charset="-120"/>
              </a:rPr>
              <a:t>Strong hands (set / two pair / flush / straight):</a:t>
            </a:r>
            <a:endParaRPr lang="en-US" sz="1000" dirty="0"/>
          </a:p>
        </p:txBody>
      </p:sp>
      <p:sp>
        <p:nvSpPr>
          <p:cNvPr id="13" name="Text 10"/>
          <p:cNvSpPr/>
          <p:nvPr/>
        </p:nvSpPr>
        <p:spPr>
          <a:xfrm>
            <a:off x="457200" y="1993392"/>
            <a:ext cx="3840480" cy="164592"/>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  22% call freq  →  30% for extreme bets (&gt;8×)</a:t>
            </a:r>
            <a:endParaRPr lang="en-US" sz="1000" dirty="0"/>
          </a:p>
        </p:txBody>
      </p:sp>
      <p:sp>
        <p:nvSpPr>
          <p:cNvPr id="14" name="Text 11"/>
          <p:cNvSpPr/>
          <p:nvPr/>
        </p:nvSpPr>
        <p:spPr>
          <a:xfrm>
            <a:off x="457200" y="2157984"/>
            <a:ext cx="3840480" cy="164592"/>
          </a:xfrm>
          <a:prstGeom prst="rect">
            <a:avLst/>
          </a:prstGeom>
          <a:noFill/>
          <a:ln/>
        </p:spPr>
        <p:txBody>
          <a:bodyPr wrap="square" lIns="0" tIns="0" rIns="0" bIns="0" rtlCol="0" anchor="ctr"/>
          <a:lstStyle/>
          <a:p>
            <a:pPr marL="0" indent="0">
              <a:buNone/>
            </a:pPr>
            <a:endParaRPr lang="en-US" sz="1000" dirty="0"/>
          </a:p>
        </p:txBody>
      </p:sp>
      <p:sp>
        <p:nvSpPr>
          <p:cNvPr id="15" name="Text 12"/>
          <p:cNvSpPr/>
          <p:nvPr/>
        </p:nvSpPr>
        <p:spPr>
          <a:xfrm>
            <a:off x="457200" y="2322576"/>
            <a:ext cx="3840480" cy="164592"/>
          </a:xfrm>
          <a:prstGeom prst="rect">
            <a:avLst/>
          </a:prstGeom>
          <a:noFill/>
          <a:ln/>
        </p:spPr>
        <p:txBody>
          <a:bodyPr wrap="square" lIns="0" tIns="0" rIns="0" bIns="0" rtlCol="0" anchor="ctr"/>
          <a:lstStyle/>
          <a:p>
            <a:pPr marL="0" indent="0">
              <a:buNone/>
            </a:pPr>
            <a:r>
              <a:rPr lang="en-US" sz="1000" dirty="0">
                <a:solidFill>
                  <a:srgbClr val="E2A84B"/>
                </a:solidFill>
                <a:latin typeface="Calibri" pitchFamily="34" charset="0"/>
                <a:ea typeface="Calibri" pitchFamily="34" charset="-122"/>
                <a:cs typeface="Calibri" pitchFamily="34" charset="-120"/>
              </a:rPr>
              <a:t>Medium hands (mid pair / </a:t>
            </a:r>
            <a:r>
              <a:rPr lang="en-US" sz="1000" dirty="0" err="1">
                <a:solidFill>
                  <a:srgbClr val="E2A84B"/>
                </a:solidFill>
                <a:latin typeface="Calibri" pitchFamily="34" charset="0"/>
                <a:ea typeface="Calibri" pitchFamily="34" charset="-122"/>
                <a:cs typeface="Calibri" pitchFamily="34" charset="-120"/>
              </a:rPr>
              <a:t>underpair</a:t>
            </a:r>
            <a:r>
              <a:rPr lang="en-US" sz="1000" dirty="0">
                <a:solidFill>
                  <a:srgbClr val="E2A84B"/>
                </a:solidFill>
                <a:latin typeface="Calibri" pitchFamily="34" charset="0"/>
                <a:ea typeface="Calibri" pitchFamily="34" charset="-122"/>
                <a:cs typeface="Calibri" pitchFamily="34" charset="-120"/>
              </a:rPr>
              <a:t>):</a:t>
            </a:r>
            <a:endParaRPr lang="en-US" sz="1000" dirty="0"/>
          </a:p>
        </p:txBody>
      </p:sp>
      <p:sp>
        <p:nvSpPr>
          <p:cNvPr id="16" name="Text 13"/>
          <p:cNvSpPr/>
          <p:nvPr/>
        </p:nvSpPr>
        <p:spPr>
          <a:xfrm>
            <a:off x="457200" y="2487168"/>
            <a:ext cx="3840480" cy="164592"/>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  10% call freq  →  15% for extreme bets (&gt;8×)</a:t>
            </a:r>
            <a:endParaRPr lang="en-US" sz="1000" dirty="0"/>
          </a:p>
        </p:txBody>
      </p:sp>
      <p:sp>
        <p:nvSpPr>
          <p:cNvPr id="17" name="Text 14"/>
          <p:cNvSpPr/>
          <p:nvPr/>
        </p:nvSpPr>
        <p:spPr>
          <a:xfrm>
            <a:off x="457200" y="2651760"/>
            <a:ext cx="3840480" cy="164592"/>
          </a:xfrm>
          <a:prstGeom prst="rect">
            <a:avLst/>
          </a:prstGeom>
          <a:noFill/>
          <a:ln/>
        </p:spPr>
        <p:txBody>
          <a:bodyPr wrap="square" lIns="0" tIns="0" rIns="0" bIns="0" rtlCol="0" anchor="ctr"/>
          <a:lstStyle/>
          <a:p>
            <a:pPr marL="0" indent="0">
              <a:buNone/>
            </a:pPr>
            <a:endParaRPr lang="en-US" sz="1000" dirty="0"/>
          </a:p>
        </p:txBody>
      </p:sp>
      <p:sp>
        <p:nvSpPr>
          <p:cNvPr id="18" name="Text 15"/>
          <p:cNvSpPr/>
          <p:nvPr/>
        </p:nvSpPr>
        <p:spPr>
          <a:xfrm>
            <a:off x="457200" y="2816352"/>
            <a:ext cx="3840480" cy="164592"/>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Randomisation prevents opponent from ever knowing</a:t>
            </a:r>
            <a:endParaRPr lang="en-US" sz="1000" dirty="0"/>
          </a:p>
        </p:txBody>
      </p:sp>
      <p:sp>
        <p:nvSpPr>
          <p:cNvPr id="19" name="Text 16"/>
          <p:cNvSpPr/>
          <p:nvPr/>
        </p:nvSpPr>
        <p:spPr>
          <a:xfrm>
            <a:off x="457200" y="2980944"/>
            <a:ext cx="3840480" cy="164592"/>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if an overbet will be called — forces honest sizing.</a:t>
            </a:r>
            <a:endParaRPr lang="en-US" sz="1000" dirty="0"/>
          </a:p>
        </p:txBody>
      </p:sp>
      <p:sp>
        <p:nvSpPr>
          <p:cNvPr id="20" name="Shape 17"/>
          <p:cNvSpPr/>
          <p:nvPr/>
        </p:nvSpPr>
        <p:spPr>
          <a:xfrm>
            <a:off x="320040" y="3474720"/>
            <a:ext cx="4114800" cy="1554480"/>
          </a:xfrm>
          <a:prstGeom prst="rect">
            <a:avLst/>
          </a:prstGeom>
          <a:solidFill>
            <a:srgbClr val="1B2A3B"/>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a:p>
        </p:txBody>
      </p:sp>
      <p:sp>
        <p:nvSpPr>
          <p:cNvPr id="21" name="Shape 18"/>
          <p:cNvSpPr/>
          <p:nvPr/>
        </p:nvSpPr>
        <p:spPr>
          <a:xfrm>
            <a:off x="320040" y="3474720"/>
            <a:ext cx="4114800" cy="310896"/>
          </a:xfrm>
          <a:prstGeom prst="rect">
            <a:avLst/>
          </a:prstGeom>
          <a:solidFill>
            <a:srgbClr val="E2A84B"/>
          </a:solidFill>
          <a:ln w="12700">
            <a:solidFill>
              <a:srgbClr val="E2A84B"/>
            </a:solidFill>
            <a:prstDash val="solid"/>
          </a:ln>
        </p:spPr>
        <p:txBody>
          <a:bodyPr/>
          <a:lstStyle/>
          <a:p>
            <a:endParaRPr lang="en-IN"/>
          </a:p>
        </p:txBody>
      </p:sp>
      <p:sp>
        <p:nvSpPr>
          <p:cNvPr id="22" name="Text 19"/>
          <p:cNvSpPr/>
          <p:nvPr/>
        </p:nvSpPr>
        <p:spPr>
          <a:xfrm>
            <a:off x="411480" y="3511296"/>
            <a:ext cx="3931920" cy="237744"/>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SLOWPLAY TRAP (4% Check-Induction)</a:t>
            </a:r>
            <a:endParaRPr lang="en-US" sz="1100" dirty="0"/>
          </a:p>
        </p:txBody>
      </p:sp>
      <p:sp>
        <p:nvSpPr>
          <p:cNvPr id="23" name="Shape 20"/>
          <p:cNvSpPr/>
          <p:nvPr/>
        </p:nvSpPr>
        <p:spPr>
          <a:xfrm>
            <a:off x="457200" y="3858768"/>
            <a:ext cx="3749040" cy="457200"/>
          </a:xfrm>
          <a:prstGeom prst="rect">
            <a:avLst/>
          </a:prstGeom>
          <a:solidFill>
            <a:srgbClr val="0E1A0E"/>
          </a:solidFill>
          <a:ln w="12700">
            <a:solidFill>
              <a:srgbClr val="243447"/>
            </a:solidFill>
            <a:prstDash val="solid"/>
          </a:ln>
          <a:effectLst>
            <a:outerShdw blurRad="101600" dist="38100" dir="8100000" algn="bl" rotWithShape="0">
              <a:srgbClr val="000000">
                <a:alpha val="28000"/>
              </a:srgbClr>
            </a:outerShdw>
          </a:effectLst>
        </p:spPr>
        <p:txBody>
          <a:bodyPr/>
          <a:lstStyle/>
          <a:p>
            <a:endParaRPr lang="en-IN"/>
          </a:p>
        </p:txBody>
      </p:sp>
      <p:sp>
        <p:nvSpPr>
          <p:cNvPr id="24" name="Text 21"/>
          <p:cNvSpPr/>
          <p:nvPr/>
        </p:nvSpPr>
        <p:spPr>
          <a:xfrm>
            <a:off x="548640" y="3913632"/>
            <a:ext cx="3566160" cy="347472"/>
          </a:xfrm>
          <a:prstGeom prst="rect">
            <a:avLst/>
          </a:prstGeom>
          <a:noFill/>
          <a:ln/>
        </p:spPr>
        <p:txBody>
          <a:bodyPr wrap="square" lIns="0" tIns="0" rIns="0" bIns="0" rtlCol="0" anchor="ctr"/>
          <a:lstStyle/>
          <a:p>
            <a:pPr marL="0" indent="0">
              <a:buNone/>
            </a:pPr>
            <a:r>
              <a:rPr lang="en-US" sz="950" dirty="0">
                <a:solidFill>
                  <a:srgbClr val="4EBF8E"/>
                </a:solidFill>
                <a:latin typeface="Courier New" pitchFamily="34" charset="0"/>
                <a:ea typeface="Courier New" pitchFamily="34" charset="-122"/>
                <a:cs typeface="Courier New" pitchFamily="34" charset="-120"/>
              </a:rPr>
              <a:t>if adj &gt; 0.96 and random.random() &lt; 0.04:</a:t>
            </a:r>
            <a:endParaRPr lang="en-US" sz="950" dirty="0"/>
          </a:p>
          <a:p>
            <a:pPr marL="0" indent="0">
              <a:buNone/>
            </a:pPr>
            <a:r>
              <a:rPr lang="en-US" sz="950" dirty="0">
                <a:solidFill>
                  <a:srgbClr val="4EBF8E"/>
                </a:solidFill>
                <a:latin typeface="Courier New" pitchFamily="34" charset="0"/>
                <a:ea typeface="Courier New" pitchFamily="34" charset="-122"/>
                <a:cs typeface="Courier New" pitchFamily="34" charset="-120"/>
              </a:rPr>
              <a:t>    return ActionCheck()  # trap — induce bluff</a:t>
            </a:r>
            <a:endParaRPr lang="en-US" sz="950" dirty="0"/>
          </a:p>
        </p:txBody>
      </p:sp>
      <p:sp>
        <p:nvSpPr>
          <p:cNvPr id="25" name="Text 22"/>
          <p:cNvSpPr/>
          <p:nvPr/>
        </p:nvSpPr>
        <p:spPr>
          <a:xfrm>
            <a:off x="457200" y="4370832"/>
            <a:ext cx="3840480" cy="502920"/>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Near-nut hands check 4% of the time to bait opponent bluffs, then call or check-raise.</a:t>
            </a:r>
            <a:endParaRPr lang="en-US" sz="1000" dirty="0"/>
          </a:p>
        </p:txBody>
      </p:sp>
      <p:sp>
        <p:nvSpPr>
          <p:cNvPr id="26" name="Shape 23"/>
          <p:cNvSpPr/>
          <p:nvPr/>
        </p:nvSpPr>
        <p:spPr>
          <a:xfrm>
            <a:off x="4572000" y="3474720"/>
            <a:ext cx="4251960" cy="1554480"/>
          </a:xfrm>
          <a:prstGeom prst="rect">
            <a:avLst/>
          </a:prstGeom>
          <a:solidFill>
            <a:srgbClr val="1A1A2E"/>
          </a:solidFill>
          <a:ln w="12700">
            <a:solidFill>
              <a:srgbClr val="1DB8C7"/>
            </a:solidFill>
            <a:prstDash val="solid"/>
          </a:ln>
          <a:effectLst>
            <a:outerShdw blurRad="101600" dist="38100" dir="8100000" algn="bl" rotWithShape="0">
              <a:srgbClr val="000000">
                <a:alpha val="28000"/>
              </a:srgbClr>
            </a:outerShdw>
          </a:effectLst>
        </p:spPr>
        <p:txBody>
          <a:bodyPr/>
          <a:lstStyle/>
          <a:p>
            <a:endParaRPr lang="en-IN"/>
          </a:p>
        </p:txBody>
      </p:sp>
      <p:sp>
        <p:nvSpPr>
          <p:cNvPr id="27" name="Shape 24"/>
          <p:cNvSpPr/>
          <p:nvPr/>
        </p:nvSpPr>
        <p:spPr>
          <a:xfrm>
            <a:off x="4572000" y="3474720"/>
            <a:ext cx="54864" cy="1554480"/>
          </a:xfrm>
          <a:prstGeom prst="rect">
            <a:avLst/>
          </a:prstGeom>
          <a:solidFill>
            <a:srgbClr val="1DB8C7"/>
          </a:solidFill>
          <a:ln w="12700">
            <a:solidFill>
              <a:srgbClr val="1DB8C7"/>
            </a:solidFill>
            <a:prstDash val="solid"/>
          </a:ln>
        </p:spPr>
        <p:txBody>
          <a:bodyPr/>
          <a:lstStyle/>
          <a:p>
            <a:endParaRPr lang="en-IN"/>
          </a:p>
        </p:txBody>
      </p:sp>
      <p:sp>
        <p:nvSpPr>
          <p:cNvPr id="28" name="Text 25"/>
          <p:cNvSpPr/>
          <p:nvPr/>
        </p:nvSpPr>
        <p:spPr>
          <a:xfrm>
            <a:off x="4736592" y="3538728"/>
            <a:ext cx="4005072" cy="256032"/>
          </a:xfrm>
          <a:prstGeom prst="rect">
            <a:avLst/>
          </a:prstGeom>
          <a:noFill/>
          <a:ln/>
        </p:spPr>
        <p:txBody>
          <a:bodyPr wrap="square" lIns="0" tIns="0" rIns="0" bIns="0" rtlCol="0" anchor="ctr"/>
          <a:lstStyle/>
          <a:p>
            <a:pPr marL="0" indent="0">
              <a:buNone/>
            </a:pPr>
            <a:r>
              <a:rPr lang="en-US" sz="1100" b="1" dirty="0">
                <a:solidFill>
                  <a:srgbClr val="1DB8C7"/>
                </a:solidFill>
                <a:latin typeface="Calibri" pitchFamily="34" charset="0"/>
                <a:ea typeface="Calibri" pitchFamily="34" charset="-122"/>
                <a:cs typeface="Calibri" pitchFamily="34" charset="-120"/>
              </a:rPr>
              <a:t>Info Edge Exploitation</a:t>
            </a:r>
            <a:endParaRPr lang="en-US" sz="1100" dirty="0"/>
          </a:p>
        </p:txBody>
      </p:sp>
      <p:sp>
        <p:nvSpPr>
          <p:cNvPr id="29" name="Text 26"/>
          <p:cNvSpPr/>
          <p:nvPr/>
        </p:nvSpPr>
        <p:spPr>
          <a:xfrm>
            <a:off x="4736592" y="3840480"/>
            <a:ext cx="4005072" cy="1051560"/>
          </a:xfrm>
          <a:prstGeom prst="rect">
            <a:avLst/>
          </a:prstGeom>
          <a:noFill/>
          <a:ln/>
        </p:spPr>
        <p:txBody>
          <a:bodyPr wrap="square" lIns="0" tIns="0" rIns="0" bIns="0" rtlCol="0" anchor="ctr"/>
          <a:lstStyle/>
          <a:p>
            <a:pPr marL="0" indent="0">
              <a:buNone/>
            </a:pPr>
            <a:r>
              <a:rPr lang="en-US" sz="1000" dirty="0">
                <a:solidFill>
                  <a:srgbClr val="F0F4F8"/>
                </a:solidFill>
                <a:latin typeface="Calibri" pitchFamily="34" charset="0"/>
                <a:ea typeface="Calibri" pitchFamily="34" charset="-122"/>
                <a:cs typeface="Calibri" pitchFamily="34" charset="-120"/>
              </a:rPr>
              <a:t>Knowing opponent's card: river bet sizing shifts to precise 0.28–0.40× pot (thin value, not over-betting). Info-disadvantaged: raise frequency drops near zero, investment capped at 25% of starting stack for non-monster hands, as a failsafe to not overinvest with weak hands.</a:t>
            </a:r>
            <a:endParaRPr lang="en-US" sz="1000" dirty="0"/>
          </a:p>
        </p:txBody>
      </p:sp>
      <p:pic>
        <p:nvPicPr>
          <p:cNvPr id="31" name="Picture 30">
            <a:extLst>
              <a:ext uri="{FF2B5EF4-FFF2-40B4-BE49-F238E27FC236}">
                <a16:creationId xmlns:a16="http://schemas.microsoft.com/office/drawing/2014/main" id="{DB62137E-1E41-C1F2-0EC1-4BB11D987F30}"/>
              </a:ext>
            </a:extLst>
          </p:cNvPr>
          <p:cNvPicPr>
            <a:picLocks noChangeAspect="1"/>
          </p:cNvPicPr>
          <p:nvPr/>
        </p:nvPicPr>
        <p:blipFill>
          <a:blip r:embed="rId3"/>
          <a:stretch>
            <a:fillRect/>
          </a:stretch>
        </p:blipFill>
        <p:spPr>
          <a:xfrm>
            <a:off x="4572000" y="953067"/>
            <a:ext cx="4425126" cy="241061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164592"/>
            <a:ext cx="9144000" cy="640080"/>
          </a:xfrm>
          <a:prstGeom prst="rect">
            <a:avLst/>
          </a:prstGeom>
          <a:solidFill>
            <a:srgbClr val="1B2A3B"/>
          </a:solidFill>
          <a:ln w="12700">
            <a:solidFill>
              <a:srgbClr val="1B2A3B"/>
            </a:solidFill>
            <a:prstDash val="solid"/>
          </a:ln>
        </p:spPr>
        <p:txBody>
          <a:bodyPr/>
          <a:lstStyle/>
          <a:p>
            <a:endParaRPr lang="en-IN"/>
          </a:p>
        </p:txBody>
      </p:sp>
      <p:sp>
        <p:nvSpPr>
          <p:cNvPr id="3" name="Shape 1"/>
          <p:cNvSpPr/>
          <p:nvPr/>
        </p:nvSpPr>
        <p:spPr>
          <a:xfrm>
            <a:off x="274320" y="256032"/>
            <a:ext cx="54864" cy="457200"/>
          </a:xfrm>
          <a:prstGeom prst="rect">
            <a:avLst/>
          </a:prstGeom>
          <a:solidFill>
            <a:srgbClr val="E2A84B"/>
          </a:solidFill>
          <a:ln w="12700">
            <a:solidFill>
              <a:srgbClr val="E2A84B"/>
            </a:solidFill>
            <a:prstDash val="solid"/>
          </a:ln>
        </p:spPr>
        <p:txBody>
          <a:bodyPr/>
          <a:lstStyle/>
          <a:p>
            <a:endParaRPr lang="en-IN"/>
          </a:p>
        </p:txBody>
      </p:sp>
      <p:sp>
        <p:nvSpPr>
          <p:cNvPr id="4" name="Text 2"/>
          <p:cNvSpPr/>
          <p:nvPr/>
        </p:nvSpPr>
        <p:spPr>
          <a:xfrm>
            <a:off x="457200" y="256032"/>
            <a:ext cx="8321040" cy="457200"/>
          </a:xfrm>
          <a:prstGeom prst="rect">
            <a:avLst/>
          </a:prstGeom>
          <a:noFill/>
          <a:ln/>
        </p:spPr>
        <p:txBody>
          <a:bodyPr wrap="square" lIns="0" tIns="0" rIns="0" bIns="0" rtlCol="0" anchor="ctr"/>
          <a:lstStyle/>
          <a:p>
            <a:pPr marL="0" indent="0" algn="l">
              <a:buNone/>
            </a:pPr>
            <a:r>
              <a:rPr lang="en-US" sz="2100" b="1" dirty="0">
                <a:solidFill>
                  <a:srgbClr val="F0F4F8"/>
                </a:solidFill>
                <a:latin typeface="Calibri" pitchFamily="34" charset="0"/>
                <a:ea typeface="Calibri" pitchFamily="34" charset="-122"/>
                <a:cs typeface="Calibri" pitchFamily="34" charset="-120"/>
              </a:rPr>
              <a:t>Opponent Modelling -  Adaptive Strategy</a:t>
            </a:r>
            <a:endParaRPr lang="en-US" sz="2100" dirty="0"/>
          </a:p>
        </p:txBody>
      </p:sp>
      <p:sp>
        <p:nvSpPr>
          <p:cNvPr id="5" name="Text 3"/>
          <p:cNvSpPr/>
          <p:nvPr/>
        </p:nvSpPr>
        <p:spPr>
          <a:xfrm>
            <a:off x="365760" y="960120"/>
            <a:ext cx="8412480" cy="329184"/>
          </a:xfrm>
          <a:prstGeom prst="rect">
            <a:avLst/>
          </a:prstGeom>
          <a:noFill/>
          <a:ln/>
        </p:spPr>
        <p:txBody>
          <a:bodyPr wrap="square" rtlCol="0" anchor="ctr"/>
          <a:lstStyle/>
          <a:p>
            <a:r>
              <a:rPr lang="en-US" sz="1200" i="1" dirty="0">
                <a:solidFill>
                  <a:srgbClr val="9DAFC0"/>
                </a:solidFill>
                <a:ea typeface="Calibri" pitchFamily="34" charset="-122"/>
                <a:cs typeface="Calibri" pitchFamily="34" charset="-120"/>
              </a:rPr>
              <a:t>Opponent stats are recalibrated every 18 hands using a 65% recent window / 35% cumulative blend, balancing short-term reads against long-term history to prevent overreacting to single-hand variance.</a:t>
            </a:r>
          </a:p>
        </p:txBody>
      </p:sp>
      <p:sp>
        <p:nvSpPr>
          <p:cNvPr id="14" name="Text 10"/>
          <p:cNvSpPr/>
          <p:nvPr/>
        </p:nvSpPr>
        <p:spPr>
          <a:xfrm>
            <a:off x="457200" y="4848570"/>
            <a:ext cx="8517630" cy="201168"/>
          </a:xfrm>
          <a:prstGeom prst="rect">
            <a:avLst/>
          </a:prstGeom>
          <a:noFill/>
          <a:ln/>
        </p:spPr>
        <p:txBody>
          <a:bodyPr wrap="square" lIns="0" tIns="0" rIns="0" bIns="0" rtlCol="0" anchor="ctr"/>
          <a:lstStyle/>
          <a:p>
            <a:endParaRPr lang="en-US" sz="700" dirty="0">
              <a:solidFill>
                <a:schemeClr val="bg1"/>
              </a:solidFill>
            </a:endParaRPr>
          </a:p>
        </p:txBody>
      </p:sp>
      <p:graphicFrame>
        <p:nvGraphicFramePr>
          <p:cNvPr id="18" name="Table 17">
            <a:extLst>
              <a:ext uri="{FF2B5EF4-FFF2-40B4-BE49-F238E27FC236}">
                <a16:creationId xmlns:a16="http://schemas.microsoft.com/office/drawing/2014/main" id="{923A8D09-08E4-FC7D-4195-D0EC11099F74}"/>
              </a:ext>
            </a:extLst>
          </p:cNvPr>
          <p:cNvGraphicFramePr>
            <a:graphicFrameLocks noGrp="1"/>
          </p:cNvGraphicFramePr>
          <p:nvPr>
            <p:extLst>
              <p:ext uri="{D42A27DB-BD31-4B8C-83A1-F6EECF244321}">
                <p14:modId xmlns:p14="http://schemas.microsoft.com/office/powerpoint/2010/main" val="1400121322"/>
              </p:ext>
            </p:extLst>
          </p:nvPr>
        </p:nvGraphicFramePr>
        <p:xfrm>
          <a:off x="5558238" y="1444752"/>
          <a:ext cx="3416592" cy="3177540"/>
        </p:xfrm>
        <a:graphic>
          <a:graphicData uri="http://schemas.openxmlformats.org/drawingml/2006/table">
            <a:tbl>
              <a:tblPr/>
              <a:tblGrid>
                <a:gridCol w="630755">
                  <a:extLst>
                    <a:ext uri="{9D8B030D-6E8A-4147-A177-3AD203B41FA5}">
                      <a16:colId xmlns:a16="http://schemas.microsoft.com/office/drawing/2014/main" val="333114039"/>
                    </a:ext>
                  </a:extLst>
                </a:gridCol>
                <a:gridCol w="735881">
                  <a:extLst>
                    <a:ext uri="{9D8B030D-6E8A-4147-A177-3AD203B41FA5}">
                      <a16:colId xmlns:a16="http://schemas.microsoft.com/office/drawing/2014/main" val="3858738808"/>
                    </a:ext>
                  </a:extLst>
                </a:gridCol>
                <a:gridCol w="1024978">
                  <a:extLst>
                    <a:ext uri="{9D8B030D-6E8A-4147-A177-3AD203B41FA5}">
                      <a16:colId xmlns:a16="http://schemas.microsoft.com/office/drawing/2014/main" val="91294929"/>
                    </a:ext>
                  </a:extLst>
                </a:gridCol>
                <a:gridCol w="1024978">
                  <a:extLst>
                    <a:ext uri="{9D8B030D-6E8A-4147-A177-3AD203B41FA5}">
                      <a16:colId xmlns:a16="http://schemas.microsoft.com/office/drawing/2014/main" val="1034092533"/>
                    </a:ext>
                  </a:extLst>
                </a:gridCol>
              </a:tblGrid>
              <a:tr h="162826">
                <a:tc>
                  <a:txBody>
                    <a:bodyPr/>
                    <a:lstStyle/>
                    <a:p>
                      <a:pPr>
                        <a:buNone/>
                      </a:pPr>
                      <a:r>
                        <a:rPr lang="en-US" sz="750" dirty="0">
                          <a:solidFill>
                            <a:schemeClr val="bg1"/>
                          </a:solidFill>
                        </a:rPr>
                        <a:t>Knob</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2A3A4A"/>
                    </a:solidFill>
                  </a:tcPr>
                </a:tc>
                <a:tc>
                  <a:txBody>
                    <a:bodyPr/>
                    <a:lstStyle/>
                    <a:p>
                      <a:pPr>
                        <a:buNone/>
                      </a:pPr>
                      <a:r>
                        <a:rPr lang="en-US" sz="750">
                          <a:solidFill>
                            <a:schemeClr val="bg1"/>
                          </a:solidFill>
                        </a:rPr>
                        <a:t>Function</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2A3A4A"/>
                    </a:solidFill>
                  </a:tcPr>
                </a:tc>
                <a:tc>
                  <a:txBody>
                    <a:bodyPr/>
                    <a:lstStyle/>
                    <a:p>
                      <a:pPr>
                        <a:buNone/>
                      </a:pPr>
                      <a:r>
                        <a:rPr lang="en-US" sz="750">
                          <a:solidFill>
                            <a:schemeClr val="bg1"/>
                          </a:solidFill>
                        </a:rPr>
                        <a:t>Driven By</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2A3A4A"/>
                    </a:solidFill>
                  </a:tcPr>
                </a:tc>
                <a:tc>
                  <a:txBody>
                    <a:bodyPr/>
                    <a:lstStyle/>
                    <a:p>
                      <a:pPr>
                        <a:buNone/>
                      </a:pPr>
                      <a:r>
                        <a:rPr lang="en-US" sz="750">
                          <a:solidFill>
                            <a:schemeClr val="bg1"/>
                          </a:solidFill>
                        </a:rPr>
                        <a:t>Effect</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2A3A4A"/>
                    </a:solidFill>
                  </a:tcPr>
                </a:tc>
                <a:extLst>
                  <a:ext uri="{0D108BD9-81ED-4DB2-BD59-A6C34878D82A}">
                    <a16:rowId xmlns:a16="http://schemas.microsoft.com/office/drawing/2014/main" val="2886741648"/>
                  </a:ext>
                </a:extLst>
              </a:tr>
              <a:tr h="348913">
                <a:tc>
                  <a:txBody>
                    <a:bodyPr/>
                    <a:lstStyle/>
                    <a:p>
                      <a:pPr>
                        <a:buNone/>
                      </a:pPr>
                      <a:r>
                        <a:rPr lang="en-US" sz="750" dirty="0" err="1">
                          <a:solidFill>
                            <a:schemeClr val="bg1"/>
                          </a:solidFill>
                          <a:latin typeface="Courier New" panose="02070309020205020404" pitchFamily="49" charset="0"/>
                        </a:rPr>
                        <a:t>call_scale</a:t>
                      </a:r>
                      <a:endParaRPr lang="en-US" sz="750" dirty="0">
                        <a:solidFill>
                          <a:schemeClr val="bg1"/>
                        </a:solidFill>
                      </a:endParaRP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a:solidFill>
                            <a:schemeClr val="bg1"/>
                          </a:solidFill>
                        </a:rPr>
                        <a:t>Modulates call threshold</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a:solidFill>
                            <a:schemeClr val="bg1"/>
                          </a:solidFill>
                          <a:latin typeface="Courier New" panose="02070309020205020404" pitchFamily="49" charset="0"/>
                        </a:rPr>
                        <a:t>opp_aggro_rate</a:t>
                      </a:r>
                      <a:endParaRPr lang="en-US" sz="750">
                        <a:solidFill>
                          <a:schemeClr val="bg1"/>
                        </a:solidFill>
                      </a:endParaRP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dirty="0" err="1">
                          <a:solidFill>
                            <a:schemeClr val="bg1"/>
                          </a:solidFill>
                        </a:rPr>
                        <a:t>Aggro</a:t>
                      </a:r>
                      <a:r>
                        <a:rPr lang="en-US" sz="750" dirty="0">
                          <a:solidFill>
                            <a:schemeClr val="bg1"/>
                          </a:solidFill>
                        </a:rPr>
                        <a:t> (&gt;0.30) → tighter (0.60–0.82); passive (&lt;0.12) → wider (1.28)</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extLst>
                  <a:ext uri="{0D108BD9-81ED-4DB2-BD59-A6C34878D82A}">
                    <a16:rowId xmlns:a16="http://schemas.microsoft.com/office/drawing/2014/main" val="2104722808"/>
                  </a:ext>
                </a:extLst>
              </a:tr>
              <a:tr h="348913">
                <a:tc>
                  <a:txBody>
                    <a:bodyPr/>
                    <a:lstStyle/>
                    <a:p>
                      <a:pPr>
                        <a:buNone/>
                      </a:pPr>
                      <a:r>
                        <a:rPr lang="en-US" sz="750">
                          <a:solidFill>
                            <a:schemeClr val="bg1"/>
                          </a:solidFill>
                          <a:latin typeface="Courier New" panose="02070309020205020404" pitchFamily="49" charset="0"/>
                        </a:rPr>
                        <a:t>aggro_boost</a:t>
                      </a:r>
                      <a:endParaRPr lang="en-US" sz="750">
                        <a:solidFill>
                          <a:schemeClr val="bg1"/>
                        </a:solidFill>
                      </a:endParaRP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a:solidFill>
                            <a:schemeClr val="bg1"/>
                          </a:solidFill>
                        </a:rPr>
                        <a:t>Inflates bet sizing multipliers</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a:solidFill>
                            <a:schemeClr val="bg1"/>
                          </a:solidFill>
                          <a:latin typeface="Courier New" panose="02070309020205020404" pitchFamily="49" charset="0"/>
                        </a:rPr>
                        <a:t>opp_fold_rate</a:t>
                      </a:r>
                      <a:endParaRPr lang="en-US" sz="750">
                        <a:solidFill>
                          <a:schemeClr val="bg1"/>
                        </a:solidFill>
                      </a:endParaRP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a:solidFill>
                            <a:schemeClr val="bg1"/>
                          </a:solidFill>
                        </a:rPr>
                        <a:t>Activates at &gt;0.10, caps at 0.28; added to sz across all streets</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extLst>
                  <a:ext uri="{0D108BD9-81ED-4DB2-BD59-A6C34878D82A}">
                    <a16:rowId xmlns:a16="http://schemas.microsoft.com/office/drawing/2014/main" val="2899651994"/>
                  </a:ext>
                </a:extLst>
              </a:tr>
              <a:tr h="441957">
                <a:tc>
                  <a:txBody>
                    <a:bodyPr/>
                    <a:lstStyle/>
                    <a:p>
                      <a:pPr>
                        <a:buNone/>
                      </a:pPr>
                      <a:r>
                        <a:rPr lang="en-US" sz="750">
                          <a:solidFill>
                            <a:schemeClr val="bg1"/>
                          </a:solidFill>
                          <a:latin typeface="Courier New" panose="02070309020205020404" pitchFamily="49" charset="0"/>
                        </a:rPr>
                        <a:t>bf</a:t>
                      </a:r>
                      <a:endParaRPr lang="en-US" sz="750">
                        <a:solidFill>
                          <a:schemeClr val="bg1"/>
                        </a:solidFill>
                      </a:endParaRP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dirty="0">
                          <a:solidFill>
                            <a:schemeClr val="bg1"/>
                          </a:solidFill>
                        </a:rPr>
                        <a:t>Pure bluff fire probability</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a:solidFill>
                            <a:schemeClr val="bg1"/>
                          </a:solidFill>
                          <a:latin typeface="Courier New" panose="02070309020205020404" pitchFamily="49" charset="0"/>
                        </a:rPr>
                        <a:t>opp_fold_rate</a:t>
                      </a:r>
                      <a:r>
                        <a:rPr lang="en-US" sz="750">
                          <a:solidFill>
                            <a:schemeClr val="bg1"/>
                          </a:solidFill>
                        </a:rPr>
                        <a:t> + </a:t>
                      </a:r>
                      <a:r>
                        <a:rPr lang="en-US" sz="750">
                          <a:solidFill>
                            <a:schemeClr val="bg1"/>
                          </a:solidFill>
                          <a:latin typeface="Courier New" panose="02070309020205020404" pitchFamily="49" charset="0"/>
                        </a:rPr>
                        <a:t>aggro_boost</a:t>
                      </a:r>
                      <a:endParaRPr lang="en-US" sz="750">
                        <a:solidFill>
                          <a:schemeClr val="bg1"/>
                        </a:solidFill>
                      </a:endParaRP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a:solidFill>
                            <a:schemeClr val="bg1"/>
                          </a:solidFill>
                        </a:rPr>
                        <a:t>River </a:t>
                      </a:r>
                      <a:r>
                        <a:rPr lang="en-US" sz="750">
                          <a:solidFill>
                            <a:schemeClr val="bg1"/>
                          </a:solidFill>
                          <a:latin typeface="Courier New" panose="02070309020205020404" pitchFamily="49" charset="0"/>
                        </a:rPr>
                        <a:t>min(0.30, 0.12+…)</a:t>
                      </a:r>
                      <a:r>
                        <a:rPr lang="en-US" sz="750">
                          <a:solidFill>
                            <a:schemeClr val="bg1"/>
                          </a:solidFill>
                        </a:rPr>
                        <a:t>; Flop/Turn </a:t>
                      </a:r>
                      <a:r>
                        <a:rPr lang="en-US" sz="750">
                          <a:solidFill>
                            <a:schemeClr val="bg1"/>
                          </a:solidFill>
                          <a:latin typeface="Courier New" panose="02070309020205020404" pitchFamily="49" charset="0"/>
                        </a:rPr>
                        <a:t>min(0.24, 0.08+…)</a:t>
                      </a:r>
                      <a:r>
                        <a:rPr lang="en-US" sz="750">
                          <a:solidFill>
                            <a:schemeClr val="bg1"/>
                          </a:solidFill>
                        </a:rPr>
                        <a:t>; →×0.01 if opp has info</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extLst>
                  <a:ext uri="{0D108BD9-81ED-4DB2-BD59-A6C34878D82A}">
                    <a16:rowId xmlns:a16="http://schemas.microsoft.com/office/drawing/2014/main" val="485220620"/>
                  </a:ext>
                </a:extLst>
              </a:tr>
              <a:tr h="348913">
                <a:tc>
                  <a:txBody>
                    <a:bodyPr/>
                    <a:lstStyle/>
                    <a:p>
                      <a:pPr>
                        <a:buNone/>
                      </a:pPr>
                      <a:r>
                        <a:rPr lang="en-US" sz="750">
                          <a:solidFill>
                            <a:schemeClr val="bg1"/>
                          </a:solidFill>
                          <a:latin typeface="Courier New" panose="02070309020205020404" pitchFamily="49" charset="0"/>
                        </a:rPr>
                        <a:t>sb</a:t>
                      </a:r>
                      <a:endParaRPr lang="en-US" sz="750">
                        <a:solidFill>
                          <a:schemeClr val="bg1"/>
                        </a:solidFill>
                      </a:endParaRP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a:solidFill>
                            <a:schemeClr val="bg1"/>
                          </a:solidFill>
                        </a:rPr>
                        <a:t>Draw semi-bluff fire probability</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dirty="0" err="1">
                          <a:solidFill>
                            <a:schemeClr val="bg1"/>
                          </a:solidFill>
                          <a:latin typeface="Courier New" panose="02070309020205020404" pitchFamily="49" charset="0"/>
                        </a:rPr>
                        <a:t>opp_fold_rate</a:t>
                      </a:r>
                      <a:r>
                        <a:rPr lang="en-US" sz="750" dirty="0">
                          <a:solidFill>
                            <a:schemeClr val="bg1"/>
                          </a:solidFill>
                        </a:rPr>
                        <a:t> + </a:t>
                      </a:r>
                      <a:r>
                        <a:rPr lang="en-US" sz="750" dirty="0" err="1">
                          <a:solidFill>
                            <a:schemeClr val="bg1"/>
                          </a:solidFill>
                          <a:latin typeface="Courier New" panose="02070309020205020404" pitchFamily="49" charset="0"/>
                        </a:rPr>
                        <a:t>aggro_boost</a:t>
                      </a:r>
                      <a:r>
                        <a:rPr lang="en-US" sz="750" dirty="0">
                          <a:solidFill>
                            <a:schemeClr val="bg1"/>
                          </a:solidFill>
                        </a:rPr>
                        <a:t> + draw type</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a:solidFill>
                            <a:schemeClr val="bg1"/>
                          </a:solidFill>
                        </a:rPr>
                        <a:t>Base 0.38–0.75 by draw; </a:t>
                      </a:r>
                      <a:r>
                        <a:rPr lang="en-US" sz="750">
                          <a:solidFill>
                            <a:schemeClr val="bg1"/>
                          </a:solidFill>
                          <a:latin typeface="Courier New" panose="02070309020205020404" pitchFamily="49" charset="0"/>
                        </a:rPr>
                        <a:t>+aggro_boost×0.40</a:t>
                      </a:r>
                      <a:r>
                        <a:rPr lang="en-US" sz="750">
                          <a:solidFill>
                            <a:schemeClr val="bg1"/>
                          </a:solidFill>
                        </a:rPr>
                        <a:t>; →×0.05 if opp has info</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extLst>
                  <a:ext uri="{0D108BD9-81ED-4DB2-BD59-A6C34878D82A}">
                    <a16:rowId xmlns:a16="http://schemas.microsoft.com/office/drawing/2014/main" val="1647410298"/>
                  </a:ext>
                </a:extLst>
              </a:tr>
              <a:tr h="255870">
                <a:tc>
                  <a:txBody>
                    <a:bodyPr/>
                    <a:lstStyle/>
                    <a:p>
                      <a:pPr>
                        <a:buNone/>
                      </a:pPr>
                      <a:r>
                        <a:rPr lang="en-US" sz="750" dirty="0" err="1">
                          <a:solidFill>
                            <a:schemeClr val="bg1"/>
                          </a:solidFill>
                          <a:latin typeface="Courier New" panose="02070309020205020404" pitchFamily="49" charset="0"/>
                        </a:rPr>
                        <a:t>opp_fold_rate</a:t>
                      </a:r>
                      <a:endParaRPr lang="en-US" sz="750" dirty="0">
                        <a:solidFill>
                          <a:schemeClr val="bg1"/>
                        </a:solidFill>
                      </a:endParaRP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a:solidFill>
                            <a:schemeClr val="bg1"/>
                          </a:solidFill>
                        </a:rPr>
                        <a:t>Master observed stat</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dirty="0">
                          <a:solidFill>
                            <a:schemeClr val="bg1"/>
                          </a:solidFill>
                        </a:rPr>
                        <a:t>Opponent fold actions</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tc>
                  <a:txBody>
                    <a:bodyPr/>
                    <a:lstStyle/>
                    <a:p>
                      <a:pPr>
                        <a:buNone/>
                      </a:pPr>
                      <a:r>
                        <a:rPr lang="en-US" sz="750" dirty="0">
                          <a:solidFill>
                            <a:schemeClr val="bg1"/>
                          </a:solidFill>
                        </a:rPr>
                        <a:t>Feeds </a:t>
                      </a:r>
                      <a:r>
                        <a:rPr lang="en-US" sz="750" dirty="0" err="1">
                          <a:solidFill>
                            <a:schemeClr val="bg1"/>
                          </a:solidFill>
                          <a:latin typeface="Courier New" panose="02070309020205020404" pitchFamily="49" charset="0"/>
                        </a:rPr>
                        <a:t>aggro_boost</a:t>
                      </a:r>
                      <a:r>
                        <a:rPr lang="en-US" sz="750" dirty="0">
                          <a:solidFill>
                            <a:schemeClr val="bg1"/>
                          </a:solidFill>
                        </a:rPr>
                        <a:t>, </a:t>
                      </a:r>
                      <a:r>
                        <a:rPr lang="en-US" sz="750" dirty="0">
                          <a:solidFill>
                            <a:schemeClr val="bg1"/>
                          </a:solidFill>
                          <a:latin typeface="Courier New" panose="02070309020205020404" pitchFamily="49" charset="0"/>
                        </a:rPr>
                        <a:t>bf</a:t>
                      </a:r>
                      <a:r>
                        <a:rPr lang="en-US" sz="750" dirty="0">
                          <a:solidFill>
                            <a:schemeClr val="bg1"/>
                          </a:solidFill>
                        </a:rPr>
                        <a:t>, and </a:t>
                      </a:r>
                      <a:r>
                        <a:rPr lang="en-US" sz="750" dirty="0">
                          <a:solidFill>
                            <a:schemeClr val="bg1"/>
                          </a:solidFill>
                          <a:latin typeface="Courier New" panose="02070309020205020404" pitchFamily="49" charset="0"/>
                        </a:rPr>
                        <a:t>sb</a:t>
                      </a:r>
                      <a:r>
                        <a:rPr lang="en-US" sz="750" dirty="0">
                          <a:solidFill>
                            <a:schemeClr val="bg1"/>
                          </a:solidFill>
                        </a:rPr>
                        <a:t> — high → bluff/semi-bluff more</a:t>
                      </a:r>
                    </a:p>
                  </a:txBody>
                  <a:tcPr anchor="ctr">
                    <a:lnL w="6350" cap="flat" cmpd="sng" algn="ctr">
                      <a:solidFill>
                        <a:srgbClr val="546E7A"/>
                      </a:solidFill>
                      <a:prstDash val="solid"/>
                      <a:round/>
                      <a:headEnd type="none" w="med" len="med"/>
                      <a:tailEnd type="none" w="med" len="med"/>
                    </a:lnL>
                    <a:lnR w="6350" cap="flat" cmpd="sng" algn="ctr">
                      <a:solidFill>
                        <a:srgbClr val="546E7A"/>
                      </a:solidFill>
                      <a:prstDash val="solid"/>
                      <a:round/>
                      <a:headEnd type="none" w="med" len="med"/>
                      <a:tailEnd type="none" w="med" len="med"/>
                    </a:lnR>
                    <a:lnT w="6350" cap="flat" cmpd="sng" algn="ctr">
                      <a:solidFill>
                        <a:srgbClr val="546E7A"/>
                      </a:solidFill>
                      <a:prstDash val="solid"/>
                      <a:round/>
                      <a:headEnd type="none" w="med" len="med"/>
                      <a:tailEnd type="none" w="med" len="med"/>
                    </a:lnT>
                    <a:lnB w="6350" cap="flat" cmpd="sng" algn="ctr">
                      <a:solidFill>
                        <a:srgbClr val="546E7A"/>
                      </a:solidFill>
                      <a:prstDash val="solid"/>
                      <a:round/>
                      <a:headEnd type="none" w="med" len="med"/>
                      <a:tailEnd type="none" w="med" len="med"/>
                    </a:lnB>
                    <a:solidFill>
                      <a:srgbClr val="1F2D3D"/>
                    </a:solidFill>
                  </a:tcPr>
                </a:tc>
                <a:extLst>
                  <a:ext uri="{0D108BD9-81ED-4DB2-BD59-A6C34878D82A}">
                    <a16:rowId xmlns:a16="http://schemas.microsoft.com/office/drawing/2014/main" val="3852579138"/>
                  </a:ext>
                </a:extLst>
              </a:tr>
            </a:tbl>
          </a:graphicData>
        </a:graphic>
      </p:graphicFrame>
      <p:pic>
        <p:nvPicPr>
          <p:cNvPr id="22" name="Picture 21">
            <a:extLst>
              <a:ext uri="{FF2B5EF4-FFF2-40B4-BE49-F238E27FC236}">
                <a16:creationId xmlns:a16="http://schemas.microsoft.com/office/drawing/2014/main" id="{207375C9-A2EE-2D95-82F7-913B8A655C37}"/>
              </a:ext>
            </a:extLst>
          </p:cNvPr>
          <p:cNvPicPr>
            <a:picLocks noChangeAspect="1"/>
          </p:cNvPicPr>
          <p:nvPr/>
        </p:nvPicPr>
        <p:blipFill>
          <a:blip r:embed="rId3"/>
          <a:stretch>
            <a:fillRect/>
          </a:stretch>
        </p:blipFill>
        <p:spPr>
          <a:xfrm>
            <a:off x="97970" y="1437931"/>
            <a:ext cx="5406931" cy="332220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A2E5619-1250-B036-8AC5-892C1751039E}"/>
              </a:ext>
            </a:extLst>
          </p:cNvPr>
          <p:cNvSpPr/>
          <p:nvPr/>
        </p:nvSpPr>
        <p:spPr>
          <a:xfrm>
            <a:off x="0" y="170942"/>
            <a:ext cx="9144000" cy="640080"/>
          </a:xfrm>
          <a:prstGeom prst="rect">
            <a:avLst/>
          </a:prstGeom>
          <a:solidFill>
            <a:srgbClr val="1B2A3B"/>
          </a:solidFill>
          <a:ln w="12700">
            <a:solidFill>
              <a:srgbClr val="1B2A3B"/>
            </a:solidFill>
            <a:prstDash val="solid"/>
          </a:ln>
        </p:spPr>
        <p:txBody>
          <a:bodyPr/>
          <a:lstStyle/>
          <a:p>
            <a:endParaRPr lang="en-IN"/>
          </a:p>
        </p:txBody>
      </p:sp>
      <p:sp>
        <p:nvSpPr>
          <p:cNvPr id="3" name="Shape 1">
            <a:extLst>
              <a:ext uri="{FF2B5EF4-FFF2-40B4-BE49-F238E27FC236}">
                <a16:creationId xmlns:a16="http://schemas.microsoft.com/office/drawing/2014/main" id="{FCAED469-4169-6450-20E3-96DBE83C371B}"/>
              </a:ext>
            </a:extLst>
          </p:cNvPr>
          <p:cNvSpPr/>
          <p:nvPr/>
        </p:nvSpPr>
        <p:spPr>
          <a:xfrm>
            <a:off x="274320" y="256032"/>
            <a:ext cx="54864" cy="457200"/>
          </a:xfrm>
          <a:prstGeom prst="rect">
            <a:avLst/>
          </a:prstGeom>
          <a:solidFill>
            <a:srgbClr val="E2A84B"/>
          </a:solidFill>
          <a:ln w="12700">
            <a:solidFill>
              <a:srgbClr val="E2A84B"/>
            </a:solidFill>
            <a:prstDash val="solid"/>
          </a:ln>
        </p:spPr>
        <p:txBody>
          <a:bodyPr/>
          <a:lstStyle/>
          <a:p>
            <a:endParaRPr lang="en-IN"/>
          </a:p>
        </p:txBody>
      </p:sp>
      <p:sp>
        <p:nvSpPr>
          <p:cNvPr id="4" name="Text 2">
            <a:extLst>
              <a:ext uri="{FF2B5EF4-FFF2-40B4-BE49-F238E27FC236}">
                <a16:creationId xmlns:a16="http://schemas.microsoft.com/office/drawing/2014/main" id="{5DC94891-B7A4-6DC5-D921-E7CAAC381D0D}"/>
              </a:ext>
            </a:extLst>
          </p:cNvPr>
          <p:cNvSpPr/>
          <p:nvPr/>
        </p:nvSpPr>
        <p:spPr>
          <a:xfrm>
            <a:off x="457200" y="256032"/>
            <a:ext cx="8321040" cy="457200"/>
          </a:xfrm>
          <a:prstGeom prst="rect">
            <a:avLst/>
          </a:prstGeom>
          <a:noFill/>
          <a:ln/>
        </p:spPr>
        <p:txBody>
          <a:bodyPr wrap="square" lIns="0" tIns="0" rIns="0" bIns="0" rtlCol="0" anchor="ctr"/>
          <a:lstStyle/>
          <a:p>
            <a:r>
              <a:rPr lang="en-US" sz="2400" b="1" dirty="0">
                <a:solidFill>
                  <a:srgbClr val="F0F4F8"/>
                </a:solidFill>
                <a:latin typeface="Trebuchet MS" pitchFamily="34" charset="0"/>
                <a:ea typeface="Trebuchet MS" pitchFamily="34" charset="-122"/>
                <a:cs typeface="Trebuchet MS" pitchFamily="34" charset="-120"/>
              </a:rPr>
              <a:t>Bot Randomization</a:t>
            </a:r>
            <a:endParaRPr lang="en-US" sz="2400" dirty="0"/>
          </a:p>
        </p:txBody>
      </p:sp>
      <p:sp>
        <p:nvSpPr>
          <p:cNvPr id="5" name="Shape 3">
            <a:extLst>
              <a:ext uri="{FF2B5EF4-FFF2-40B4-BE49-F238E27FC236}">
                <a16:creationId xmlns:a16="http://schemas.microsoft.com/office/drawing/2014/main" id="{B0584E7E-2148-7875-534D-28BBD4CEEF65}"/>
              </a:ext>
            </a:extLst>
          </p:cNvPr>
          <p:cNvSpPr/>
          <p:nvPr/>
        </p:nvSpPr>
        <p:spPr>
          <a:xfrm>
            <a:off x="365760" y="950649"/>
            <a:ext cx="3931920" cy="3703320"/>
          </a:xfrm>
          <a:prstGeom prst="rect">
            <a:avLst/>
          </a:prstGeom>
          <a:solidFill>
            <a:srgbClr val="1A2736"/>
          </a:solidFill>
          <a:ln/>
          <a:effectLst>
            <a:outerShdw blurRad="101600" dist="38100" dir="8100000" algn="bl" rotWithShape="0">
              <a:srgbClr val="000000">
                <a:alpha val="30000"/>
              </a:srgbClr>
            </a:outerShdw>
          </a:effectLst>
        </p:spPr>
        <p:txBody>
          <a:bodyPr/>
          <a:lstStyle/>
          <a:p>
            <a:endParaRPr lang="en-IN"/>
          </a:p>
        </p:txBody>
      </p:sp>
      <p:sp>
        <p:nvSpPr>
          <p:cNvPr id="6" name="Shape 4">
            <a:extLst>
              <a:ext uri="{FF2B5EF4-FFF2-40B4-BE49-F238E27FC236}">
                <a16:creationId xmlns:a16="http://schemas.microsoft.com/office/drawing/2014/main" id="{0D72F354-BA75-9700-8B4A-4BA216CA689F}"/>
              </a:ext>
            </a:extLst>
          </p:cNvPr>
          <p:cNvSpPr/>
          <p:nvPr/>
        </p:nvSpPr>
        <p:spPr>
          <a:xfrm>
            <a:off x="365760" y="950649"/>
            <a:ext cx="54864" cy="3703320"/>
          </a:xfrm>
          <a:prstGeom prst="rect">
            <a:avLst/>
          </a:prstGeom>
          <a:solidFill>
            <a:srgbClr val="3B82F6"/>
          </a:solidFill>
          <a:ln/>
        </p:spPr>
        <p:txBody>
          <a:bodyPr/>
          <a:lstStyle/>
          <a:p>
            <a:endParaRPr lang="en-IN"/>
          </a:p>
        </p:txBody>
      </p:sp>
      <p:sp>
        <p:nvSpPr>
          <p:cNvPr id="8" name="Text 5">
            <a:extLst>
              <a:ext uri="{FF2B5EF4-FFF2-40B4-BE49-F238E27FC236}">
                <a16:creationId xmlns:a16="http://schemas.microsoft.com/office/drawing/2014/main" id="{5DF75038-DD82-FC59-1BF3-F924418DDD46}"/>
              </a:ext>
            </a:extLst>
          </p:cNvPr>
          <p:cNvSpPr/>
          <p:nvPr/>
        </p:nvSpPr>
        <p:spPr>
          <a:xfrm>
            <a:off x="594360" y="1069521"/>
            <a:ext cx="2926080" cy="329184"/>
          </a:xfrm>
          <a:prstGeom prst="rect">
            <a:avLst/>
          </a:prstGeom>
          <a:noFill/>
          <a:ln/>
        </p:spPr>
        <p:txBody>
          <a:bodyPr wrap="square" lIns="0" tIns="0" rIns="0" bIns="0" rtlCol="0" anchor="ctr"/>
          <a:lstStyle/>
          <a:p>
            <a:pPr marL="0" indent="0">
              <a:buNone/>
            </a:pPr>
            <a:r>
              <a:rPr lang="en-US" sz="1600" b="1" dirty="0">
                <a:solidFill>
                  <a:srgbClr val="F0F4F8"/>
                </a:solidFill>
                <a:latin typeface="Trebuchet MS" pitchFamily="34" charset="0"/>
                <a:ea typeface="Trebuchet MS" pitchFamily="34" charset="-122"/>
                <a:cs typeface="Trebuchet MS" pitchFamily="34" charset="-120"/>
              </a:rPr>
              <a:t>Why Randomize?</a:t>
            </a:r>
            <a:endParaRPr lang="en-US" sz="1600" dirty="0"/>
          </a:p>
        </p:txBody>
      </p:sp>
      <p:sp>
        <p:nvSpPr>
          <p:cNvPr id="9" name="Text 6">
            <a:extLst>
              <a:ext uri="{FF2B5EF4-FFF2-40B4-BE49-F238E27FC236}">
                <a16:creationId xmlns:a16="http://schemas.microsoft.com/office/drawing/2014/main" id="{F56B98D5-CBD4-6A40-C355-B8D5EB49AF65}"/>
              </a:ext>
            </a:extLst>
          </p:cNvPr>
          <p:cNvSpPr/>
          <p:nvPr/>
        </p:nvSpPr>
        <p:spPr>
          <a:xfrm>
            <a:off x="594360" y="1499289"/>
            <a:ext cx="3520440" cy="3017520"/>
          </a:xfrm>
          <a:prstGeom prst="rect">
            <a:avLst/>
          </a:prstGeom>
          <a:noFill/>
          <a:ln/>
        </p:spPr>
        <p:txBody>
          <a:bodyPr wrap="square" lIns="0" tIns="0" rIns="0" bIns="0" rtlCol="0" anchor="t"/>
          <a:lstStyle/>
          <a:p>
            <a:pPr marL="0" indent="0">
              <a:buNone/>
            </a:pPr>
            <a:r>
              <a:rPr lang="en-US" sz="1300" b="1" dirty="0">
                <a:solidFill>
                  <a:srgbClr val="F59E0B"/>
                </a:solidFill>
              </a:rPr>
              <a:t>The Exploitation Problem</a:t>
            </a:r>
            <a:endParaRPr lang="en-US" sz="1300" dirty="0"/>
          </a:p>
          <a:p>
            <a:pPr marL="0" indent="0">
              <a:buNone/>
            </a:pPr>
            <a:r>
              <a:rPr lang="en-US" sz="1100" dirty="0">
                <a:solidFill>
                  <a:srgbClr val="CBD5E1"/>
                </a:solidFill>
              </a:rPr>
              <a:t>Deterministic bots have fixed patterns. Advanced opponents model these patterns and develop perfect counter-strategies, turning every decision into a known quantity.</a:t>
            </a:r>
            <a:endParaRPr lang="en-US" sz="1300" dirty="0"/>
          </a:p>
          <a:p>
            <a:pPr marL="0" indent="0">
              <a:buNone/>
            </a:pPr>
            <a:endParaRPr lang="en-US" sz="1300" dirty="0"/>
          </a:p>
          <a:p>
            <a:pPr marL="0" indent="0">
              <a:buNone/>
            </a:pPr>
            <a:r>
              <a:rPr lang="en-US" sz="1300" b="1" dirty="0">
                <a:solidFill>
                  <a:srgbClr val="00D4AA"/>
                </a:solidFill>
              </a:rPr>
              <a:t>The Randomization Solution</a:t>
            </a:r>
            <a:endParaRPr lang="en-US" sz="1300" dirty="0"/>
          </a:p>
          <a:p>
            <a:pPr marL="0" indent="0">
              <a:buNone/>
            </a:pPr>
            <a:r>
              <a:rPr lang="en-US" sz="1100" dirty="0">
                <a:solidFill>
                  <a:srgbClr val="CBD5E1"/>
                </a:solidFill>
              </a:rPr>
              <a:t>By injecting calibrated randomness at every key decision point, DominatorBot creates a mixed strategy that no single deterministic counter can exploit. Even if an opponent models our ranges perfectly, the randomized frequencies make exploitation unprofitable.</a:t>
            </a:r>
            <a:endParaRPr lang="en-US" sz="1300" dirty="0"/>
          </a:p>
          <a:p>
            <a:pPr marL="0" indent="0">
              <a:buNone/>
            </a:pPr>
            <a:endParaRPr lang="en-US" sz="1300" dirty="0"/>
          </a:p>
          <a:p>
            <a:pPr marL="0" indent="0">
              <a:buNone/>
            </a:pPr>
            <a:r>
              <a:rPr lang="en-US" sz="1300" b="1" dirty="0">
                <a:solidFill>
                  <a:srgbClr val="3B82F6"/>
                </a:solidFill>
              </a:rPr>
              <a:t>Key Principle</a:t>
            </a:r>
            <a:endParaRPr lang="en-US" sz="1300" dirty="0"/>
          </a:p>
          <a:p>
            <a:pPr marL="0" indent="0">
              <a:buNone/>
            </a:pPr>
            <a:r>
              <a:rPr lang="en-US" sz="1100" dirty="0">
                <a:solidFill>
                  <a:srgbClr val="CBD5E1"/>
                </a:solidFill>
              </a:rPr>
              <a:t>Each randomization is weighted, not coin-flip random. Frequencies are tuned to equity thresholds, opponent tendencies, and empirical opponent modelling.</a:t>
            </a:r>
            <a:endParaRPr lang="en-US" sz="1300" dirty="0"/>
          </a:p>
        </p:txBody>
      </p:sp>
      <p:sp>
        <p:nvSpPr>
          <p:cNvPr id="11" name="Text 7">
            <a:extLst>
              <a:ext uri="{FF2B5EF4-FFF2-40B4-BE49-F238E27FC236}">
                <a16:creationId xmlns:a16="http://schemas.microsoft.com/office/drawing/2014/main" id="{F8C6F5E5-2F49-1115-417F-9EC0497DB4F4}"/>
              </a:ext>
            </a:extLst>
          </p:cNvPr>
          <p:cNvSpPr/>
          <p:nvPr/>
        </p:nvSpPr>
        <p:spPr>
          <a:xfrm>
            <a:off x="4709160" y="1014984"/>
            <a:ext cx="3840480" cy="320040"/>
          </a:xfrm>
          <a:prstGeom prst="rect">
            <a:avLst/>
          </a:prstGeom>
          <a:noFill/>
          <a:ln/>
        </p:spPr>
        <p:txBody>
          <a:bodyPr wrap="square" lIns="0" tIns="0" rIns="0" bIns="0" rtlCol="0" anchor="ctr"/>
          <a:lstStyle/>
          <a:p>
            <a:pPr marL="0" indent="0">
              <a:buNone/>
            </a:pPr>
            <a:r>
              <a:rPr lang="en-US" sz="1500" b="1" dirty="0">
                <a:solidFill>
                  <a:srgbClr val="F0F4F8"/>
                </a:solidFill>
                <a:latin typeface="Trebuchet MS" pitchFamily="34" charset="0"/>
                <a:ea typeface="Trebuchet MS" pitchFamily="34" charset="-122"/>
                <a:cs typeface="Trebuchet MS" pitchFamily="34" charset="-120"/>
              </a:rPr>
              <a:t>5 Randomization Trigger Points</a:t>
            </a:r>
            <a:endParaRPr lang="en-US" sz="1500" dirty="0"/>
          </a:p>
        </p:txBody>
      </p:sp>
      <p:sp>
        <p:nvSpPr>
          <p:cNvPr id="12" name="Shape 8">
            <a:extLst>
              <a:ext uri="{FF2B5EF4-FFF2-40B4-BE49-F238E27FC236}">
                <a16:creationId xmlns:a16="http://schemas.microsoft.com/office/drawing/2014/main" id="{52F3EEAB-86B5-54D0-4CBA-FA331D16E544}"/>
              </a:ext>
            </a:extLst>
          </p:cNvPr>
          <p:cNvSpPr/>
          <p:nvPr/>
        </p:nvSpPr>
        <p:spPr>
          <a:xfrm>
            <a:off x="4663440" y="1407849"/>
            <a:ext cx="4114800" cy="566928"/>
          </a:xfrm>
          <a:prstGeom prst="rect">
            <a:avLst/>
          </a:prstGeom>
          <a:solidFill>
            <a:srgbClr val="1A2736"/>
          </a:solidFill>
          <a:ln/>
          <a:effectLst>
            <a:outerShdw blurRad="50800" dist="12700" dir="8100000" algn="bl" rotWithShape="0">
              <a:srgbClr val="000000">
                <a:alpha val="20000"/>
              </a:srgbClr>
            </a:outerShdw>
          </a:effectLst>
        </p:spPr>
        <p:txBody>
          <a:bodyPr/>
          <a:lstStyle/>
          <a:p>
            <a:endParaRPr lang="en-IN"/>
          </a:p>
        </p:txBody>
      </p:sp>
      <p:sp>
        <p:nvSpPr>
          <p:cNvPr id="13" name="Shape 9">
            <a:extLst>
              <a:ext uri="{FF2B5EF4-FFF2-40B4-BE49-F238E27FC236}">
                <a16:creationId xmlns:a16="http://schemas.microsoft.com/office/drawing/2014/main" id="{D28828F0-1BDD-5718-CDE7-60C3ED09AA3E}"/>
              </a:ext>
            </a:extLst>
          </p:cNvPr>
          <p:cNvSpPr/>
          <p:nvPr/>
        </p:nvSpPr>
        <p:spPr>
          <a:xfrm>
            <a:off x="4663440" y="1407849"/>
            <a:ext cx="45720" cy="566928"/>
          </a:xfrm>
          <a:prstGeom prst="rect">
            <a:avLst/>
          </a:prstGeom>
          <a:solidFill>
            <a:srgbClr val="00D4AA"/>
          </a:solidFill>
          <a:ln/>
        </p:spPr>
        <p:txBody>
          <a:bodyPr/>
          <a:lstStyle/>
          <a:p>
            <a:endParaRPr lang="en-IN"/>
          </a:p>
        </p:txBody>
      </p:sp>
      <p:sp>
        <p:nvSpPr>
          <p:cNvPr id="16" name="Text 12">
            <a:extLst>
              <a:ext uri="{FF2B5EF4-FFF2-40B4-BE49-F238E27FC236}">
                <a16:creationId xmlns:a16="http://schemas.microsoft.com/office/drawing/2014/main" id="{6E554883-B1AB-4B4B-650E-88107F9C1CE0}"/>
              </a:ext>
            </a:extLst>
          </p:cNvPr>
          <p:cNvSpPr/>
          <p:nvPr/>
        </p:nvSpPr>
        <p:spPr>
          <a:xfrm>
            <a:off x="4777740" y="1416993"/>
            <a:ext cx="2162432" cy="228600"/>
          </a:xfrm>
          <a:prstGeom prst="rect">
            <a:avLst/>
          </a:prstGeom>
          <a:noFill/>
          <a:ln/>
        </p:spPr>
        <p:txBody>
          <a:bodyPr wrap="square" lIns="0" tIns="0" rIns="0" bIns="0" rtlCol="0" anchor="ctr"/>
          <a:lstStyle/>
          <a:p>
            <a:pPr marL="0" indent="0">
              <a:buNone/>
            </a:pPr>
            <a:r>
              <a:rPr lang="en-US" sz="1200" b="1" dirty="0">
                <a:solidFill>
                  <a:srgbClr val="F0F4F8"/>
                </a:solidFill>
                <a:latin typeface="Trebuchet MS" pitchFamily="34" charset="0"/>
                <a:ea typeface="Trebuchet MS" pitchFamily="34" charset="-122"/>
                <a:cs typeface="Trebuchet MS" pitchFamily="34" charset="-120"/>
              </a:rPr>
              <a:t>Auction Bid</a:t>
            </a:r>
            <a:endParaRPr lang="en-US" sz="1200" dirty="0"/>
          </a:p>
        </p:txBody>
      </p:sp>
      <p:sp>
        <p:nvSpPr>
          <p:cNvPr id="17" name="Text 13">
            <a:extLst>
              <a:ext uri="{FF2B5EF4-FFF2-40B4-BE49-F238E27FC236}">
                <a16:creationId xmlns:a16="http://schemas.microsoft.com/office/drawing/2014/main" id="{426DD93F-71D7-AACE-ACA2-83699ACB3520}"/>
              </a:ext>
            </a:extLst>
          </p:cNvPr>
          <p:cNvSpPr/>
          <p:nvPr/>
        </p:nvSpPr>
        <p:spPr>
          <a:xfrm>
            <a:off x="7132320" y="1444425"/>
            <a:ext cx="1554480" cy="228600"/>
          </a:xfrm>
          <a:prstGeom prst="rect">
            <a:avLst/>
          </a:prstGeom>
          <a:noFill/>
          <a:ln/>
        </p:spPr>
        <p:txBody>
          <a:bodyPr wrap="square" lIns="0" tIns="0" rIns="0" bIns="0" rtlCol="0" anchor="ctr"/>
          <a:lstStyle/>
          <a:p>
            <a:pPr marL="0" indent="0" algn="r">
              <a:buNone/>
            </a:pPr>
            <a:r>
              <a:rPr lang="en-US" sz="1100" dirty="0">
                <a:solidFill>
                  <a:srgbClr val="00D4AA"/>
                </a:solidFill>
                <a:latin typeface="Consolas" pitchFamily="34" charset="0"/>
                <a:ea typeface="Consolas" pitchFamily="34" charset="-122"/>
                <a:cs typeface="Consolas" pitchFamily="34" charset="-120"/>
              </a:rPr>
              <a:t>Uniform Range</a:t>
            </a:r>
            <a:endParaRPr lang="en-US" sz="1100" dirty="0"/>
          </a:p>
        </p:txBody>
      </p:sp>
      <p:sp>
        <p:nvSpPr>
          <p:cNvPr id="18" name="Text 14">
            <a:extLst>
              <a:ext uri="{FF2B5EF4-FFF2-40B4-BE49-F238E27FC236}">
                <a16:creationId xmlns:a16="http://schemas.microsoft.com/office/drawing/2014/main" id="{339E59CE-F86A-5A11-4720-57C1C689098F}"/>
              </a:ext>
            </a:extLst>
          </p:cNvPr>
          <p:cNvSpPr/>
          <p:nvPr/>
        </p:nvSpPr>
        <p:spPr>
          <a:xfrm>
            <a:off x="4777740" y="1645593"/>
            <a:ext cx="4000500" cy="32004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Bids within equity-bucketed ranges using uniform randomization. Prevents opponents from reverse-engineering our hand strength from bid amounts.</a:t>
            </a:r>
            <a:endParaRPr lang="en-US" sz="900" dirty="0"/>
          </a:p>
        </p:txBody>
      </p:sp>
      <p:sp>
        <p:nvSpPr>
          <p:cNvPr id="19" name="Shape 15">
            <a:extLst>
              <a:ext uri="{FF2B5EF4-FFF2-40B4-BE49-F238E27FC236}">
                <a16:creationId xmlns:a16="http://schemas.microsoft.com/office/drawing/2014/main" id="{EC211641-84AC-42E4-E6BE-2E7DAE142D48}"/>
              </a:ext>
            </a:extLst>
          </p:cNvPr>
          <p:cNvSpPr/>
          <p:nvPr/>
        </p:nvSpPr>
        <p:spPr>
          <a:xfrm>
            <a:off x="4663440" y="2029641"/>
            <a:ext cx="4114800" cy="566928"/>
          </a:xfrm>
          <a:prstGeom prst="rect">
            <a:avLst/>
          </a:prstGeom>
          <a:solidFill>
            <a:srgbClr val="1A2736"/>
          </a:solidFill>
          <a:ln/>
          <a:effectLst>
            <a:outerShdw blurRad="50800" dist="12700" dir="8100000" algn="bl" rotWithShape="0">
              <a:srgbClr val="000000">
                <a:alpha val="20000"/>
              </a:srgbClr>
            </a:outerShdw>
          </a:effectLst>
        </p:spPr>
        <p:txBody>
          <a:bodyPr/>
          <a:lstStyle/>
          <a:p>
            <a:endParaRPr lang="en-IN"/>
          </a:p>
        </p:txBody>
      </p:sp>
      <p:sp>
        <p:nvSpPr>
          <p:cNvPr id="20" name="Shape 16">
            <a:extLst>
              <a:ext uri="{FF2B5EF4-FFF2-40B4-BE49-F238E27FC236}">
                <a16:creationId xmlns:a16="http://schemas.microsoft.com/office/drawing/2014/main" id="{9B4DD265-99F6-563C-6C63-69E989ABDA31}"/>
              </a:ext>
            </a:extLst>
          </p:cNvPr>
          <p:cNvSpPr/>
          <p:nvPr/>
        </p:nvSpPr>
        <p:spPr>
          <a:xfrm>
            <a:off x="4663440" y="2029641"/>
            <a:ext cx="45720" cy="566928"/>
          </a:xfrm>
          <a:prstGeom prst="rect">
            <a:avLst/>
          </a:prstGeom>
          <a:solidFill>
            <a:srgbClr val="3B82F6"/>
          </a:solidFill>
          <a:ln/>
        </p:spPr>
        <p:txBody>
          <a:bodyPr/>
          <a:lstStyle/>
          <a:p>
            <a:endParaRPr lang="en-IN"/>
          </a:p>
        </p:txBody>
      </p:sp>
      <p:sp>
        <p:nvSpPr>
          <p:cNvPr id="22" name="Text 18">
            <a:extLst>
              <a:ext uri="{FF2B5EF4-FFF2-40B4-BE49-F238E27FC236}">
                <a16:creationId xmlns:a16="http://schemas.microsoft.com/office/drawing/2014/main" id="{E42A0DB8-DF42-9660-6106-7A8DC72B80BF}"/>
              </a:ext>
            </a:extLst>
          </p:cNvPr>
          <p:cNvSpPr/>
          <p:nvPr/>
        </p:nvSpPr>
        <p:spPr>
          <a:xfrm>
            <a:off x="4828032" y="2139369"/>
            <a:ext cx="347472" cy="347472"/>
          </a:xfrm>
          <a:prstGeom prst="rect">
            <a:avLst/>
          </a:prstGeom>
          <a:noFill/>
          <a:ln/>
        </p:spPr>
        <p:txBody>
          <a:bodyPr wrap="square" lIns="0" tIns="0" rIns="0" bIns="0" rtlCol="0" anchor="ctr"/>
          <a:lstStyle/>
          <a:p>
            <a:pPr marL="0" indent="0" algn="ctr">
              <a:buNone/>
            </a:pPr>
            <a:endParaRPr lang="en-US" sz="1300" dirty="0"/>
          </a:p>
        </p:txBody>
      </p:sp>
      <p:sp>
        <p:nvSpPr>
          <p:cNvPr id="23" name="Text 19">
            <a:extLst>
              <a:ext uri="{FF2B5EF4-FFF2-40B4-BE49-F238E27FC236}">
                <a16:creationId xmlns:a16="http://schemas.microsoft.com/office/drawing/2014/main" id="{025510C9-ACFF-F67A-1C7C-B25E4D75CFFE}"/>
              </a:ext>
            </a:extLst>
          </p:cNvPr>
          <p:cNvSpPr/>
          <p:nvPr/>
        </p:nvSpPr>
        <p:spPr>
          <a:xfrm>
            <a:off x="4777740" y="2038785"/>
            <a:ext cx="2162432" cy="228600"/>
          </a:xfrm>
          <a:prstGeom prst="rect">
            <a:avLst/>
          </a:prstGeom>
          <a:noFill/>
          <a:ln/>
        </p:spPr>
        <p:txBody>
          <a:bodyPr wrap="square" lIns="0" tIns="0" rIns="0" bIns="0" rtlCol="0" anchor="ctr"/>
          <a:lstStyle/>
          <a:p>
            <a:pPr marL="0" indent="0">
              <a:buNone/>
            </a:pPr>
            <a:r>
              <a:rPr lang="en-US" sz="1200" b="1" dirty="0">
                <a:solidFill>
                  <a:srgbClr val="F0F4F8"/>
                </a:solidFill>
                <a:latin typeface="Trebuchet MS" pitchFamily="34" charset="0"/>
                <a:ea typeface="Trebuchet MS" pitchFamily="34" charset="-122"/>
                <a:cs typeface="Trebuchet MS" pitchFamily="34" charset="-120"/>
              </a:rPr>
              <a:t>Check-Raise</a:t>
            </a:r>
            <a:endParaRPr lang="en-US" sz="1200" dirty="0"/>
          </a:p>
        </p:txBody>
      </p:sp>
      <p:sp>
        <p:nvSpPr>
          <p:cNvPr id="24" name="Text 20">
            <a:extLst>
              <a:ext uri="{FF2B5EF4-FFF2-40B4-BE49-F238E27FC236}">
                <a16:creationId xmlns:a16="http://schemas.microsoft.com/office/drawing/2014/main" id="{D634F474-667D-748D-80E5-D607E85DF894}"/>
              </a:ext>
            </a:extLst>
          </p:cNvPr>
          <p:cNvSpPr/>
          <p:nvPr/>
        </p:nvSpPr>
        <p:spPr>
          <a:xfrm>
            <a:off x="7132320" y="2066217"/>
            <a:ext cx="1554480" cy="228600"/>
          </a:xfrm>
          <a:prstGeom prst="rect">
            <a:avLst/>
          </a:prstGeom>
          <a:noFill/>
          <a:ln/>
        </p:spPr>
        <p:txBody>
          <a:bodyPr wrap="square" lIns="0" tIns="0" rIns="0" bIns="0" rtlCol="0" anchor="ctr"/>
          <a:lstStyle/>
          <a:p>
            <a:pPr marL="0" indent="0" algn="r">
              <a:buNone/>
            </a:pPr>
            <a:r>
              <a:rPr lang="en-US" sz="1100" dirty="0">
                <a:solidFill>
                  <a:srgbClr val="3B82F6"/>
                </a:solidFill>
                <a:latin typeface="Consolas" pitchFamily="34" charset="0"/>
                <a:ea typeface="Consolas" pitchFamily="34" charset="-122"/>
                <a:cs typeface="Consolas" pitchFamily="34" charset="-120"/>
              </a:rPr>
              <a:t>22% – 30%</a:t>
            </a:r>
            <a:endParaRPr lang="en-US" sz="1100" dirty="0"/>
          </a:p>
        </p:txBody>
      </p:sp>
      <p:sp>
        <p:nvSpPr>
          <p:cNvPr id="25" name="Text 21">
            <a:extLst>
              <a:ext uri="{FF2B5EF4-FFF2-40B4-BE49-F238E27FC236}">
                <a16:creationId xmlns:a16="http://schemas.microsoft.com/office/drawing/2014/main" id="{A0EBB14E-4D4B-D3FD-D4F4-251F83750545}"/>
              </a:ext>
            </a:extLst>
          </p:cNvPr>
          <p:cNvSpPr/>
          <p:nvPr/>
        </p:nvSpPr>
        <p:spPr>
          <a:xfrm>
            <a:off x="4777740" y="2267385"/>
            <a:ext cx="4000500" cy="32004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Monsters are check-raised at balanced frequency. Prevents opponents from freely betting when we check.</a:t>
            </a:r>
            <a:endParaRPr lang="en-US" sz="900" dirty="0"/>
          </a:p>
        </p:txBody>
      </p:sp>
      <p:sp>
        <p:nvSpPr>
          <p:cNvPr id="26" name="Shape 22">
            <a:extLst>
              <a:ext uri="{FF2B5EF4-FFF2-40B4-BE49-F238E27FC236}">
                <a16:creationId xmlns:a16="http://schemas.microsoft.com/office/drawing/2014/main" id="{ACA9FAB4-E04D-21C7-05FA-94BFBC00EC1D}"/>
              </a:ext>
            </a:extLst>
          </p:cNvPr>
          <p:cNvSpPr/>
          <p:nvPr/>
        </p:nvSpPr>
        <p:spPr>
          <a:xfrm>
            <a:off x="4663440" y="2651433"/>
            <a:ext cx="4114800" cy="566928"/>
          </a:xfrm>
          <a:prstGeom prst="rect">
            <a:avLst/>
          </a:prstGeom>
          <a:solidFill>
            <a:srgbClr val="1A2736"/>
          </a:solidFill>
          <a:ln/>
          <a:effectLst>
            <a:outerShdw blurRad="50800" dist="12700" dir="8100000" algn="bl" rotWithShape="0">
              <a:srgbClr val="000000">
                <a:alpha val="20000"/>
              </a:srgbClr>
            </a:outerShdw>
          </a:effectLst>
        </p:spPr>
        <p:txBody>
          <a:bodyPr/>
          <a:lstStyle/>
          <a:p>
            <a:endParaRPr lang="en-IN"/>
          </a:p>
        </p:txBody>
      </p:sp>
      <p:sp>
        <p:nvSpPr>
          <p:cNvPr id="27" name="Shape 23">
            <a:extLst>
              <a:ext uri="{FF2B5EF4-FFF2-40B4-BE49-F238E27FC236}">
                <a16:creationId xmlns:a16="http://schemas.microsoft.com/office/drawing/2014/main" id="{0B947769-E60F-7636-CF49-E448DA042181}"/>
              </a:ext>
            </a:extLst>
          </p:cNvPr>
          <p:cNvSpPr/>
          <p:nvPr/>
        </p:nvSpPr>
        <p:spPr>
          <a:xfrm>
            <a:off x="4663440" y="2651433"/>
            <a:ext cx="45720" cy="566928"/>
          </a:xfrm>
          <a:prstGeom prst="rect">
            <a:avLst/>
          </a:prstGeom>
          <a:solidFill>
            <a:srgbClr val="F59E0B"/>
          </a:solidFill>
          <a:ln/>
        </p:spPr>
        <p:txBody>
          <a:bodyPr/>
          <a:lstStyle/>
          <a:p>
            <a:endParaRPr lang="en-IN"/>
          </a:p>
        </p:txBody>
      </p:sp>
      <p:sp>
        <p:nvSpPr>
          <p:cNvPr id="30" name="Text 26">
            <a:extLst>
              <a:ext uri="{FF2B5EF4-FFF2-40B4-BE49-F238E27FC236}">
                <a16:creationId xmlns:a16="http://schemas.microsoft.com/office/drawing/2014/main" id="{DA2940B4-3EE2-F25C-E764-3A7E05E94B9C}"/>
              </a:ext>
            </a:extLst>
          </p:cNvPr>
          <p:cNvSpPr/>
          <p:nvPr/>
        </p:nvSpPr>
        <p:spPr>
          <a:xfrm>
            <a:off x="4777740" y="2660577"/>
            <a:ext cx="2162432" cy="228600"/>
          </a:xfrm>
          <a:prstGeom prst="rect">
            <a:avLst/>
          </a:prstGeom>
          <a:noFill/>
          <a:ln/>
        </p:spPr>
        <p:txBody>
          <a:bodyPr wrap="square" lIns="0" tIns="0" rIns="0" bIns="0" rtlCol="0" anchor="ctr"/>
          <a:lstStyle/>
          <a:p>
            <a:pPr marL="0" indent="0">
              <a:buNone/>
            </a:pPr>
            <a:r>
              <a:rPr lang="en-US" sz="1200" b="1" dirty="0">
                <a:solidFill>
                  <a:srgbClr val="F0F4F8"/>
                </a:solidFill>
                <a:latin typeface="Trebuchet MS" pitchFamily="34" charset="0"/>
                <a:ea typeface="Trebuchet MS" pitchFamily="34" charset="-122"/>
                <a:cs typeface="Trebuchet MS" pitchFamily="34" charset="-120"/>
              </a:rPr>
              <a:t>Slow-Play Trap</a:t>
            </a:r>
            <a:endParaRPr lang="en-US" sz="1200" dirty="0"/>
          </a:p>
        </p:txBody>
      </p:sp>
      <p:sp>
        <p:nvSpPr>
          <p:cNvPr id="31" name="Text 27">
            <a:extLst>
              <a:ext uri="{FF2B5EF4-FFF2-40B4-BE49-F238E27FC236}">
                <a16:creationId xmlns:a16="http://schemas.microsoft.com/office/drawing/2014/main" id="{76EA5184-1AA1-AA5C-9B29-ED09743D2FD2}"/>
              </a:ext>
            </a:extLst>
          </p:cNvPr>
          <p:cNvSpPr/>
          <p:nvPr/>
        </p:nvSpPr>
        <p:spPr>
          <a:xfrm>
            <a:off x="7132320" y="2688009"/>
            <a:ext cx="1554480" cy="228600"/>
          </a:xfrm>
          <a:prstGeom prst="rect">
            <a:avLst/>
          </a:prstGeom>
          <a:noFill/>
          <a:ln/>
        </p:spPr>
        <p:txBody>
          <a:bodyPr wrap="square" lIns="0" tIns="0" rIns="0" bIns="0" rtlCol="0" anchor="ctr"/>
          <a:lstStyle/>
          <a:p>
            <a:pPr marL="0" indent="0" algn="r">
              <a:buNone/>
            </a:pPr>
            <a:r>
              <a:rPr lang="en-US" sz="1100" dirty="0">
                <a:solidFill>
                  <a:srgbClr val="F59E0B"/>
                </a:solidFill>
                <a:latin typeface="Consolas" pitchFamily="34" charset="0"/>
                <a:ea typeface="Consolas" pitchFamily="34" charset="-122"/>
                <a:cs typeface="Consolas" pitchFamily="34" charset="-120"/>
              </a:rPr>
              <a:t>4% (adj &gt; 0.96)</a:t>
            </a:r>
            <a:endParaRPr lang="en-US" sz="1100" dirty="0"/>
          </a:p>
        </p:txBody>
      </p:sp>
      <p:sp>
        <p:nvSpPr>
          <p:cNvPr id="32" name="Text 28">
            <a:extLst>
              <a:ext uri="{FF2B5EF4-FFF2-40B4-BE49-F238E27FC236}">
                <a16:creationId xmlns:a16="http://schemas.microsoft.com/office/drawing/2014/main" id="{ED0425D9-AA9B-0024-1E3E-DC743F52C440}"/>
              </a:ext>
            </a:extLst>
          </p:cNvPr>
          <p:cNvSpPr/>
          <p:nvPr/>
        </p:nvSpPr>
        <p:spPr>
          <a:xfrm>
            <a:off x="4777740" y="2889177"/>
            <a:ext cx="4000500" cy="32004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Absolute monsters occasionally just check, inducing bluffs from opponents who misread passivity as weakness.</a:t>
            </a:r>
            <a:endParaRPr lang="en-US" sz="900" dirty="0"/>
          </a:p>
        </p:txBody>
      </p:sp>
      <p:sp>
        <p:nvSpPr>
          <p:cNvPr id="33" name="Shape 29">
            <a:extLst>
              <a:ext uri="{FF2B5EF4-FFF2-40B4-BE49-F238E27FC236}">
                <a16:creationId xmlns:a16="http://schemas.microsoft.com/office/drawing/2014/main" id="{891D655E-22D4-A81E-15E1-2C6C02B179A1}"/>
              </a:ext>
            </a:extLst>
          </p:cNvPr>
          <p:cNvSpPr/>
          <p:nvPr/>
        </p:nvSpPr>
        <p:spPr>
          <a:xfrm>
            <a:off x="4663440" y="3273225"/>
            <a:ext cx="4114800" cy="566928"/>
          </a:xfrm>
          <a:prstGeom prst="rect">
            <a:avLst/>
          </a:prstGeom>
          <a:solidFill>
            <a:srgbClr val="1A2736"/>
          </a:solidFill>
          <a:ln/>
          <a:effectLst>
            <a:outerShdw blurRad="50800" dist="12700" dir="8100000" algn="bl" rotWithShape="0">
              <a:srgbClr val="000000">
                <a:alpha val="20000"/>
              </a:srgbClr>
            </a:outerShdw>
          </a:effectLst>
        </p:spPr>
        <p:txBody>
          <a:bodyPr/>
          <a:lstStyle/>
          <a:p>
            <a:endParaRPr lang="en-IN"/>
          </a:p>
        </p:txBody>
      </p:sp>
      <p:sp>
        <p:nvSpPr>
          <p:cNvPr id="34" name="Shape 30">
            <a:extLst>
              <a:ext uri="{FF2B5EF4-FFF2-40B4-BE49-F238E27FC236}">
                <a16:creationId xmlns:a16="http://schemas.microsoft.com/office/drawing/2014/main" id="{6AD9817F-969E-2F3E-32A4-3C6F85CABE83}"/>
              </a:ext>
            </a:extLst>
          </p:cNvPr>
          <p:cNvSpPr/>
          <p:nvPr/>
        </p:nvSpPr>
        <p:spPr>
          <a:xfrm>
            <a:off x="4663440" y="3273225"/>
            <a:ext cx="45720" cy="566928"/>
          </a:xfrm>
          <a:prstGeom prst="rect">
            <a:avLst/>
          </a:prstGeom>
          <a:solidFill>
            <a:srgbClr val="00D4AA"/>
          </a:solidFill>
          <a:ln/>
        </p:spPr>
        <p:txBody>
          <a:bodyPr/>
          <a:lstStyle/>
          <a:p>
            <a:endParaRPr lang="en-IN"/>
          </a:p>
        </p:txBody>
      </p:sp>
      <p:sp>
        <p:nvSpPr>
          <p:cNvPr id="36" name="Text 32">
            <a:extLst>
              <a:ext uri="{FF2B5EF4-FFF2-40B4-BE49-F238E27FC236}">
                <a16:creationId xmlns:a16="http://schemas.microsoft.com/office/drawing/2014/main" id="{13B08815-1FD9-C8A9-1983-B7FF21E679F0}"/>
              </a:ext>
            </a:extLst>
          </p:cNvPr>
          <p:cNvSpPr/>
          <p:nvPr/>
        </p:nvSpPr>
        <p:spPr>
          <a:xfrm>
            <a:off x="4828032" y="3382953"/>
            <a:ext cx="347472" cy="347472"/>
          </a:xfrm>
          <a:prstGeom prst="rect">
            <a:avLst/>
          </a:prstGeom>
          <a:noFill/>
          <a:ln/>
        </p:spPr>
        <p:txBody>
          <a:bodyPr wrap="square" lIns="0" tIns="0" rIns="0" bIns="0" rtlCol="0" anchor="ctr"/>
          <a:lstStyle/>
          <a:p>
            <a:pPr marL="0" indent="0" algn="ctr">
              <a:buNone/>
            </a:pPr>
            <a:endParaRPr lang="en-US" sz="1300" dirty="0"/>
          </a:p>
        </p:txBody>
      </p:sp>
      <p:sp>
        <p:nvSpPr>
          <p:cNvPr id="37" name="Text 33">
            <a:extLst>
              <a:ext uri="{FF2B5EF4-FFF2-40B4-BE49-F238E27FC236}">
                <a16:creationId xmlns:a16="http://schemas.microsoft.com/office/drawing/2014/main" id="{5D9FB726-E672-1E98-89F0-BE602A74FF72}"/>
              </a:ext>
            </a:extLst>
          </p:cNvPr>
          <p:cNvSpPr/>
          <p:nvPr/>
        </p:nvSpPr>
        <p:spPr>
          <a:xfrm>
            <a:off x="4777740" y="3282369"/>
            <a:ext cx="2162432" cy="228600"/>
          </a:xfrm>
          <a:prstGeom prst="rect">
            <a:avLst/>
          </a:prstGeom>
          <a:noFill/>
          <a:ln/>
        </p:spPr>
        <p:txBody>
          <a:bodyPr wrap="square" lIns="0" tIns="0" rIns="0" bIns="0" rtlCol="0" anchor="ctr"/>
          <a:lstStyle/>
          <a:p>
            <a:pPr marL="0" indent="0">
              <a:buNone/>
            </a:pPr>
            <a:r>
              <a:rPr lang="en-US" sz="1200" b="1" dirty="0">
                <a:solidFill>
                  <a:srgbClr val="F0F4F8"/>
                </a:solidFill>
                <a:latin typeface="Trebuchet MS" pitchFamily="34" charset="0"/>
                <a:ea typeface="Trebuchet MS" pitchFamily="34" charset="-122"/>
                <a:cs typeface="Trebuchet MS" pitchFamily="34" charset="-120"/>
              </a:rPr>
              <a:t>Overbet Catch</a:t>
            </a:r>
            <a:endParaRPr lang="en-US" sz="1200" dirty="0"/>
          </a:p>
        </p:txBody>
      </p:sp>
      <p:sp>
        <p:nvSpPr>
          <p:cNvPr id="38" name="Text 34">
            <a:extLst>
              <a:ext uri="{FF2B5EF4-FFF2-40B4-BE49-F238E27FC236}">
                <a16:creationId xmlns:a16="http://schemas.microsoft.com/office/drawing/2014/main" id="{48392B89-6F35-F851-BC74-DAF9653636EB}"/>
              </a:ext>
            </a:extLst>
          </p:cNvPr>
          <p:cNvSpPr/>
          <p:nvPr/>
        </p:nvSpPr>
        <p:spPr>
          <a:xfrm>
            <a:off x="7132320" y="3309801"/>
            <a:ext cx="1554480" cy="228600"/>
          </a:xfrm>
          <a:prstGeom prst="rect">
            <a:avLst/>
          </a:prstGeom>
          <a:noFill/>
          <a:ln/>
        </p:spPr>
        <p:txBody>
          <a:bodyPr wrap="square" lIns="0" tIns="0" rIns="0" bIns="0" rtlCol="0" anchor="ctr"/>
          <a:lstStyle/>
          <a:p>
            <a:pPr marL="0" indent="0" algn="r">
              <a:buNone/>
            </a:pPr>
            <a:r>
              <a:rPr lang="en-US" sz="1100" dirty="0">
                <a:solidFill>
                  <a:srgbClr val="00D4AA"/>
                </a:solidFill>
                <a:latin typeface="Consolas" pitchFamily="34" charset="0"/>
                <a:ea typeface="Consolas" pitchFamily="34" charset="-122"/>
                <a:cs typeface="Consolas" pitchFamily="34" charset="-120"/>
              </a:rPr>
              <a:t>10% – 30%</a:t>
            </a:r>
            <a:endParaRPr lang="en-US" sz="1100" dirty="0"/>
          </a:p>
        </p:txBody>
      </p:sp>
      <p:sp>
        <p:nvSpPr>
          <p:cNvPr id="39" name="Text 35">
            <a:extLst>
              <a:ext uri="{FF2B5EF4-FFF2-40B4-BE49-F238E27FC236}">
                <a16:creationId xmlns:a16="http://schemas.microsoft.com/office/drawing/2014/main" id="{33D4F163-94C7-6EAF-8BE8-C111C19537F5}"/>
              </a:ext>
            </a:extLst>
          </p:cNvPr>
          <p:cNvSpPr/>
          <p:nvPr/>
        </p:nvSpPr>
        <p:spPr>
          <a:xfrm>
            <a:off x="4777740" y="3510969"/>
            <a:ext cx="4000500" cy="32004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Calls massive overbets at scaled probabilities. Prevents opponents from printing chips with unlimited overbet bluffs.</a:t>
            </a:r>
            <a:endParaRPr lang="en-US" sz="900" dirty="0"/>
          </a:p>
        </p:txBody>
      </p:sp>
      <p:sp>
        <p:nvSpPr>
          <p:cNvPr id="40" name="Shape 36">
            <a:extLst>
              <a:ext uri="{FF2B5EF4-FFF2-40B4-BE49-F238E27FC236}">
                <a16:creationId xmlns:a16="http://schemas.microsoft.com/office/drawing/2014/main" id="{A539E18D-8E72-D378-40BA-8346B4879D1A}"/>
              </a:ext>
            </a:extLst>
          </p:cNvPr>
          <p:cNvSpPr/>
          <p:nvPr/>
        </p:nvSpPr>
        <p:spPr>
          <a:xfrm>
            <a:off x="4663440" y="3895017"/>
            <a:ext cx="4114800" cy="566928"/>
          </a:xfrm>
          <a:prstGeom prst="rect">
            <a:avLst/>
          </a:prstGeom>
          <a:solidFill>
            <a:srgbClr val="1A2736"/>
          </a:solidFill>
          <a:ln/>
          <a:effectLst>
            <a:outerShdw blurRad="50800" dist="12700" dir="8100000" algn="bl" rotWithShape="0">
              <a:srgbClr val="000000">
                <a:alpha val="20000"/>
              </a:srgbClr>
            </a:outerShdw>
          </a:effectLst>
        </p:spPr>
        <p:txBody>
          <a:bodyPr/>
          <a:lstStyle/>
          <a:p>
            <a:endParaRPr lang="en-IN"/>
          </a:p>
        </p:txBody>
      </p:sp>
      <p:sp>
        <p:nvSpPr>
          <p:cNvPr id="41" name="Shape 37">
            <a:extLst>
              <a:ext uri="{FF2B5EF4-FFF2-40B4-BE49-F238E27FC236}">
                <a16:creationId xmlns:a16="http://schemas.microsoft.com/office/drawing/2014/main" id="{B7D001EA-3AAD-6AD3-DC79-8A1076C781E8}"/>
              </a:ext>
            </a:extLst>
          </p:cNvPr>
          <p:cNvSpPr/>
          <p:nvPr/>
        </p:nvSpPr>
        <p:spPr>
          <a:xfrm>
            <a:off x="4663440" y="3895017"/>
            <a:ext cx="45720" cy="566928"/>
          </a:xfrm>
          <a:prstGeom prst="rect">
            <a:avLst/>
          </a:prstGeom>
          <a:solidFill>
            <a:srgbClr val="3B82F6"/>
          </a:solidFill>
          <a:ln/>
        </p:spPr>
        <p:txBody>
          <a:bodyPr/>
          <a:lstStyle/>
          <a:p>
            <a:endParaRPr lang="en-IN"/>
          </a:p>
        </p:txBody>
      </p:sp>
      <p:sp>
        <p:nvSpPr>
          <p:cNvPr id="43" name="Text 39">
            <a:extLst>
              <a:ext uri="{FF2B5EF4-FFF2-40B4-BE49-F238E27FC236}">
                <a16:creationId xmlns:a16="http://schemas.microsoft.com/office/drawing/2014/main" id="{B1B6C9F6-0E80-69E7-94B3-C1193504FF70}"/>
              </a:ext>
            </a:extLst>
          </p:cNvPr>
          <p:cNvSpPr/>
          <p:nvPr/>
        </p:nvSpPr>
        <p:spPr>
          <a:xfrm>
            <a:off x="4828032" y="4004745"/>
            <a:ext cx="347472" cy="347472"/>
          </a:xfrm>
          <a:prstGeom prst="rect">
            <a:avLst/>
          </a:prstGeom>
          <a:noFill/>
          <a:ln/>
        </p:spPr>
        <p:txBody>
          <a:bodyPr wrap="square" lIns="0" tIns="0" rIns="0" bIns="0" rtlCol="0" anchor="ctr"/>
          <a:lstStyle/>
          <a:p>
            <a:pPr marL="0" indent="0" algn="ctr">
              <a:buNone/>
            </a:pPr>
            <a:endParaRPr lang="en-US" sz="1300" dirty="0"/>
          </a:p>
        </p:txBody>
      </p:sp>
      <p:sp>
        <p:nvSpPr>
          <p:cNvPr id="44" name="Text 40">
            <a:extLst>
              <a:ext uri="{FF2B5EF4-FFF2-40B4-BE49-F238E27FC236}">
                <a16:creationId xmlns:a16="http://schemas.microsoft.com/office/drawing/2014/main" id="{5C305093-CBC2-2B41-4CCA-F5AF1D10A414}"/>
              </a:ext>
            </a:extLst>
          </p:cNvPr>
          <p:cNvSpPr/>
          <p:nvPr/>
        </p:nvSpPr>
        <p:spPr>
          <a:xfrm>
            <a:off x="4777740" y="3904161"/>
            <a:ext cx="2162432" cy="228600"/>
          </a:xfrm>
          <a:prstGeom prst="rect">
            <a:avLst/>
          </a:prstGeom>
          <a:noFill/>
          <a:ln/>
        </p:spPr>
        <p:txBody>
          <a:bodyPr wrap="square" lIns="0" tIns="0" rIns="0" bIns="0" rtlCol="0" anchor="ctr"/>
          <a:lstStyle/>
          <a:p>
            <a:pPr marL="0" indent="0">
              <a:buNone/>
            </a:pPr>
            <a:r>
              <a:rPr lang="en-US" sz="1200" b="1" dirty="0">
                <a:solidFill>
                  <a:srgbClr val="F0F4F8"/>
                </a:solidFill>
                <a:latin typeface="Trebuchet MS" pitchFamily="34" charset="0"/>
                <a:ea typeface="Trebuchet MS" pitchFamily="34" charset="-122"/>
                <a:cs typeface="Trebuchet MS" pitchFamily="34" charset="-120"/>
              </a:rPr>
              <a:t>Pure Bluff</a:t>
            </a:r>
            <a:endParaRPr lang="en-US" sz="1200" dirty="0"/>
          </a:p>
        </p:txBody>
      </p:sp>
      <p:sp>
        <p:nvSpPr>
          <p:cNvPr id="45" name="Text 41">
            <a:extLst>
              <a:ext uri="{FF2B5EF4-FFF2-40B4-BE49-F238E27FC236}">
                <a16:creationId xmlns:a16="http://schemas.microsoft.com/office/drawing/2014/main" id="{65CEEAC5-FE77-9E67-1F23-4C68D08E3554}"/>
              </a:ext>
            </a:extLst>
          </p:cNvPr>
          <p:cNvSpPr/>
          <p:nvPr/>
        </p:nvSpPr>
        <p:spPr>
          <a:xfrm>
            <a:off x="7132320" y="3931593"/>
            <a:ext cx="1554480" cy="228600"/>
          </a:xfrm>
          <a:prstGeom prst="rect">
            <a:avLst/>
          </a:prstGeom>
          <a:noFill/>
          <a:ln/>
        </p:spPr>
        <p:txBody>
          <a:bodyPr wrap="square" lIns="0" tIns="0" rIns="0" bIns="0" rtlCol="0" anchor="ctr"/>
          <a:lstStyle/>
          <a:p>
            <a:pPr marL="0" indent="0" algn="r">
              <a:buNone/>
            </a:pPr>
            <a:r>
              <a:rPr lang="en-US" sz="1100" dirty="0">
                <a:solidFill>
                  <a:srgbClr val="3B82F6"/>
                </a:solidFill>
                <a:latin typeface="Consolas" pitchFamily="34" charset="0"/>
                <a:ea typeface="Consolas" pitchFamily="34" charset="-122"/>
                <a:cs typeface="Consolas" pitchFamily="34" charset="-120"/>
              </a:rPr>
              <a:t>8/12% – 24/30%</a:t>
            </a:r>
            <a:endParaRPr lang="en-US" sz="1100" dirty="0"/>
          </a:p>
        </p:txBody>
      </p:sp>
      <p:sp>
        <p:nvSpPr>
          <p:cNvPr id="46" name="Text 42">
            <a:extLst>
              <a:ext uri="{FF2B5EF4-FFF2-40B4-BE49-F238E27FC236}">
                <a16:creationId xmlns:a16="http://schemas.microsoft.com/office/drawing/2014/main" id="{4A8497DB-D774-333E-5197-CF2943029E8C}"/>
              </a:ext>
            </a:extLst>
          </p:cNvPr>
          <p:cNvSpPr/>
          <p:nvPr/>
        </p:nvSpPr>
        <p:spPr>
          <a:xfrm>
            <a:off x="4777740" y="4132761"/>
            <a:ext cx="4000500" cy="32004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Bluff frequency scales with opponent's historical fold rate. Maximises fold equity without over-bluffing.</a:t>
            </a:r>
            <a:endParaRPr lang="en-US" sz="900" dirty="0"/>
          </a:p>
        </p:txBody>
      </p:sp>
      <p:sp>
        <p:nvSpPr>
          <p:cNvPr id="49" name="Text 44">
            <a:extLst>
              <a:ext uri="{FF2B5EF4-FFF2-40B4-BE49-F238E27FC236}">
                <a16:creationId xmlns:a16="http://schemas.microsoft.com/office/drawing/2014/main" id="{39676281-3159-EF9E-49E8-4601CC4705E4}"/>
              </a:ext>
            </a:extLst>
          </p:cNvPr>
          <p:cNvSpPr/>
          <p:nvPr/>
        </p:nvSpPr>
        <p:spPr>
          <a:xfrm>
            <a:off x="667512" y="4763697"/>
            <a:ext cx="7863840" cy="274320"/>
          </a:xfrm>
          <a:prstGeom prst="rect">
            <a:avLst/>
          </a:prstGeom>
          <a:noFill/>
          <a:ln/>
        </p:spPr>
        <p:txBody>
          <a:bodyPr wrap="square" lIns="0" tIns="0" rIns="0" bIns="0" rtlCol="0" anchor="ctr"/>
          <a:lstStyle/>
          <a:p>
            <a:r>
              <a:rPr lang="en-US" sz="1000" i="1" dirty="0">
                <a:solidFill>
                  <a:schemeClr val="bg1">
                    <a:lumMod val="65000"/>
                  </a:schemeClr>
                </a:solidFill>
              </a:rPr>
              <a:t>Creates a highly exploit-resistant mixed strategy. Even if an opponent models our tendencies, calibrated randomness makes deterministic counter-attacks highly difficult</a:t>
            </a:r>
            <a:endParaRPr lang="en-US" sz="950" i="1" dirty="0">
              <a:solidFill>
                <a:schemeClr val="bg1">
                  <a:lumMod val="65000"/>
                </a:schemeClr>
              </a:solidFill>
            </a:endParaRPr>
          </a:p>
        </p:txBody>
      </p:sp>
    </p:spTree>
    <p:extLst>
      <p:ext uri="{BB962C8B-B14F-4D97-AF65-F5344CB8AC3E}">
        <p14:creationId xmlns:p14="http://schemas.microsoft.com/office/powerpoint/2010/main" val="4084209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18872"/>
            <a:ext cx="9144000" cy="475488"/>
          </a:xfrm>
          <a:prstGeom prst="rect">
            <a:avLst/>
          </a:prstGeom>
          <a:solidFill>
            <a:srgbClr val="1F2D3D"/>
          </a:solidFill>
          <a:ln/>
        </p:spPr>
        <p:txBody>
          <a:bodyPr/>
          <a:lstStyle/>
          <a:p>
            <a:endParaRPr lang="en-IN"/>
          </a:p>
        </p:txBody>
      </p:sp>
      <p:sp>
        <p:nvSpPr>
          <p:cNvPr id="3" name="Shape 1"/>
          <p:cNvSpPr/>
          <p:nvPr/>
        </p:nvSpPr>
        <p:spPr>
          <a:xfrm>
            <a:off x="201168" y="182880"/>
            <a:ext cx="36576" cy="347472"/>
          </a:xfrm>
          <a:prstGeom prst="rect">
            <a:avLst/>
          </a:prstGeom>
          <a:solidFill>
            <a:srgbClr val="FF9800"/>
          </a:solidFill>
          <a:ln/>
        </p:spPr>
        <p:txBody>
          <a:bodyPr/>
          <a:lstStyle/>
          <a:p>
            <a:endParaRPr lang="en-IN"/>
          </a:p>
        </p:txBody>
      </p:sp>
      <p:sp>
        <p:nvSpPr>
          <p:cNvPr id="4" name="Text 2"/>
          <p:cNvSpPr/>
          <p:nvPr/>
        </p:nvSpPr>
        <p:spPr>
          <a:xfrm>
            <a:off x="347472" y="137160"/>
            <a:ext cx="8412480" cy="457200"/>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Bot Evolution - v1 → v2 → v3 (Final Submission)</a:t>
            </a:r>
            <a:endParaRPr lang="en-US" sz="2000" dirty="0"/>
          </a:p>
        </p:txBody>
      </p:sp>
      <p:sp>
        <p:nvSpPr>
          <p:cNvPr id="5" name="Text 3"/>
          <p:cNvSpPr/>
          <p:nvPr/>
        </p:nvSpPr>
        <p:spPr>
          <a:xfrm>
            <a:off x="228600" y="731520"/>
            <a:ext cx="8686800" cy="228600"/>
          </a:xfrm>
          <a:prstGeom prst="rect">
            <a:avLst/>
          </a:prstGeom>
          <a:noFill/>
          <a:ln/>
        </p:spPr>
        <p:txBody>
          <a:bodyPr wrap="square" lIns="0" tIns="0" rIns="0" bIns="0" rtlCol="0" anchor="ctr"/>
          <a:lstStyle/>
          <a:p>
            <a:pPr marL="0" indent="0">
              <a:buNone/>
            </a:pPr>
            <a:r>
              <a:rPr lang="en-US" sz="1100" b="1" dirty="0">
                <a:solidFill>
                  <a:srgbClr val="FF9800"/>
                </a:solidFill>
                <a:latin typeface="Calibri" pitchFamily="34" charset="0"/>
                <a:ea typeface="Calibri" pitchFamily="34" charset="-122"/>
                <a:cs typeface="Calibri" pitchFamily="34" charset="-120"/>
              </a:rPr>
              <a:t>v1 → v2: Three Core Upgrades</a:t>
            </a:r>
            <a:endParaRPr lang="en-US" sz="1100" dirty="0"/>
          </a:p>
        </p:txBody>
      </p:sp>
      <p:sp>
        <p:nvSpPr>
          <p:cNvPr id="6" name="Shape 4"/>
          <p:cNvSpPr/>
          <p:nvPr/>
        </p:nvSpPr>
        <p:spPr>
          <a:xfrm>
            <a:off x="228600" y="1005840"/>
            <a:ext cx="2743200" cy="1051560"/>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7" name="Shape 5"/>
          <p:cNvSpPr/>
          <p:nvPr/>
        </p:nvSpPr>
        <p:spPr>
          <a:xfrm>
            <a:off x="228600" y="1005840"/>
            <a:ext cx="36576" cy="1051560"/>
          </a:xfrm>
          <a:prstGeom prst="rect">
            <a:avLst/>
          </a:prstGeom>
          <a:solidFill>
            <a:srgbClr val="00BCD4"/>
          </a:solidFill>
          <a:ln/>
        </p:spPr>
        <p:txBody>
          <a:bodyPr/>
          <a:lstStyle/>
          <a:p>
            <a:endParaRPr lang="en-IN"/>
          </a:p>
        </p:txBody>
      </p:sp>
      <p:sp>
        <p:nvSpPr>
          <p:cNvPr id="8" name="Text 6"/>
          <p:cNvSpPr/>
          <p:nvPr/>
        </p:nvSpPr>
        <p:spPr>
          <a:xfrm>
            <a:off x="338328" y="1051560"/>
            <a:ext cx="2468880" cy="256032"/>
          </a:xfrm>
          <a:prstGeom prst="rect">
            <a:avLst/>
          </a:prstGeom>
          <a:noFill/>
          <a:ln/>
        </p:spPr>
        <p:txBody>
          <a:bodyPr wrap="square" lIns="0" tIns="0" rIns="0" bIns="0"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MC Sim Budget</a:t>
            </a:r>
            <a:endParaRPr lang="en-US" sz="1100" dirty="0"/>
          </a:p>
        </p:txBody>
      </p:sp>
      <p:sp>
        <p:nvSpPr>
          <p:cNvPr id="9" name="Text 7"/>
          <p:cNvSpPr/>
          <p:nvPr/>
        </p:nvSpPr>
        <p:spPr>
          <a:xfrm>
            <a:off x="338328" y="1298448"/>
            <a:ext cx="2514600" cy="713232"/>
          </a:xfrm>
          <a:prstGeom prst="rect">
            <a:avLst/>
          </a:prstGeom>
          <a:noFill/>
          <a:ln/>
        </p:spPr>
        <p:txBody>
          <a:bodyPr wrap="square" lIns="0" tIns="0" rIns="0" bIns="0" rtlCol="0" anchor="t"/>
          <a:lstStyle/>
          <a:p>
            <a:pPr marL="0" indent="0">
              <a:buNone/>
            </a:pPr>
            <a:r>
              <a:rPr lang="en-US" sz="800" b="1" dirty="0">
                <a:solidFill>
                  <a:srgbClr val="F44336"/>
                </a:solidFill>
                <a:latin typeface="Calibri" pitchFamily="34" charset="0"/>
                <a:ea typeface="Calibri" pitchFamily="34" charset="-122"/>
                <a:cs typeface="Calibri" pitchFamily="34" charset="-120"/>
              </a:rPr>
              <a:t>Before: </a:t>
            </a:r>
            <a:r>
              <a:rPr lang="en-US" sz="800" dirty="0">
                <a:solidFill>
                  <a:srgbClr val="78909C"/>
                </a:solidFill>
                <a:latin typeface="Calibri" pitchFamily="34" charset="0"/>
                <a:ea typeface="Calibri" pitchFamily="34" charset="-122"/>
                <a:cs typeface="Calibri" pitchFamily="34" charset="-120"/>
              </a:rPr>
              <a:t>Flat N=450/250/120</a:t>
            </a:r>
            <a:endParaRPr lang="en-US" sz="800" dirty="0"/>
          </a:p>
          <a:p>
            <a:pPr marL="0" indent="0">
              <a:buNone/>
            </a:pPr>
            <a:r>
              <a:rPr lang="en-US" sz="800" b="1" dirty="0">
                <a:solidFill>
                  <a:srgbClr val="4CAF50"/>
                </a:solidFill>
                <a:latin typeface="Calibri" pitchFamily="34" charset="0"/>
                <a:ea typeface="Calibri" pitchFamily="34" charset="-122"/>
                <a:cs typeface="Calibri" pitchFamily="34" charset="-120"/>
              </a:rPr>
              <a:t>After: </a:t>
            </a:r>
            <a:r>
              <a:rPr lang="en-US" sz="800" dirty="0">
                <a:solidFill>
                  <a:srgbClr val="B0BEC5"/>
                </a:solidFill>
                <a:latin typeface="Calibri" pitchFamily="34" charset="0"/>
                <a:ea typeface="Calibri" pitchFamily="34" charset="-122"/>
                <a:cs typeface="Calibri" pitchFamily="34" charset="-120"/>
              </a:rPr>
              <a:t>Adaptive N by street × info. River+info = exhaustive</a:t>
            </a:r>
            <a:endParaRPr lang="en-US" sz="800" dirty="0"/>
          </a:p>
        </p:txBody>
      </p:sp>
      <p:sp>
        <p:nvSpPr>
          <p:cNvPr id="10" name="Shape 8"/>
          <p:cNvSpPr/>
          <p:nvPr/>
        </p:nvSpPr>
        <p:spPr>
          <a:xfrm>
            <a:off x="3154680" y="1005840"/>
            <a:ext cx="2743200" cy="1051560"/>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11" name="Shape 9"/>
          <p:cNvSpPr/>
          <p:nvPr/>
        </p:nvSpPr>
        <p:spPr>
          <a:xfrm>
            <a:off x="3154680" y="1005840"/>
            <a:ext cx="36576" cy="1051560"/>
          </a:xfrm>
          <a:prstGeom prst="rect">
            <a:avLst/>
          </a:prstGeom>
          <a:solidFill>
            <a:srgbClr val="FF9800"/>
          </a:solidFill>
          <a:ln/>
        </p:spPr>
        <p:txBody>
          <a:bodyPr/>
          <a:lstStyle/>
          <a:p>
            <a:endParaRPr lang="en-IN"/>
          </a:p>
        </p:txBody>
      </p:sp>
      <p:sp>
        <p:nvSpPr>
          <p:cNvPr id="12" name="Text 10"/>
          <p:cNvSpPr/>
          <p:nvPr/>
        </p:nvSpPr>
        <p:spPr>
          <a:xfrm>
            <a:off x="3264408" y="1051560"/>
            <a:ext cx="2468880" cy="256032"/>
          </a:xfrm>
          <a:prstGeom prst="rect">
            <a:avLst/>
          </a:prstGeom>
          <a:noFill/>
          <a:ln/>
        </p:spPr>
        <p:txBody>
          <a:bodyPr wrap="square" lIns="0" tIns="0" rIns="0" bIns="0" rtlCol="0" anchor="ctr"/>
          <a:lstStyle/>
          <a:p>
            <a:pPr marL="0" indent="0">
              <a:buNone/>
            </a:pPr>
            <a:r>
              <a:rPr lang="en-US" sz="1100" b="1" dirty="0">
                <a:solidFill>
                  <a:srgbClr val="FF9800"/>
                </a:solidFill>
                <a:latin typeface="Calibri" pitchFamily="34" charset="0"/>
                <a:ea typeface="Calibri" pitchFamily="34" charset="-122"/>
                <a:cs typeface="Calibri" pitchFamily="34" charset="-120"/>
              </a:rPr>
              <a:t>Recal Window</a:t>
            </a:r>
            <a:endParaRPr lang="en-US" sz="1100" dirty="0"/>
          </a:p>
        </p:txBody>
      </p:sp>
      <p:sp>
        <p:nvSpPr>
          <p:cNvPr id="13" name="Text 11"/>
          <p:cNvSpPr/>
          <p:nvPr/>
        </p:nvSpPr>
        <p:spPr>
          <a:xfrm>
            <a:off x="3264408" y="1298448"/>
            <a:ext cx="2514600" cy="713232"/>
          </a:xfrm>
          <a:prstGeom prst="rect">
            <a:avLst/>
          </a:prstGeom>
          <a:noFill/>
          <a:ln/>
        </p:spPr>
        <p:txBody>
          <a:bodyPr wrap="square" lIns="0" tIns="0" rIns="0" bIns="0" rtlCol="0" anchor="t"/>
          <a:lstStyle/>
          <a:p>
            <a:pPr marL="0" indent="0">
              <a:buNone/>
            </a:pPr>
            <a:r>
              <a:rPr lang="en-US" sz="800" b="1" dirty="0">
                <a:solidFill>
                  <a:srgbClr val="F44336"/>
                </a:solidFill>
                <a:latin typeface="Calibri" pitchFamily="34" charset="0"/>
                <a:ea typeface="Calibri" pitchFamily="34" charset="-122"/>
                <a:cs typeface="Calibri" pitchFamily="34" charset="-120"/>
              </a:rPr>
              <a:t>Before: </a:t>
            </a:r>
            <a:r>
              <a:rPr lang="en-US" sz="800" dirty="0">
                <a:solidFill>
                  <a:srgbClr val="78909C"/>
                </a:solidFill>
                <a:latin typeface="Calibri" pitchFamily="34" charset="0"/>
                <a:ea typeface="Calibri" pitchFamily="34" charset="-122"/>
                <a:cs typeface="Calibri" pitchFamily="34" charset="-120"/>
              </a:rPr>
              <a:t>30-hand window, slow</a:t>
            </a:r>
            <a:endParaRPr lang="en-US" sz="800" dirty="0"/>
          </a:p>
          <a:p>
            <a:pPr marL="0" indent="0">
              <a:buNone/>
            </a:pPr>
            <a:r>
              <a:rPr lang="en-US" sz="800" b="1" dirty="0">
                <a:solidFill>
                  <a:srgbClr val="4CAF50"/>
                </a:solidFill>
                <a:latin typeface="Calibri" pitchFamily="34" charset="0"/>
                <a:ea typeface="Calibri" pitchFamily="34" charset="-122"/>
                <a:cs typeface="Calibri" pitchFamily="34" charset="-120"/>
              </a:rPr>
              <a:t>After: </a:t>
            </a:r>
            <a:r>
              <a:rPr lang="en-US" sz="800" dirty="0">
                <a:solidFill>
                  <a:srgbClr val="B0BEC5"/>
                </a:solidFill>
                <a:latin typeface="Calibri" pitchFamily="34" charset="0"/>
                <a:ea typeface="Calibri" pitchFamily="34" charset="-122"/>
                <a:cs typeface="Calibri" pitchFamily="34" charset="-120"/>
              </a:rPr>
              <a:t>18-hand, 65/35 blend -  faster, noise-resistant</a:t>
            </a:r>
            <a:endParaRPr lang="en-US" sz="800" dirty="0"/>
          </a:p>
        </p:txBody>
      </p:sp>
      <p:sp>
        <p:nvSpPr>
          <p:cNvPr id="14" name="Shape 12"/>
          <p:cNvSpPr/>
          <p:nvPr/>
        </p:nvSpPr>
        <p:spPr>
          <a:xfrm>
            <a:off x="6080760" y="1005840"/>
            <a:ext cx="2743200" cy="1051560"/>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15" name="Shape 13"/>
          <p:cNvSpPr/>
          <p:nvPr/>
        </p:nvSpPr>
        <p:spPr>
          <a:xfrm>
            <a:off x="6080760" y="1005840"/>
            <a:ext cx="36576" cy="1051560"/>
          </a:xfrm>
          <a:prstGeom prst="rect">
            <a:avLst/>
          </a:prstGeom>
          <a:solidFill>
            <a:srgbClr val="F44336"/>
          </a:solidFill>
          <a:ln/>
        </p:spPr>
        <p:txBody>
          <a:bodyPr/>
          <a:lstStyle/>
          <a:p>
            <a:endParaRPr lang="en-IN"/>
          </a:p>
        </p:txBody>
      </p:sp>
      <p:sp>
        <p:nvSpPr>
          <p:cNvPr id="16" name="Text 14"/>
          <p:cNvSpPr/>
          <p:nvPr/>
        </p:nvSpPr>
        <p:spPr>
          <a:xfrm>
            <a:off x="6190488" y="1051560"/>
            <a:ext cx="2468880" cy="256032"/>
          </a:xfrm>
          <a:prstGeom prst="rect">
            <a:avLst/>
          </a:prstGeom>
          <a:noFill/>
          <a:ln/>
        </p:spPr>
        <p:txBody>
          <a:bodyPr wrap="square" lIns="0" tIns="0" rIns="0" bIns="0" rtlCol="0" anchor="ctr"/>
          <a:lstStyle/>
          <a:p>
            <a:pPr marL="0" indent="0">
              <a:buNone/>
            </a:pPr>
            <a:r>
              <a:rPr lang="en-US" sz="1100" b="1" dirty="0">
                <a:solidFill>
                  <a:srgbClr val="F44336"/>
                </a:solidFill>
                <a:latin typeface="Calibri" pitchFamily="34" charset="0"/>
                <a:ea typeface="Calibri" pitchFamily="34" charset="-122"/>
                <a:cs typeface="Calibri" pitchFamily="34" charset="-120"/>
              </a:rPr>
              <a:t>EQ Key Sort</a:t>
            </a:r>
            <a:endParaRPr lang="en-US" sz="1100" dirty="0"/>
          </a:p>
        </p:txBody>
      </p:sp>
      <p:sp>
        <p:nvSpPr>
          <p:cNvPr id="17" name="Text 15"/>
          <p:cNvSpPr/>
          <p:nvPr/>
        </p:nvSpPr>
        <p:spPr>
          <a:xfrm>
            <a:off x="6190488" y="1298448"/>
            <a:ext cx="2514600" cy="713232"/>
          </a:xfrm>
          <a:prstGeom prst="rect">
            <a:avLst/>
          </a:prstGeom>
          <a:noFill/>
          <a:ln/>
        </p:spPr>
        <p:txBody>
          <a:bodyPr wrap="square" lIns="0" tIns="0" rIns="0" bIns="0" rtlCol="0" anchor="t"/>
          <a:lstStyle/>
          <a:p>
            <a:pPr marL="0" indent="0">
              <a:buNone/>
            </a:pPr>
            <a:r>
              <a:rPr lang="en-US" sz="800" b="1" dirty="0">
                <a:solidFill>
                  <a:srgbClr val="F44336"/>
                </a:solidFill>
                <a:latin typeface="Calibri" pitchFamily="34" charset="0"/>
                <a:ea typeface="Calibri" pitchFamily="34" charset="-122"/>
                <a:cs typeface="Calibri" pitchFamily="34" charset="-120"/>
              </a:rPr>
              <a:t>Before: </a:t>
            </a:r>
            <a:r>
              <a:rPr lang="en-US" sz="800" dirty="0">
                <a:solidFill>
                  <a:srgbClr val="78909C"/>
                </a:solidFill>
                <a:latin typeface="Calibri" pitchFamily="34" charset="0"/>
                <a:ea typeface="Calibri" pitchFamily="34" charset="-122"/>
                <a:cs typeface="Calibri" pitchFamily="34" charset="-120"/>
              </a:rPr>
              <a:t>Alphabetical ('T'&lt;'A')</a:t>
            </a:r>
            <a:endParaRPr lang="en-US" sz="800" dirty="0"/>
          </a:p>
          <a:p>
            <a:pPr marL="0" indent="0">
              <a:buNone/>
            </a:pPr>
            <a:r>
              <a:rPr lang="en-US" sz="800" b="1" dirty="0">
                <a:solidFill>
                  <a:srgbClr val="4CAF50"/>
                </a:solidFill>
                <a:latin typeface="Calibri" pitchFamily="34" charset="0"/>
                <a:ea typeface="Calibri" pitchFamily="34" charset="-122"/>
                <a:cs typeface="Calibri" pitchFamily="34" charset="-120"/>
              </a:rPr>
              <a:t>After: </a:t>
            </a:r>
            <a:r>
              <a:rPr lang="en-US" sz="800" dirty="0">
                <a:solidFill>
                  <a:srgbClr val="B0BEC5"/>
                </a:solidFill>
                <a:latin typeface="Calibri" pitchFamily="34" charset="0"/>
                <a:ea typeface="Calibri" pitchFamily="34" charset="-122"/>
                <a:cs typeface="Calibri" pitchFamily="34" charset="-120"/>
              </a:rPr>
              <a:t>Same bug - only fixed in v3</a:t>
            </a:r>
            <a:endParaRPr lang="en-US" sz="800" dirty="0"/>
          </a:p>
        </p:txBody>
      </p:sp>
      <p:sp>
        <p:nvSpPr>
          <p:cNvPr id="18" name="Text 16"/>
          <p:cNvSpPr/>
          <p:nvPr/>
        </p:nvSpPr>
        <p:spPr>
          <a:xfrm>
            <a:off x="228600" y="2240280"/>
            <a:ext cx="8686800" cy="228600"/>
          </a:xfrm>
          <a:prstGeom prst="rect">
            <a:avLst/>
          </a:prstGeom>
          <a:noFill/>
          <a:ln/>
        </p:spPr>
        <p:txBody>
          <a:bodyPr wrap="square" lIns="0" tIns="0" rIns="0" bIns="0" rtlCol="0" anchor="ctr"/>
          <a:lstStyle/>
          <a:p>
            <a:pPr marL="0" indent="0">
              <a:buNone/>
            </a:pPr>
            <a:r>
              <a:rPr lang="en-US" sz="1100" b="1" dirty="0">
                <a:solidFill>
                  <a:srgbClr val="4CAF50"/>
                </a:solidFill>
                <a:latin typeface="Calibri" pitchFamily="34" charset="0"/>
                <a:ea typeface="Calibri" pitchFamily="34" charset="-122"/>
                <a:cs typeface="Calibri" pitchFamily="34" charset="-120"/>
              </a:rPr>
              <a:t>v2 → v3: Six Targeted Fixes</a:t>
            </a:r>
            <a:endParaRPr lang="en-US" sz="1100" dirty="0"/>
          </a:p>
        </p:txBody>
      </p:sp>
      <p:sp>
        <p:nvSpPr>
          <p:cNvPr id="19" name="Shape 17"/>
          <p:cNvSpPr/>
          <p:nvPr/>
        </p:nvSpPr>
        <p:spPr>
          <a:xfrm>
            <a:off x="228600" y="2560320"/>
            <a:ext cx="2743200" cy="868680"/>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20" name="Shape 18"/>
          <p:cNvSpPr/>
          <p:nvPr/>
        </p:nvSpPr>
        <p:spPr>
          <a:xfrm>
            <a:off x="228600" y="2560320"/>
            <a:ext cx="36576" cy="868680"/>
          </a:xfrm>
          <a:prstGeom prst="rect">
            <a:avLst/>
          </a:prstGeom>
          <a:solidFill>
            <a:srgbClr val="00BCD4"/>
          </a:solidFill>
          <a:ln/>
        </p:spPr>
        <p:txBody>
          <a:bodyPr/>
          <a:lstStyle/>
          <a:p>
            <a:endParaRPr lang="en-IN"/>
          </a:p>
        </p:txBody>
      </p:sp>
      <p:sp>
        <p:nvSpPr>
          <p:cNvPr id="21" name="Text 19"/>
          <p:cNvSpPr/>
          <p:nvPr/>
        </p:nvSpPr>
        <p:spPr>
          <a:xfrm>
            <a:off x="338328" y="2615184"/>
            <a:ext cx="2468880" cy="256032"/>
          </a:xfrm>
          <a:prstGeom prst="rect">
            <a:avLst/>
          </a:prstGeom>
          <a:noFill/>
          <a:ln/>
        </p:spPr>
        <p:txBody>
          <a:bodyPr wrap="square" lIns="0" tIns="0" rIns="0" bIns="0"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EQ Key Sort Fixed</a:t>
            </a:r>
            <a:endParaRPr lang="en-US" sz="1100" dirty="0"/>
          </a:p>
        </p:txBody>
      </p:sp>
      <p:sp>
        <p:nvSpPr>
          <p:cNvPr id="22" name="Text 20"/>
          <p:cNvSpPr/>
          <p:nvPr/>
        </p:nvSpPr>
        <p:spPr>
          <a:xfrm>
            <a:off x="338328" y="2852928"/>
            <a:ext cx="2423160" cy="502920"/>
          </a:xfrm>
          <a:prstGeom prst="rect">
            <a:avLst/>
          </a:prstGeom>
          <a:noFill/>
          <a:ln/>
        </p:spPr>
        <p:txBody>
          <a:bodyPr wrap="square" lIns="0" tIns="0" rIns="0" bIns="0" rtlCol="0" anchor="t"/>
          <a:lstStyle/>
          <a:p>
            <a:pPr marL="0" indent="0">
              <a:buNone/>
            </a:pPr>
            <a:r>
              <a:rPr lang="en-US" sz="900" dirty="0">
                <a:solidFill>
                  <a:srgbClr val="B0BEC5"/>
                </a:solidFill>
                <a:latin typeface="Calibri" pitchFamily="34" charset="0"/>
                <a:ea typeface="Calibri" pitchFamily="34" charset="-122"/>
                <a:cs typeface="Calibri" pitchFamily="34" charset="-120"/>
              </a:rPr>
              <a:t>Sort by (rank, suit) instead of alphabetical. All Ten combos now look up correctly.</a:t>
            </a:r>
            <a:endParaRPr lang="en-US" sz="900" dirty="0"/>
          </a:p>
        </p:txBody>
      </p:sp>
      <p:sp>
        <p:nvSpPr>
          <p:cNvPr id="23" name="Shape 21"/>
          <p:cNvSpPr/>
          <p:nvPr/>
        </p:nvSpPr>
        <p:spPr>
          <a:xfrm>
            <a:off x="3154680" y="2560320"/>
            <a:ext cx="2743200" cy="868680"/>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24" name="Shape 22"/>
          <p:cNvSpPr/>
          <p:nvPr/>
        </p:nvSpPr>
        <p:spPr>
          <a:xfrm>
            <a:off x="3154680" y="2560320"/>
            <a:ext cx="36576" cy="868680"/>
          </a:xfrm>
          <a:prstGeom prst="rect">
            <a:avLst/>
          </a:prstGeom>
          <a:solidFill>
            <a:srgbClr val="FF9800"/>
          </a:solidFill>
          <a:ln/>
        </p:spPr>
        <p:txBody>
          <a:bodyPr/>
          <a:lstStyle/>
          <a:p>
            <a:endParaRPr lang="en-IN"/>
          </a:p>
        </p:txBody>
      </p:sp>
      <p:sp>
        <p:nvSpPr>
          <p:cNvPr id="25" name="Text 23"/>
          <p:cNvSpPr/>
          <p:nvPr/>
        </p:nvSpPr>
        <p:spPr>
          <a:xfrm>
            <a:off x="3264408" y="2615184"/>
            <a:ext cx="2468880" cy="256032"/>
          </a:xfrm>
          <a:prstGeom prst="rect">
            <a:avLst/>
          </a:prstGeom>
          <a:noFill/>
          <a:ln/>
        </p:spPr>
        <p:txBody>
          <a:bodyPr wrap="square" lIns="0" tIns="0" rIns="0" bIns="0" rtlCol="0" anchor="ctr"/>
          <a:lstStyle/>
          <a:p>
            <a:pPr marL="0" indent="0">
              <a:buNone/>
            </a:pPr>
            <a:r>
              <a:rPr lang="en-US" sz="1100" b="1" dirty="0">
                <a:solidFill>
                  <a:srgbClr val="FF9800"/>
                </a:solidFill>
                <a:latin typeface="Calibri" pitchFamily="34" charset="0"/>
                <a:ea typeface="Calibri" pitchFamily="34" charset="-122"/>
                <a:cs typeface="Calibri" pitchFamily="34" charset="-120"/>
              </a:rPr>
              <a:t>Flush/Straight Classification</a:t>
            </a:r>
            <a:endParaRPr lang="en-US" sz="1100" dirty="0"/>
          </a:p>
        </p:txBody>
      </p:sp>
      <p:sp>
        <p:nvSpPr>
          <p:cNvPr id="26" name="Text 24"/>
          <p:cNvSpPr/>
          <p:nvPr/>
        </p:nvSpPr>
        <p:spPr>
          <a:xfrm>
            <a:off x="3264408" y="2852928"/>
            <a:ext cx="2423160" cy="502920"/>
          </a:xfrm>
          <a:prstGeom prst="rect">
            <a:avLst/>
          </a:prstGeom>
          <a:noFill/>
          <a:ln/>
        </p:spPr>
        <p:txBody>
          <a:bodyPr wrap="square" lIns="0" tIns="0" rIns="0" bIns="0" rtlCol="0" anchor="t"/>
          <a:lstStyle/>
          <a:p>
            <a:pPr marL="0" indent="0">
              <a:buNone/>
            </a:pPr>
            <a:r>
              <a:rPr lang="en-US" sz="900" dirty="0">
                <a:solidFill>
                  <a:srgbClr val="B0BEC5"/>
                </a:solidFill>
                <a:latin typeface="Calibri" pitchFamily="34" charset="0"/>
                <a:ea typeface="Calibri" pitchFamily="34" charset="-122"/>
                <a:cs typeface="Calibri" pitchFamily="34" charset="-120"/>
              </a:rPr>
              <a:t>==4 for draws only (was ≥4). Made hands now get correct 1.25× sizing.</a:t>
            </a:r>
            <a:endParaRPr lang="en-US" sz="900" dirty="0"/>
          </a:p>
        </p:txBody>
      </p:sp>
      <p:sp>
        <p:nvSpPr>
          <p:cNvPr id="27" name="Shape 25"/>
          <p:cNvSpPr/>
          <p:nvPr/>
        </p:nvSpPr>
        <p:spPr>
          <a:xfrm>
            <a:off x="6080760" y="2560320"/>
            <a:ext cx="2743200" cy="868680"/>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28" name="Shape 26"/>
          <p:cNvSpPr/>
          <p:nvPr/>
        </p:nvSpPr>
        <p:spPr>
          <a:xfrm>
            <a:off x="6080760" y="2560320"/>
            <a:ext cx="36576" cy="868680"/>
          </a:xfrm>
          <a:prstGeom prst="rect">
            <a:avLst/>
          </a:prstGeom>
          <a:solidFill>
            <a:srgbClr val="4CAF50"/>
          </a:solidFill>
          <a:ln/>
        </p:spPr>
        <p:txBody>
          <a:bodyPr/>
          <a:lstStyle/>
          <a:p>
            <a:endParaRPr lang="en-IN"/>
          </a:p>
        </p:txBody>
      </p:sp>
      <p:sp>
        <p:nvSpPr>
          <p:cNvPr id="29" name="Text 27"/>
          <p:cNvSpPr/>
          <p:nvPr/>
        </p:nvSpPr>
        <p:spPr>
          <a:xfrm>
            <a:off x="6190488" y="2615184"/>
            <a:ext cx="2468880" cy="256032"/>
          </a:xfrm>
          <a:prstGeom prst="rect">
            <a:avLst/>
          </a:prstGeom>
          <a:noFill/>
          <a:ln/>
        </p:spPr>
        <p:txBody>
          <a:bodyPr wrap="square" lIns="0" tIns="0" rIns="0" bIns="0" rtlCol="0" anchor="ctr"/>
          <a:lstStyle/>
          <a:p>
            <a:pPr marL="0" indent="0">
              <a:buNone/>
            </a:pPr>
            <a:r>
              <a:rPr lang="en-US" sz="1100" b="1" dirty="0">
                <a:solidFill>
                  <a:srgbClr val="4CAF50"/>
                </a:solidFill>
                <a:latin typeface="Calibri" pitchFamily="34" charset="0"/>
                <a:ea typeface="Calibri" pitchFamily="34" charset="-122"/>
                <a:cs typeface="Calibri" pitchFamily="34" charset="-120"/>
              </a:rPr>
              <a:t>Catch-Bluff Logic Added</a:t>
            </a:r>
            <a:endParaRPr lang="en-US" sz="1100" dirty="0"/>
          </a:p>
        </p:txBody>
      </p:sp>
      <p:sp>
        <p:nvSpPr>
          <p:cNvPr id="30" name="Text 28"/>
          <p:cNvSpPr/>
          <p:nvPr/>
        </p:nvSpPr>
        <p:spPr>
          <a:xfrm>
            <a:off x="6190488" y="2852928"/>
            <a:ext cx="2423160" cy="502920"/>
          </a:xfrm>
          <a:prstGeom prst="rect">
            <a:avLst/>
          </a:prstGeom>
          <a:noFill/>
          <a:ln/>
        </p:spPr>
        <p:txBody>
          <a:bodyPr wrap="square" lIns="0" tIns="0" rIns="0" bIns="0" rtlCol="0" anchor="t"/>
          <a:lstStyle/>
          <a:p>
            <a:pPr marL="0" indent="0">
              <a:buNone/>
            </a:pPr>
            <a:r>
              <a:rPr lang="en-US" sz="900" dirty="0">
                <a:solidFill>
                  <a:srgbClr val="B0BEC5"/>
                </a:solidFill>
                <a:latin typeface="Calibri" pitchFamily="34" charset="0"/>
                <a:ea typeface="Calibri" pitchFamily="34" charset="-122"/>
                <a:cs typeface="Calibri" pitchFamily="34" charset="-120"/>
              </a:rPr>
              <a:t>Calls overbets (&gt;3× pot) at calibrated random freq: 22–30% for strong hands, 10–15% for medium. Prevents opponents printing chips with pure overbet bluffs.</a:t>
            </a:r>
            <a:endParaRPr lang="en-US" sz="900" dirty="0"/>
          </a:p>
        </p:txBody>
      </p:sp>
      <p:sp>
        <p:nvSpPr>
          <p:cNvPr id="31" name="Shape 29"/>
          <p:cNvSpPr/>
          <p:nvPr/>
        </p:nvSpPr>
        <p:spPr>
          <a:xfrm>
            <a:off x="228600" y="3520440"/>
            <a:ext cx="2743200" cy="868680"/>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32" name="Shape 30"/>
          <p:cNvSpPr/>
          <p:nvPr/>
        </p:nvSpPr>
        <p:spPr>
          <a:xfrm>
            <a:off x="228600" y="3520440"/>
            <a:ext cx="36576" cy="868680"/>
          </a:xfrm>
          <a:prstGeom prst="rect">
            <a:avLst/>
          </a:prstGeom>
          <a:solidFill>
            <a:srgbClr val="FFC107"/>
          </a:solidFill>
          <a:ln/>
        </p:spPr>
        <p:txBody>
          <a:bodyPr/>
          <a:lstStyle/>
          <a:p>
            <a:endParaRPr lang="en-IN"/>
          </a:p>
        </p:txBody>
      </p:sp>
      <p:sp>
        <p:nvSpPr>
          <p:cNvPr id="33" name="Text 31"/>
          <p:cNvSpPr/>
          <p:nvPr/>
        </p:nvSpPr>
        <p:spPr>
          <a:xfrm>
            <a:off x="338328" y="3575304"/>
            <a:ext cx="2468880" cy="256032"/>
          </a:xfrm>
          <a:prstGeom prst="rect">
            <a:avLst/>
          </a:prstGeom>
          <a:noFill/>
          <a:ln/>
        </p:spPr>
        <p:txBody>
          <a:bodyPr wrap="square" lIns="0" tIns="0" rIns="0" bIns="0" rtlCol="0" anchor="ctr"/>
          <a:lstStyle/>
          <a:p>
            <a:pPr marL="0" indent="0">
              <a:buNone/>
            </a:pPr>
            <a:r>
              <a:rPr lang="en-US" sz="1100" b="1" dirty="0">
                <a:solidFill>
                  <a:srgbClr val="FFC107"/>
                </a:solidFill>
                <a:latin typeface="Calibri" pitchFamily="34" charset="0"/>
                <a:ea typeface="Calibri" pitchFamily="34" charset="-122"/>
                <a:cs typeface="Calibri" pitchFamily="34" charset="-120"/>
              </a:rPr>
              <a:t>Auction Bid Reduction</a:t>
            </a:r>
            <a:endParaRPr lang="en-US" sz="1100" dirty="0"/>
          </a:p>
        </p:txBody>
      </p:sp>
      <p:sp>
        <p:nvSpPr>
          <p:cNvPr id="34" name="Text 32"/>
          <p:cNvSpPr/>
          <p:nvPr/>
        </p:nvSpPr>
        <p:spPr>
          <a:xfrm>
            <a:off x="338328" y="3813048"/>
            <a:ext cx="2423160" cy="502920"/>
          </a:xfrm>
          <a:prstGeom prst="rect">
            <a:avLst/>
          </a:prstGeom>
          <a:noFill/>
          <a:ln/>
        </p:spPr>
        <p:txBody>
          <a:bodyPr wrap="square" lIns="0" tIns="0" rIns="0" bIns="0" rtlCol="0" anchor="t"/>
          <a:lstStyle/>
          <a:p>
            <a:pPr marL="0" indent="0">
              <a:buNone/>
            </a:pPr>
            <a:r>
              <a:rPr lang="en-US" sz="900" dirty="0">
                <a:solidFill>
                  <a:srgbClr val="B0BEC5"/>
                </a:solidFill>
                <a:latin typeface="Calibri" pitchFamily="34" charset="0"/>
                <a:ea typeface="Calibri" pitchFamily="34" charset="-122"/>
                <a:cs typeface="Calibri" pitchFamily="34" charset="-120"/>
              </a:rPr>
              <a:t>18–30% of exp_pot (was 22–36%). Better aligned with actual info value.</a:t>
            </a:r>
            <a:endParaRPr lang="en-US" sz="900" dirty="0"/>
          </a:p>
        </p:txBody>
      </p:sp>
      <p:sp>
        <p:nvSpPr>
          <p:cNvPr id="35" name="Shape 33"/>
          <p:cNvSpPr/>
          <p:nvPr/>
        </p:nvSpPr>
        <p:spPr>
          <a:xfrm>
            <a:off x="3154680" y="3520440"/>
            <a:ext cx="2743200" cy="868680"/>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36" name="Shape 34"/>
          <p:cNvSpPr/>
          <p:nvPr/>
        </p:nvSpPr>
        <p:spPr>
          <a:xfrm>
            <a:off x="3154680" y="3520440"/>
            <a:ext cx="36576" cy="868680"/>
          </a:xfrm>
          <a:prstGeom prst="rect">
            <a:avLst/>
          </a:prstGeom>
          <a:solidFill>
            <a:srgbClr val="F44336"/>
          </a:solidFill>
          <a:ln/>
        </p:spPr>
        <p:txBody>
          <a:bodyPr/>
          <a:lstStyle/>
          <a:p>
            <a:endParaRPr lang="en-IN"/>
          </a:p>
        </p:txBody>
      </p:sp>
      <p:sp>
        <p:nvSpPr>
          <p:cNvPr id="37" name="Text 35"/>
          <p:cNvSpPr/>
          <p:nvPr/>
        </p:nvSpPr>
        <p:spPr>
          <a:xfrm>
            <a:off x="3264408" y="3575304"/>
            <a:ext cx="2468880" cy="256032"/>
          </a:xfrm>
          <a:prstGeom prst="rect">
            <a:avLst/>
          </a:prstGeom>
          <a:noFill/>
          <a:ln/>
        </p:spPr>
        <p:txBody>
          <a:bodyPr wrap="square" lIns="0" tIns="0" rIns="0" bIns="0" rtlCol="0" anchor="ctr"/>
          <a:lstStyle/>
          <a:p>
            <a:pPr marL="0" indent="0">
              <a:buNone/>
            </a:pPr>
            <a:r>
              <a:rPr lang="en-US" sz="1100" b="1" dirty="0">
                <a:solidFill>
                  <a:srgbClr val="F44336"/>
                </a:solidFill>
                <a:latin typeface="Calibri" pitchFamily="34" charset="0"/>
                <a:ea typeface="Calibri" pitchFamily="34" charset="-122"/>
                <a:cs typeface="Calibri" pitchFamily="34" charset="-120"/>
              </a:rPr>
              <a:t>Info Trust Blend</a:t>
            </a:r>
            <a:endParaRPr lang="en-US" sz="1100" dirty="0"/>
          </a:p>
        </p:txBody>
      </p:sp>
      <p:sp>
        <p:nvSpPr>
          <p:cNvPr id="38" name="Text 36"/>
          <p:cNvSpPr/>
          <p:nvPr/>
        </p:nvSpPr>
        <p:spPr>
          <a:xfrm>
            <a:off x="3264408" y="3813048"/>
            <a:ext cx="2423160" cy="502920"/>
          </a:xfrm>
          <a:prstGeom prst="rect">
            <a:avLst/>
          </a:prstGeom>
          <a:noFill/>
          <a:ln/>
        </p:spPr>
        <p:txBody>
          <a:bodyPr wrap="square" lIns="0" tIns="0" rIns="0" bIns="0" rtlCol="0" anchor="t"/>
          <a:lstStyle/>
          <a:p>
            <a:pPr marL="0" indent="0">
              <a:buNone/>
            </a:pPr>
            <a:r>
              <a:rPr lang="en-US" sz="900" dirty="0">
                <a:solidFill>
                  <a:srgbClr val="B0BEC5"/>
                </a:solidFill>
                <a:latin typeface="Calibri" pitchFamily="34" charset="0"/>
                <a:ea typeface="Calibri" pitchFamily="34" charset="-122"/>
                <a:cs typeface="Calibri" pitchFamily="34" charset="-120"/>
              </a:rPr>
              <a:t>3-tier blend (was flat 0.45/0.55): facing re-raise: ×0.75/0.25; facing bet: ×0.55/0.45; no bet + info: ×0.05/0.95. More skepticism + 25% stack cap.</a:t>
            </a:r>
            <a:endParaRPr lang="en-US" sz="900" dirty="0"/>
          </a:p>
        </p:txBody>
      </p:sp>
      <p:sp>
        <p:nvSpPr>
          <p:cNvPr id="39" name="Shape 37"/>
          <p:cNvSpPr/>
          <p:nvPr/>
        </p:nvSpPr>
        <p:spPr>
          <a:xfrm>
            <a:off x="6080760" y="3520440"/>
            <a:ext cx="2743200" cy="868680"/>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40" name="Shape 38"/>
          <p:cNvSpPr/>
          <p:nvPr/>
        </p:nvSpPr>
        <p:spPr>
          <a:xfrm>
            <a:off x="6080760" y="3520440"/>
            <a:ext cx="36576" cy="868680"/>
          </a:xfrm>
          <a:prstGeom prst="rect">
            <a:avLst/>
          </a:prstGeom>
          <a:solidFill>
            <a:srgbClr val="9C27B0"/>
          </a:solidFill>
          <a:ln/>
        </p:spPr>
        <p:txBody>
          <a:bodyPr/>
          <a:lstStyle/>
          <a:p>
            <a:endParaRPr lang="en-IN"/>
          </a:p>
        </p:txBody>
      </p:sp>
      <p:sp>
        <p:nvSpPr>
          <p:cNvPr id="41" name="Text 39"/>
          <p:cNvSpPr/>
          <p:nvPr/>
        </p:nvSpPr>
        <p:spPr>
          <a:xfrm>
            <a:off x="6190488" y="3575304"/>
            <a:ext cx="2468880" cy="256032"/>
          </a:xfrm>
          <a:prstGeom prst="rect">
            <a:avLst/>
          </a:prstGeom>
          <a:noFill/>
          <a:ln/>
        </p:spPr>
        <p:txBody>
          <a:bodyPr wrap="square" lIns="0" tIns="0" rIns="0" bIns="0" rtlCol="0" anchor="ctr"/>
          <a:lstStyle/>
          <a:p>
            <a:pPr marL="0" indent="0">
              <a:buNone/>
            </a:pPr>
            <a:r>
              <a:rPr lang="en-US" sz="1100" b="1" dirty="0">
                <a:solidFill>
                  <a:srgbClr val="9C27B0"/>
                </a:solidFill>
                <a:latin typeface="Calibri" pitchFamily="34" charset="0"/>
                <a:ea typeface="Calibri" pitchFamily="34" charset="-122"/>
                <a:cs typeface="Calibri" pitchFamily="34" charset="-120"/>
              </a:rPr>
              <a:t>BB Gate Lowered</a:t>
            </a:r>
            <a:endParaRPr lang="en-US" sz="1100" dirty="0"/>
          </a:p>
        </p:txBody>
      </p:sp>
      <p:sp>
        <p:nvSpPr>
          <p:cNvPr id="42" name="Text 40"/>
          <p:cNvSpPr/>
          <p:nvPr/>
        </p:nvSpPr>
        <p:spPr>
          <a:xfrm>
            <a:off x="6190488" y="3813048"/>
            <a:ext cx="2423160" cy="502920"/>
          </a:xfrm>
          <a:prstGeom prst="rect">
            <a:avLst/>
          </a:prstGeom>
          <a:noFill/>
          <a:ln/>
        </p:spPr>
        <p:txBody>
          <a:bodyPr wrap="square" lIns="0" tIns="0" rIns="0" bIns="0" rtlCol="0" anchor="t"/>
          <a:lstStyle/>
          <a:p>
            <a:pPr marL="0" indent="0">
              <a:buNone/>
            </a:pPr>
            <a:r>
              <a:rPr lang="en-US" sz="900" dirty="0">
                <a:solidFill>
                  <a:srgbClr val="B0BEC5"/>
                </a:solidFill>
                <a:latin typeface="Calibri" pitchFamily="34" charset="0"/>
                <a:ea typeface="Calibri" pitchFamily="34" charset="-122"/>
                <a:cs typeface="Calibri" pitchFamily="34" charset="-120"/>
              </a:rPr>
              <a:t>0.43 (SB/BB unified) → 0.39 BB / 0.43 SB split. Correctly defends hands like 8s7s that v1 folded. First introduced in v2.</a:t>
            </a:r>
            <a:endParaRPr lang="en-US" sz="900" dirty="0"/>
          </a:p>
        </p:txBody>
      </p:sp>
      <p:sp>
        <p:nvSpPr>
          <p:cNvPr id="43" name="Shape 41"/>
          <p:cNvSpPr/>
          <p:nvPr/>
        </p:nvSpPr>
        <p:spPr>
          <a:xfrm>
            <a:off x="228600" y="4526280"/>
            <a:ext cx="8686800" cy="502920"/>
          </a:xfrm>
          <a:prstGeom prst="rect">
            <a:avLst/>
          </a:prstGeom>
          <a:solidFill>
            <a:srgbClr val="151E2A"/>
          </a:solidFill>
          <a:ln/>
        </p:spPr>
        <p:txBody>
          <a:bodyPr/>
          <a:lstStyle/>
          <a:p>
            <a:endParaRPr lang="en-IN"/>
          </a:p>
        </p:txBody>
      </p:sp>
      <p:sp>
        <p:nvSpPr>
          <p:cNvPr id="44" name="Text 42"/>
          <p:cNvSpPr/>
          <p:nvPr/>
        </p:nvSpPr>
        <p:spPr>
          <a:xfrm>
            <a:off x="320040" y="4572000"/>
            <a:ext cx="8503920" cy="411480"/>
          </a:xfrm>
          <a:prstGeom prst="rect">
            <a:avLst/>
          </a:prstGeom>
          <a:noFill/>
          <a:ln/>
        </p:spPr>
        <p:txBody>
          <a:bodyPr wrap="square" lIns="0" tIns="0" rIns="0" bIns="0" rtlCol="0" anchor="t"/>
          <a:lstStyle/>
          <a:p>
            <a:pPr marL="0" indent="0">
              <a:buNone/>
            </a:pPr>
            <a:r>
              <a:rPr lang="en-US" sz="750" dirty="0">
                <a:solidFill>
                  <a:srgbClr val="B0BEC5"/>
                </a:solidFill>
                <a:latin typeface="Consolas" pitchFamily="34" charset="0"/>
                <a:ea typeface="Consolas" pitchFamily="34" charset="-122"/>
                <a:cs typeface="Consolas" pitchFamily="34" charset="-120"/>
              </a:rPr>
              <a:t># BUGGY (v2): key = ''.join(sorted(hand))  →  sorted(['Ts','Ac']) = 'AcTs' WRONG</a:t>
            </a:r>
            <a:endParaRPr lang="en-US" sz="750" dirty="0"/>
          </a:p>
          <a:p>
            <a:pPr marL="0" indent="0">
              <a:buNone/>
            </a:pPr>
            <a:r>
              <a:rPr lang="en-US" sz="750" dirty="0">
                <a:solidFill>
                  <a:srgbClr val="B0BEC5"/>
                </a:solidFill>
                <a:latin typeface="Consolas" pitchFamily="34" charset="0"/>
                <a:ea typeface="Consolas" pitchFamily="34" charset="-122"/>
                <a:cs typeface="Consolas" pitchFamily="34" charset="-120"/>
              </a:rPr>
              <a:t># FIXED (v3): sort by (_RV[rank], _SUIT_ORD[suit])  →  canonical lookup every time</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18872"/>
            <a:ext cx="9144000" cy="475488"/>
          </a:xfrm>
          <a:prstGeom prst="rect">
            <a:avLst/>
          </a:prstGeom>
          <a:solidFill>
            <a:srgbClr val="1F2D3D"/>
          </a:solidFill>
          <a:ln/>
        </p:spPr>
        <p:txBody>
          <a:bodyPr/>
          <a:lstStyle/>
          <a:p>
            <a:endParaRPr lang="en-IN"/>
          </a:p>
        </p:txBody>
      </p:sp>
      <p:sp>
        <p:nvSpPr>
          <p:cNvPr id="3" name="Shape 1"/>
          <p:cNvSpPr/>
          <p:nvPr/>
        </p:nvSpPr>
        <p:spPr>
          <a:xfrm>
            <a:off x="201168" y="182880"/>
            <a:ext cx="36576" cy="347472"/>
          </a:xfrm>
          <a:prstGeom prst="rect">
            <a:avLst/>
          </a:prstGeom>
          <a:solidFill>
            <a:srgbClr val="FF9800"/>
          </a:solidFill>
          <a:ln/>
        </p:spPr>
        <p:txBody>
          <a:bodyPr/>
          <a:lstStyle/>
          <a:p>
            <a:endParaRPr lang="en-IN"/>
          </a:p>
        </p:txBody>
      </p:sp>
      <p:sp>
        <p:nvSpPr>
          <p:cNvPr id="4" name="Text 2"/>
          <p:cNvSpPr/>
          <p:nvPr/>
        </p:nvSpPr>
        <p:spPr>
          <a:xfrm>
            <a:off x="347472" y="137160"/>
            <a:ext cx="8412480" cy="457200"/>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Performance Analysis - Version Comparison</a:t>
            </a:r>
            <a:endParaRPr lang="en-US" sz="2000" dirty="0"/>
          </a:p>
        </p:txBody>
      </p:sp>
      <p:pic>
        <p:nvPicPr>
          <p:cNvPr id="5" name="Image 0" descr="/home/claude/media/image18.png"/>
          <p:cNvPicPr>
            <a:picLocks noChangeAspect="1"/>
          </p:cNvPicPr>
          <p:nvPr/>
        </p:nvPicPr>
        <p:blipFill>
          <a:blip r:embed="rId3"/>
          <a:srcRect/>
          <a:stretch/>
        </p:blipFill>
        <p:spPr>
          <a:xfrm>
            <a:off x="219456" y="857203"/>
            <a:ext cx="4238774" cy="3651815"/>
          </a:xfrm>
          <a:prstGeom prst="rect">
            <a:avLst/>
          </a:prstGeom>
        </p:spPr>
      </p:pic>
      <p:sp>
        <p:nvSpPr>
          <p:cNvPr id="15" name="Shape 3"/>
          <p:cNvSpPr/>
          <p:nvPr/>
        </p:nvSpPr>
        <p:spPr>
          <a:xfrm>
            <a:off x="4572000" y="931382"/>
            <a:ext cx="4526280" cy="3503458"/>
          </a:xfrm>
          <a:prstGeom prst="rect">
            <a:avLst/>
          </a:prstGeom>
          <a:solidFill>
            <a:srgbClr val="1C2233"/>
          </a:solidFill>
          <a:ln/>
          <a:effectLst>
            <a:outerShdw blurRad="50800" dist="12700" dir="8100000" algn="bl" rotWithShape="0">
              <a:srgbClr val="000000">
                <a:alpha val="18000"/>
              </a:srgbClr>
            </a:outerShdw>
          </a:effectLst>
        </p:spPr>
        <p:txBody>
          <a:bodyPr/>
          <a:lstStyle/>
          <a:p>
            <a:endParaRPr lang="en-IN"/>
          </a:p>
        </p:txBody>
      </p:sp>
      <p:sp>
        <p:nvSpPr>
          <p:cNvPr id="16" name="Shape 4"/>
          <p:cNvSpPr/>
          <p:nvPr/>
        </p:nvSpPr>
        <p:spPr>
          <a:xfrm>
            <a:off x="4572000" y="931381"/>
            <a:ext cx="4526280" cy="45719"/>
          </a:xfrm>
          <a:prstGeom prst="rect">
            <a:avLst/>
          </a:prstGeom>
          <a:solidFill>
            <a:srgbClr val="9B6FD9"/>
          </a:solidFill>
          <a:ln/>
        </p:spPr>
        <p:txBody>
          <a:bodyPr/>
          <a:lstStyle/>
          <a:p>
            <a:endParaRPr lang="en-IN"/>
          </a:p>
        </p:txBody>
      </p:sp>
      <p:sp>
        <p:nvSpPr>
          <p:cNvPr id="17" name="Text 5"/>
          <p:cNvSpPr/>
          <p:nvPr/>
        </p:nvSpPr>
        <p:spPr>
          <a:xfrm>
            <a:off x="4663440" y="1022821"/>
            <a:ext cx="4347021" cy="280277"/>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Strategy Capability Radar — Key Observations</a:t>
            </a:r>
            <a:endParaRPr lang="en-US" sz="1200" dirty="0"/>
          </a:p>
        </p:txBody>
      </p:sp>
      <p:sp>
        <p:nvSpPr>
          <p:cNvPr id="18" name="Text 6"/>
          <p:cNvSpPr/>
          <p:nvPr/>
        </p:nvSpPr>
        <p:spPr>
          <a:xfrm>
            <a:off x="4663440" y="1342861"/>
            <a:ext cx="4347021" cy="2902865"/>
          </a:xfrm>
          <a:prstGeom prst="rect">
            <a:avLst/>
          </a:prstGeom>
          <a:noFill/>
          <a:ln/>
        </p:spPr>
        <p:txBody>
          <a:bodyPr wrap="square" lIns="25400" tIns="50800" rIns="50800" bIns="25400" rtlCol="0" anchor="t"/>
          <a:lstStyle/>
          <a:p>
            <a:pPr marL="342900" indent="-342900">
              <a:buSzPct val="100000"/>
              <a:buChar char="•"/>
            </a:pPr>
            <a:r>
              <a:rPr lang="en-US" sz="1400" dirty="0">
                <a:solidFill>
                  <a:srgbClr val="B0BAD0"/>
                </a:solidFill>
                <a:latin typeface="Calibri" pitchFamily="34" charset="0"/>
                <a:ea typeface="Calibri" pitchFamily="34" charset="-122"/>
                <a:cs typeface="Calibri" pitchFamily="34" charset="-120"/>
              </a:rPr>
              <a:t>Equity Precision: sharpest spike (v2→v3), from EQ key fix + exhaustive river</a:t>
            </a:r>
            <a:endParaRPr lang="en-US" sz="1400" dirty="0"/>
          </a:p>
          <a:p>
            <a:pPr marL="342900" indent="-342900">
              <a:buSzPct val="100000"/>
              <a:buChar char="•"/>
            </a:pPr>
            <a:r>
              <a:rPr lang="en-US" sz="1400" dirty="0">
                <a:solidFill>
                  <a:srgbClr val="B0BAD0"/>
                </a:solidFill>
                <a:latin typeface="Calibri" pitchFamily="34" charset="0"/>
                <a:ea typeface="Calibri" pitchFamily="34" charset="-122"/>
                <a:cs typeface="Calibri" pitchFamily="34" charset="-120"/>
              </a:rPr>
              <a:t>v1: near-perfect circle - uniformly weak on every axis</a:t>
            </a:r>
            <a:endParaRPr lang="en-US" sz="1400" dirty="0"/>
          </a:p>
          <a:p>
            <a:pPr marL="342900" indent="-342900">
              <a:buSzPct val="100000"/>
              <a:buChar char="•"/>
            </a:pPr>
            <a:r>
              <a:rPr lang="en-US" sz="1400" dirty="0">
                <a:solidFill>
                  <a:srgbClr val="B0BAD0"/>
                </a:solidFill>
                <a:latin typeface="Calibri" pitchFamily="34" charset="0"/>
                <a:ea typeface="Calibri" pitchFamily="34" charset="-122"/>
                <a:cs typeface="Calibri" pitchFamily="34" charset="-120"/>
              </a:rPr>
              <a:t>Position Awareness: floor across all versions. The one unsolved dimension.</a:t>
            </a:r>
            <a:endParaRPr lang="en-US" sz="1400" dirty="0"/>
          </a:p>
          <a:p>
            <a:pPr marL="342900" indent="-342900">
              <a:buSzPct val="100000"/>
              <a:buChar char="•"/>
            </a:pPr>
            <a:r>
              <a:rPr lang="en-US" sz="1400" dirty="0">
                <a:solidFill>
                  <a:srgbClr val="B0BAD0"/>
                </a:solidFill>
                <a:latin typeface="Calibri" pitchFamily="34" charset="0"/>
                <a:ea typeface="Calibri" pitchFamily="34" charset="-122"/>
                <a:cs typeface="Calibri" pitchFamily="34" charset="-120"/>
              </a:rPr>
              <a:t>Defense + Info Exploitation: grow in lockstep - same auction-state system drives both</a:t>
            </a:r>
            <a:endParaRPr lang="en-US" sz="1400" dirty="0"/>
          </a:p>
          <a:p>
            <a:pPr marL="342900" indent="-342900">
              <a:buSzPct val="100000"/>
              <a:buChar char="•"/>
            </a:pPr>
            <a:r>
              <a:rPr lang="en-US" sz="1400" dirty="0">
                <a:solidFill>
                  <a:srgbClr val="B0BAD0"/>
                </a:solidFill>
                <a:latin typeface="Calibri" pitchFamily="34" charset="0"/>
                <a:ea typeface="Calibri" pitchFamily="34" charset="-122"/>
                <a:cs typeface="Calibri" pitchFamily="34" charset="-120"/>
              </a:rPr>
              <a:t>v3: right-heavy polygon. Strong at reading situations, shallow on positional execution.</a:t>
            </a:r>
            <a:endParaRPr lang="en-US" sz="1400" dirty="0"/>
          </a:p>
          <a:p>
            <a:pPr marL="342900" indent="-342900">
              <a:buSzPct val="100000"/>
              <a:buChar char="•"/>
            </a:pPr>
            <a:r>
              <a:rPr lang="en-US" sz="1400" dirty="0">
                <a:solidFill>
                  <a:srgbClr val="B0BAD0"/>
                </a:solidFill>
                <a:latin typeface="Calibri" pitchFamily="34" charset="0"/>
                <a:ea typeface="Calibri" pitchFamily="34" charset="-122"/>
                <a:cs typeface="Calibri" pitchFamily="34" charset="-120"/>
              </a:rPr>
              <a:t>v2: asymmetric middle. Concave on Bluff Control and Bet Sizing - exactly where v3's fixes landed.</a:t>
            </a:r>
            <a:endParaRPr lang="en-US" sz="1400" dirty="0"/>
          </a:p>
        </p:txBody>
      </p:sp>
      <p:sp>
        <p:nvSpPr>
          <p:cNvPr id="6" name="TextBox 5">
            <a:extLst>
              <a:ext uri="{FF2B5EF4-FFF2-40B4-BE49-F238E27FC236}">
                <a16:creationId xmlns:a16="http://schemas.microsoft.com/office/drawing/2014/main" id="{744BC9B5-A42E-CE05-7453-D8082A728349}"/>
              </a:ext>
            </a:extLst>
          </p:cNvPr>
          <p:cNvSpPr txBox="1"/>
          <p:nvPr/>
        </p:nvSpPr>
        <p:spPr>
          <a:xfrm>
            <a:off x="347472" y="4602480"/>
            <a:ext cx="8346948" cy="461665"/>
          </a:xfrm>
          <a:prstGeom prst="rect">
            <a:avLst/>
          </a:prstGeom>
          <a:noFill/>
        </p:spPr>
        <p:txBody>
          <a:bodyPr wrap="square" rtlCol="0">
            <a:spAutoFit/>
          </a:bodyPr>
          <a:lstStyle/>
          <a:p>
            <a:pPr algn="ctr"/>
            <a:r>
              <a:rPr lang="en-US" sz="1200" b="1" i="1" dirty="0">
                <a:solidFill>
                  <a:srgbClr val="7C899F"/>
                </a:solidFill>
              </a:rPr>
              <a:t>Our strategy capability radar visualizes the massive leap in equity precision and information exploitation from our initial build to the final competitive version.</a:t>
            </a:r>
            <a:endParaRPr lang="en-IN" sz="1200" b="1" i="1" dirty="0">
              <a:solidFill>
                <a:srgbClr val="7C899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F36AF-3CCA-4F46-A0BA-9784C7FC545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3D0605F-BA79-AEC3-827C-E342302DFA54}"/>
              </a:ext>
            </a:extLst>
          </p:cNvPr>
          <p:cNvPicPr>
            <a:picLocks noChangeAspect="1"/>
          </p:cNvPicPr>
          <p:nvPr/>
        </p:nvPicPr>
        <p:blipFill>
          <a:blip r:embed="rId2"/>
          <a:stretch>
            <a:fillRect/>
          </a:stretch>
        </p:blipFill>
        <p:spPr>
          <a:xfrm>
            <a:off x="1459774" y="438947"/>
            <a:ext cx="6302827" cy="3264373"/>
          </a:xfrm>
          <a:prstGeom prst="rect">
            <a:avLst/>
          </a:prstGeom>
        </p:spPr>
      </p:pic>
      <p:sp>
        <p:nvSpPr>
          <p:cNvPr id="6" name="Shape 3"/>
          <p:cNvSpPr/>
          <p:nvPr/>
        </p:nvSpPr>
        <p:spPr>
          <a:xfrm>
            <a:off x="320040" y="3794760"/>
            <a:ext cx="4114800" cy="1097280"/>
          </a:xfrm>
          <a:prstGeom prst="rect">
            <a:avLst/>
          </a:prstGeom>
          <a:solidFill>
            <a:srgbClr val="1C2233"/>
          </a:solidFill>
          <a:ln/>
          <a:effectLst>
            <a:outerShdw blurRad="50800" dist="12700" dir="8100000" algn="bl" rotWithShape="0">
              <a:srgbClr val="000000">
                <a:alpha val="18000"/>
              </a:srgbClr>
            </a:outerShdw>
          </a:effectLst>
        </p:spPr>
        <p:txBody>
          <a:bodyPr/>
          <a:lstStyle/>
          <a:p>
            <a:endParaRPr lang="en-IN"/>
          </a:p>
        </p:txBody>
      </p:sp>
      <p:sp>
        <p:nvSpPr>
          <p:cNvPr id="7" name="Shape 4"/>
          <p:cNvSpPr/>
          <p:nvPr/>
        </p:nvSpPr>
        <p:spPr>
          <a:xfrm>
            <a:off x="320040" y="3794760"/>
            <a:ext cx="4114800" cy="36576"/>
          </a:xfrm>
          <a:prstGeom prst="rect">
            <a:avLst/>
          </a:prstGeom>
          <a:solidFill>
            <a:srgbClr val="4A90D9"/>
          </a:solidFill>
          <a:ln/>
        </p:spPr>
        <p:txBody>
          <a:bodyPr/>
          <a:lstStyle/>
          <a:p>
            <a:endParaRPr lang="en-IN"/>
          </a:p>
        </p:txBody>
      </p:sp>
      <p:sp>
        <p:nvSpPr>
          <p:cNvPr id="8" name="Text 5"/>
          <p:cNvSpPr/>
          <p:nvPr/>
        </p:nvSpPr>
        <p:spPr>
          <a:xfrm>
            <a:off x="411480" y="3858768"/>
            <a:ext cx="3931920"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Simulation Budget</a:t>
            </a:r>
            <a:endParaRPr lang="en-US" sz="1100" dirty="0"/>
          </a:p>
        </p:txBody>
      </p:sp>
      <p:sp>
        <p:nvSpPr>
          <p:cNvPr id="9" name="Text 6"/>
          <p:cNvSpPr/>
          <p:nvPr/>
        </p:nvSpPr>
        <p:spPr>
          <a:xfrm>
            <a:off x="411480" y="4114800"/>
            <a:ext cx="3931920" cy="685800"/>
          </a:xfrm>
          <a:prstGeom prst="rect">
            <a:avLst/>
          </a:prstGeom>
          <a:noFill/>
          <a:ln/>
        </p:spPr>
        <p:txBody>
          <a:bodyPr wrap="square" lIns="0" tIns="0" rIns="0" bIns="0" rtlCol="0" anchor="t"/>
          <a:lstStyle/>
          <a:p>
            <a:pPr marL="0" indent="0">
              <a:buNone/>
            </a:pPr>
            <a:r>
              <a:rPr lang="en-US" sz="950" dirty="0">
                <a:solidFill>
                  <a:srgbClr val="B0BAD0"/>
                </a:solidFill>
                <a:latin typeface="Calibri" pitchFamily="34" charset="0"/>
                <a:ea typeface="Calibri" pitchFamily="34" charset="-122"/>
                <a:cs typeface="Calibri" pitchFamily="34" charset="-120"/>
              </a:rPr>
              <a:t>v3 pushes up to 650 sims on info-rich streets. On river with known opp card, drops MC entirely for exhaustive enumeration.</a:t>
            </a:r>
            <a:endParaRPr lang="en-US" sz="950" dirty="0"/>
          </a:p>
        </p:txBody>
      </p:sp>
      <p:sp>
        <p:nvSpPr>
          <p:cNvPr id="10" name="Shape 7"/>
          <p:cNvSpPr/>
          <p:nvPr/>
        </p:nvSpPr>
        <p:spPr>
          <a:xfrm>
            <a:off x="4663440" y="3794760"/>
            <a:ext cx="4160520" cy="1097280"/>
          </a:xfrm>
          <a:prstGeom prst="rect">
            <a:avLst/>
          </a:prstGeom>
          <a:solidFill>
            <a:srgbClr val="1C2233"/>
          </a:solidFill>
          <a:ln/>
          <a:effectLst>
            <a:outerShdw blurRad="50800" dist="12700" dir="8100000" algn="bl" rotWithShape="0">
              <a:srgbClr val="000000">
                <a:alpha val="18000"/>
              </a:srgbClr>
            </a:outerShdw>
          </a:effectLst>
        </p:spPr>
        <p:txBody>
          <a:bodyPr/>
          <a:lstStyle/>
          <a:p>
            <a:endParaRPr lang="en-IN"/>
          </a:p>
        </p:txBody>
      </p:sp>
      <p:sp>
        <p:nvSpPr>
          <p:cNvPr id="11" name="Shape 8"/>
          <p:cNvSpPr/>
          <p:nvPr/>
        </p:nvSpPr>
        <p:spPr>
          <a:xfrm>
            <a:off x="4663440" y="3794760"/>
            <a:ext cx="4160520" cy="36576"/>
          </a:xfrm>
          <a:prstGeom prst="rect">
            <a:avLst/>
          </a:prstGeom>
          <a:solidFill>
            <a:srgbClr val="4AD991"/>
          </a:solidFill>
          <a:ln/>
        </p:spPr>
        <p:txBody>
          <a:bodyPr/>
          <a:lstStyle/>
          <a:p>
            <a:endParaRPr lang="en-IN"/>
          </a:p>
        </p:txBody>
      </p:sp>
      <p:sp>
        <p:nvSpPr>
          <p:cNvPr id="12" name="Text 9"/>
          <p:cNvSpPr/>
          <p:nvPr/>
        </p:nvSpPr>
        <p:spPr>
          <a:xfrm>
            <a:off x="4754880" y="3858768"/>
            <a:ext cx="3931920"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Equity Precision by Street</a:t>
            </a:r>
            <a:endParaRPr lang="en-US" sz="1100" dirty="0"/>
          </a:p>
        </p:txBody>
      </p:sp>
      <p:sp>
        <p:nvSpPr>
          <p:cNvPr id="13" name="Text 10"/>
          <p:cNvSpPr/>
          <p:nvPr/>
        </p:nvSpPr>
        <p:spPr>
          <a:xfrm>
            <a:off x="4754880" y="4114800"/>
            <a:ext cx="3931920" cy="685800"/>
          </a:xfrm>
          <a:prstGeom prst="rect">
            <a:avLst/>
          </a:prstGeom>
          <a:noFill/>
          <a:ln/>
        </p:spPr>
        <p:txBody>
          <a:bodyPr wrap="square" lIns="0" tIns="0" rIns="0" bIns="0" rtlCol="0" anchor="t"/>
          <a:lstStyle/>
          <a:p>
            <a:pPr marL="0" indent="0">
              <a:buNone/>
            </a:pPr>
            <a:r>
              <a:rPr lang="en-US" sz="950" dirty="0">
                <a:solidFill>
                  <a:srgbClr val="B0BAD0"/>
                </a:solidFill>
                <a:latin typeface="Calibri" pitchFamily="34" charset="0"/>
                <a:ea typeface="Calibri" pitchFamily="34" charset="-122"/>
                <a:cs typeface="Calibri" pitchFamily="34" charset="-120"/>
              </a:rPr>
              <a:t>v3's biggest gain is preflop (table lookup fix) and river+1 card (exhaustive mode) — the two endpoints. Flop and turn remain shared ground between v2 and v3.</a:t>
            </a:r>
            <a:endParaRPr lang="en-US" sz="950" dirty="0"/>
          </a:p>
        </p:txBody>
      </p:sp>
      <p:sp>
        <p:nvSpPr>
          <p:cNvPr id="2" name="TextBox 1">
            <a:extLst>
              <a:ext uri="{FF2B5EF4-FFF2-40B4-BE49-F238E27FC236}">
                <a16:creationId xmlns:a16="http://schemas.microsoft.com/office/drawing/2014/main" id="{FAC0A8AE-C6C0-6DC8-98BE-D1EE9465F2D5}"/>
              </a:ext>
            </a:extLst>
          </p:cNvPr>
          <p:cNvSpPr txBox="1"/>
          <p:nvPr/>
        </p:nvSpPr>
        <p:spPr>
          <a:xfrm>
            <a:off x="365760" y="60960"/>
            <a:ext cx="8526780" cy="430887"/>
          </a:xfrm>
          <a:prstGeom prst="rect">
            <a:avLst/>
          </a:prstGeom>
          <a:noFill/>
        </p:spPr>
        <p:txBody>
          <a:bodyPr wrap="square" rtlCol="0">
            <a:spAutoFit/>
          </a:bodyPr>
          <a:lstStyle/>
          <a:p>
            <a:pPr algn="ctr"/>
            <a:r>
              <a:rPr lang="en-US" sz="1100" b="1" i="1" dirty="0">
                <a:solidFill>
                  <a:srgbClr val="7C899F"/>
                </a:solidFill>
              </a:rPr>
              <a:t>By intelligently reallocating our simulation budget, particularly with exhaustive river enumerations, we drastically improved our equity precision while staying within our strict time bank.</a:t>
            </a:r>
            <a:endParaRPr lang="en-IN" sz="1100" b="1" i="1" dirty="0">
              <a:solidFill>
                <a:srgbClr val="7C899F"/>
              </a:solidFill>
            </a:endParaRPr>
          </a:p>
        </p:txBody>
      </p:sp>
    </p:spTree>
    <p:extLst>
      <p:ext uri="{BB962C8B-B14F-4D97-AF65-F5344CB8AC3E}">
        <p14:creationId xmlns:p14="http://schemas.microsoft.com/office/powerpoint/2010/main" val="2264661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3F12B-83F4-6108-9B6A-6E2681C72FB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875DFA0-7EB1-7E9D-809C-45197C191226}"/>
              </a:ext>
            </a:extLst>
          </p:cNvPr>
          <p:cNvPicPr>
            <a:picLocks noChangeAspect="1"/>
          </p:cNvPicPr>
          <p:nvPr/>
        </p:nvPicPr>
        <p:blipFill>
          <a:blip r:embed="rId2"/>
          <a:stretch>
            <a:fillRect/>
          </a:stretch>
        </p:blipFill>
        <p:spPr>
          <a:xfrm>
            <a:off x="166552" y="461723"/>
            <a:ext cx="4982374" cy="4216037"/>
          </a:xfrm>
          <a:prstGeom prst="rect">
            <a:avLst/>
          </a:prstGeom>
        </p:spPr>
      </p:pic>
      <p:sp>
        <p:nvSpPr>
          <p:cNvPr id="6" name="Shape 3"/>
          <p:cNvSpPr/>
          <p:nvPr/>
        </p:nvSpPr>
        <p:spPr>
          <a:xfrm>
            <a:off x="5300254" y="593054"/>
            <a:ext cx="3690257" cy="804672"/>
          </a:xfrm>
          <a:prstGeom prst="rect">
            <a:avLst/>
          </a:prstGeom>
          <a:solidFill>
            <a:srgbClr val="1C2233"/>
          </a:solidFill>
          <a:ln/>
          <a:effectLst>
            <a:outerShdw blurRad="50800" dist="12700" dir="8100000" algn="bl" rotWithShape="0">
              <a:srgbClr val="000000">
                <a:alpha val="18000"/>
              </a:srgbClr>
            </a:outerShdw>
          </a:effectLst>
        </p:spPr>
        <p:txBody>
          <a:bodyPr/>
          <a:lstStyle/>
          <a:p>
            <a:endParaRPr lang="en-IN"/>
          </a:p>
        </p:txBody>
      </p:sp>
      <p:sp>
        <p:nvSpPr>
          <p:cNvPr id="7" name="Shape 4"/>
          <p:cNvSpPr/>
          <p:nvPr/>
        </p:nvSpPr>
        <p:spPr>
          <a:xfrm>
            <a:off x="5300254" y="593054"/>
            <a:ext cx="3690257" cy="36576"/>
          </a:xfrm>
          <a:prstGeom prst="rect">
            <a:avLst/>
          </a:prstGeom>
          <a:solidFill>
            <a:srgbClr val="D4A843"/>
          </a:solidFill>
          <a:ln/>
        </p:spPr>
        <p:txBody>
          <a:bodyPr/>
          <a:lstStyle/>
          <a:p>
            <a:endParaRPr lang="en-IN"/>
          </a:p>
        </p:txBody>
      </p:sp>
      <p:sp>
        <p:nvSpPr>
          <p:cNvPr id="8" name="Text 5"/>
          <p:cNvSpPr/>
          <p:nvPr/>
        </p:nvSpPr>
        <p:spPr>
          <a:xfrm>
            <a:off x="5391694" y="647918"/>
            <a:ext cx="351453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Auction Bid Strategy</a:t>
            </a:r>
            <a:endParaRPr lang="en-US" sz="1000" dirty="0"/>
          </a:p>
        </p:txBody>
      </p:sp>
      <p:sp>
        <p:nvSpPr>
          <p:cNvPr id="9" name="Text 6"/>
          <p:cNvSpPr/>
          <p:nvPr/>
        </p:nvSpPr>
        <p:spPr>
          <a:xfrm>
            <a:off x="5391694" y="867374"/>
            <a:ext cx="3514530" cy="475488"/>
          </a:xfrm>
          <a:prstGeom prst="rect">
            <a:avLst/>
          </a:prstGeom>
          <a:noFill/>
          <a:ln/>
        </p:spPr>
        <p:txBody>
          <a:bodyPr wrap="square" lIns="0" tIns="0" rIns="0" bIns="0" rtlCol="0" anchor="t"/>
          <a:lstStyle/>
          <a:p>
            <a:pPr marL="0" indent="0">
              <a:buNone/>
            </a:pPr>
            <a:r>
              <a:rPr lang="en-US" sz="850" dirty="0">
                <a:solidFill>
                  <a:srgbClr val="B0BAD0"/>
                </a:solidFill>
                <a:latin typeface="Calibri" pitchFamily="34" charset="0"/>
                <a:ea typeface="Calibri" pitchFamily="34" charset="-122"/>
                <a:cs typeface="Calibri" pitchFamily="34" charset="-120"/>
              </a:rPr>
              <a:t>v2/v3 bids nearly double v1 at every equity level. Info value scales with hand strength, and second-price means overbidding is the only real cost.</a:t>
            </a:r>
            <a:endParaRPr lang="en-US" sz="850" dirty="0"/>
          </a:p>
        </p:txBody>
      </p:sp>
      <p:sp>
        <p:nvSpPr>
          <p:cNvPr id="11" name="Shape 7"/>
          <p:cNvSpPr/>
          <p:nvPr/>
        </p:nvSpPr>
        <p:spPr>
          <a:xfrm>
            <a:off x="5300254" y="1693395"/>
            <a:ext cx="3677194" cy="804672"/>
          </a:xfrm>
          <a:prstGeom prst="rect">
            <a:avLst/>
          </a:prstGeom>
          <a:solidFill>
            <a:srgbClr val="1C2233"/>
          </a:solidFill>
          <a:ln/>
          <a:effectLst>
            <a:outerShdw blurRad="50800" dist="12700" dir="8100000" algn="bl" rotWithShape="0">
              <a:srgbClr val="000000">
                <a:alpha val="18000"/>
              </a:srgbClr>
            </a:outerShdw>
          </a:effectLst>
        </p:spPr>
        <p:txBody>
          <a:bodyPr/>
          <a:lstStyle/>
          <a:p>
            <a:endParaRPr lang="en-IN"/>
          </a:p>
        </p:txBody>
      </p:sp>
      <p:sp>
        <p:nvSpPr>
          <p:cNvPr id="12" name="Shape 8"/>
          <p:cNvSpPr/>
          <p:nvPr/>
        </p:nvSpPr>
        <p:spPr>
          <a:xfrm>
            <a:off x="5300254" y="1675107"/>
            <a:ext cx="3677194" cy="54864"/>
          </a:xfrm>
          <a:prstGeom prst="rect">
            <a:avLst/>
          </a:prstGeom>
          <a:solidFill>
            <a:srgbClr val="E05555"/>
          </a:solidFill>
          <a:ln/>
        </p:spPr>
        <p:txBody>
          <a:bodyPr/>
          <a:lstStyle/>
          <a:p>
            <a:endParaRPr lang="en-IN"/>
          </a:p>
        </p:txBody>
      </p:sp>
      <p:sp>
        <p:nvSpPr>
          <p:cNvPr id="13" name="Text 9"/>
          <p:cNvSpPr/>
          <p:nvPr/>
        </p:nvSpPr>
        <p:spPr>
          <a:xfrm>
            <a:off x="5391694" y="1748259"/>
            <a:ext cx="3434257"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Bluff Suppression Under Info</a:t>
            </a:r>
            <a:endParaRPr lang="en-US" sz="1000" dirty="0"/>
          </a:p>
        </p:txBody>
      </p:sp>
      <p:sp>
        <p:nvSpPr>
          <p:cNvPr id="14" name="Text 10"/>
          <p:cNvSpPr/>
          <p:nvPr/>
        </p:nvSpPr>
        <p:spPr>
          <a:xfrm>
            <a:off x="5391694" y="1967715"/>
            <a:ext cx="3434257" cy="475488"/>
          </a:xfrm>
          <a:prstGeom prst="rect">
            <a:avLst/>
          </a:prstGeom>
          <a:noFill/>
          <a:ln/>
        </p:spPr>
        <p:txBody>
          <a:bodyPr wrap="square" lIns="0" tIns="0" rIns="0" bIns="0" rtlCol="0" anchor="t"/>
          <a:lstStyle/>
          <a:p>
            <a:pPr marL="0" indent="0">
              <a:buNone/>
            </a:pPr>
            <a:r>
              <a:rPr lang="en-US" sz="850" dirty="0">
                <a:solidFill>
                  <a:srgbClr val="B0BAD0"/>
                </a:solidFill>
                <a:latin typeface="Calibri" pitchFamily="34" charset="0"/>
                <a:ea typeface="Calibri" pitchFamily="34" charset="-122"/>
                <a:cs typeface="Calibri" pitchFamily="34" charset="-120"/>
              </a:rPr>
              <a:t>When opponent holds info, v2/v3 cuts bluffing by 98% vs v1's 65%. Near-total suppression when bluffs are likeliest to get caught.</a:t>
            </a:r>
            <a:endParaRPr lang="en-US" sz="850" dirty="0"/>
          </a:p>
        </p:txBody>
      </p:sp>
      <p:sp>
        <p:nvSpPr>
          <p:cNvPr id="15" name="Shape 11"/>
          <p:cNvSpPr/>
          <p:nvPr/>
        </p:nvSpPr>
        <p:spPr>
          <a:xfrm>
            <a:off x="5300254" y="2736342"/>
            <a:ext cx="3690257" cy="804672"/>
          </a:xfrm>
          <a:prstGeom prst="rect">
            <a:avLst/>
          </a:prstGeom>
          <a:solidFill>
            <a:srgbClr val="1C2233"/>
          </a:solidFill>
          <a:ln/>
          <a:effectLst>
            <a:outerShdw blurRad="50800" dist="12700" dir="8100000" algn="bl" rotWithShape="0">
              <a:srgbClr val="000000">
                <a:alpha val="18000"/>
              </a:srgbClr>
            </a:outerShdw>
          </a:effectLst>
        </p:spPr>
        <p:txBody>
          <a:bodyPr/>
          <a:lstStyle/>
          <a:p>
            <a:endParaRPr lang="en-IN"/>
          </a:p>
        </p:txBody>
      </p:sp>
      <p:sp>
        <p:nvSpPr>
          <p:cNvPr id="16" name="Shape 12"/>
          <p:cNvSpPr/>
          <p:nvPr/>
        </p:nvSpPr>
        <p:spPr>
          <a:xfrm>
            <a:off x="5300254" y="2736342"/>
            <a:ext cx="3690257" cy="36576"/>
          </a:xfrm>
          <a:prstGeom prst="rect">
            <a:avLst/>
          </a:prstGeom>
          <a:solidFill>
            <a:srgbClr val="4A90D9"/>
          </a:solidFill>
          <a:ln/>
        </p:spPr>
        <p:txBody>
          <a:bodyPr/>
          <a:lstStyle/>
          <a:p>
            <a:endParaRPr lang="en-IN"/>
          </a:p>
        </p:txBody>
      </p:sp>
      <p:sp>
        <p:nvSpPr>
          <p:cNvPr id="17" name="Text 13"/>
          <p:cNvSpPr/>
          <p:nvPr/>
        </p:nvSpPr>
        <p:spPr>
          <a:xfrm>
            <a:off x="5391694" y="2791206"/>
            <a:ext cx="351453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Info-Aware Equity Recovery</a:t>
            </a:r>
            <a:endParaRPr lang="en-US" sz="1000" dirty="0"/>
          </a:p>
        </p:txBody>
      </p:sp>
      <p:sp>
        <p:nvSpPr>
          <p:cNvPr id="18" name="Text 14"/>
          <p:cNvSpPr/>
          <p:nvPr/>
        </p:nvSpPr>
        <p:spPr>
          <a:xfrm>
            <a:off x="5391694" y="3010662"/>
            <a:ext cx="3514530" cy="475488"/>
          </a:xfrm>
          <a:prstGeom prst="rect">
            <a:avLst/>
          </a:prstGeom>
          <a:noFill/>
          <a:ln/>
        </p:spPr>
        <p:txBody>
          <a:bodyPr wrap="square" lIns="0" tIns="0" rIns="0" bIns="0" rtlCol="0" anchor="t"/>
          <a:lstStyle/>
          <a:p>
            <a:pPr marL="0" indent="0">
              <a:buNone/>
            </a:pPr>
            <a:r>
              <a:rPr lang="en-US" sz="850" dirty="0">
                <a:solidFill>
                  <a:srgbClr val="B0BAD0"/>
                </a:solidFill>
                <a:latin typeface="Calibri" pitchFamily="34" charset="0"/>
                <a:ea typeface="Calibri" pitchFamily="34" charset="-122"/>
                <a:cs typeface="Calibri" pitchFamily="34" charset="-120"/>
              </a:rPr>
              <a:t>Holding info + no bet: adj ≈ raw equity (5/95 blend). Facing a bet: pulls back to 55/45, correctly discounting opponent signal.</a:t>
            </a:r>
            <a:endParaRPr lang="en-US" sz="850" dirty="0"/>
          </a:p>
        </p:txBody>
      </p:sp>
      <p:sp>
        <p:nvSpPr>
          <p:cNvPr id="19" name="Shape 15"/>
          <p:cNvSpPr/>
          <p:nvPr/>
        </p:nvSpPr>
        <p:spPr>
          <a:xfrm>
            <a:off x="5300254" y="3819157"/>
            <a:ext cx="3690257" cy="804672"/>
          </a:xfrm>
          <a:prstGeom prst="rect">
            <a:avLst/>
          </a:prstGeom>
          <a:solidFill>
            <a:srgbClr val="1C2233"/>
          </a:solidFill>
          <a:ln/>
          <a:effectLst>
            <a:outerShdw blurRad="50800" dist="12700" dir="8100000" algn="bl" rotWithShape="0">
              <a:srgbClr val="000000">
                <a:alpha val="18000"/>
              </a:srgbClr>
            </a:outerShdw>
          </a:effectLst>
        </p:spPr>
        <p:txBody>
          <a:bodyPr/>
          <a:lstStyle/>
          <a:p>
            <a:endParaRPr lang="en-IN"/>
          </a:p>
        </p:txBody>
      </p:sp>
      <p:sp>
        <p:nvSpPr>
          <p:cNvPr id="20" name="Shape 16"/>
          <p:cNvSpPr/>
          <p:nvPr/>
        </p:nvSpPr>
        <p:spPr>
          <a:xfrm>
            <a:off x="5300254" y="3819157"/>
            <a:ext cx="3690257" cy="36576"/>
          </a:xfrm>
          <a:prstGeom prst="rect">
            <a:avLst/>
          </a:prstGeom>
          <a:solidFill>
            <a:srgbClr val="4AD991"/>
          </a:solidFill>
          <a:ln/>
        </p:spPr>
        <p:txBody>
          <a:bodyPr/>
          <a:lstStyle/>
          <a:p>
            <a:endParaRPr lang="en-IN"/>
          </a:p>
        </p:txBody>
      </p:sp>
      <p:sp>
        <p:nvSpPr>
          <p:cNvPr id="21" name="Text 17"/>
          <p:cNvSpPr/>
          <p:nvPr/>
        </p:nvSpPr>
        <p:spPr>
          <a:xfrm>
            <a:off x="5391694" y="3874021"/>
            <a:ext cx="351453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Defense vs Info Opponent</a:t>
            </a:r>
            <a:endParaRPr lang="en-US" sz="1000" dirty="0"/>
          </a:p>
        </p:txBody>
      </p:sp>
      <p:sp>
        <p:nvSpPr>
          <p:cNvPr id="22" name="Text 18"/>
          <p:cNvSpPr/>
          <p:nvPr/>
        </p:nvSpPr>
        <p:spPr>
          <a:xfrm>
            <a:off x="5391694" y="4093477"/>
            <a:ext cx="3514530" cy="475488"/>
          </a:xfrm>
          <a:prstGeom prst="rect">
            <a:avLst/>
          </a:prstGeom>
          <a:noFill/>
          <a:ln/>
        </p:spPr>
        <p:txBody>
          <a:bodyPr wrap="square" lIns="0" tIns="0" rIns="0" bIns="0" rtlCol="0" anchor="t"/>
          <a:lstStyle/>
          <a:p>
            <a:pPr marL="0" indent="0">
              <a:buNone/>
            </a:pPr>
            <a:r>
              <a:rPr lang="en-US" sz="850" dirty="0">
                <a:solidFill>
                  <a:srgbClr val="B0BAD0"/>
                </a:solidFill>
                <a:latin typeface="Calibri" pitchFamily="34" charset="0"/>
                <a:ea typeface="Calibri" pitchFamily="34" charset="-122"/>
                <a:cs typeface="Calibri" pitchFamily="34" charset="-120"/>
              </a:rPr>
              <a:t>v1: ×0.88 penalty only after br &gt; 0.5  too little, too late. v2/v3: ×0.60 from br &gt; 0.2, treating any bet from info-holder as credible.</a:t>
            </a:r>
            <a:endParaRPr lang="en-US" sz="850" dirty="0"/>
          </a:p>
        </p:txBody>
      </p:sp>
      <p:sp>
        <p:nvSpPr>
          <p:cNvPr id="2" name="TextBox 1">
            <a:extLst>
              <a:ext uri="{FF2B5EF4-FFF2-40B4-BE49-F238E27FC236}">
                <a16:creationId xmlns:a16="http://schemas.microsoft.com/office/drawing/2014/main" id="{604B9BCE-BC34-A5DC-7DE6-A56ECB08410D}"/>
              </a:ext>
            </a:extLst>
          </p:cNvPr>
          <p:cNvSpPr txBox="1"/>
          <p:nvPr/>
        </p:nvSpPr>
        <p:spPr>
          <a:xfrm>
            <a:off x="426720" y="45396"/>
            <a:ext cx="8161020" cy="430887"/>
          </a:xfrm>
          <a:prstGeom prst="rect">
            <a:avLst/>
          </a:prstGeom>
          <a:noFill/>
        </p:spPr>
        <p:txBody>
          <a:bodyPr wrap="square" rtlCol="0">
            <a:spAutoFit/>
          </a:bodyPr>
          <a:lstStyle/>
          <a:p>
            <a:r>
              <a:rPr lang="en-US" sz="1100" b="1" i="1" dirty="0">
                <a:solidFill>
                  <a:srgbClr val="7C899F"/>
                </a:solidFill>
              </a:rPr>
              <a:t>Comparing our iterations shows how the final bot significantly suppresses bluffs under an information disadvantage while bidding much more aggressively during the auction.</a:t>
            </a:r>
            <a:endParaRPr lang="en-IN" sz="1100" b="1" i="1" dirty="0">
              <a:solidFill>
                <a:srgbClr val="7C899F"/>
              </a:solidFill>
            </a:endParaRPr>
          </a:p>
        </p:txBody>
      </p:sp>
    </p:spTree>
    <p:extLst>
      <p:ext uri="{BB962C8B-B14F-4D97-AF65-F5344CB8AC3E}">
        <p14:creationId xmlns:p14="http://schemas.microsoft.com/office/powerpoint/2010/main" val="1147118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18872"/>
            <a:ext cx="9144000" cy="475488"/>
          </a:xfrm>
          <a:prstGeom prst="rect">
            <a:avLst/>
          </a:prstGeom>
          <a:solidFill>
            <a:srgbClr val="1F2D3D"/>
          </a:solidFill>
          <a:ln/>
        </p:spPr>
        <p:txBody>
          <a:bodyPr/>
          <a:lstStyle/>
          <a:p>
            <a:endParaRPr lang="en-IN"/>
          </a:p>
        </p:txBody>
      </p:sp>
      <p:sp>
        <p:nvSpPr>
          <p:cNvPr id="3" name="Shape 1"/>
          <p:cNvSpPr/>
          <p:nvPr/>
        </p:nvSpPr>
        <p:spPr>
          <a:xfrm>
            <a:off x="201168" y="182880"/>
            <a:ext cx="36576" cy="347472"/>
          </a:xfrm>
          <a:prstGeom prst="rect">
            <a:avLst/>
          </a:prstGeom>
          <a:solidFill>
            <a:srgbClr val="FF9800"/>
          </a:solidFill>
          <a:ln/>
        </p:spPr>
        <p:txBody>
          <a:bodyPr/>
          <a:lstStyle/>
          <a:p>
            <a:endParaRPr lang="en-IN"/>
          </a:p>
        </p:txBody>
      </p:sp>
      <p:sp>
        <p:nvSpPr>
          <p:cNvPr id="4" name="Text 2"/>
          <p:cNvSpPr/>
          <p:nvPr/>
        </p:nvSpPr>
        <p:spPr>
          <a:xfrm>
            <a:off x="347472" y="137160"/>
            <a:ext cx="8412480" cy="457200"/>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Tournament.py - Local Bot Evaluation Engine</a:t>
            </a:r>
            <a:endParaRPr lang="en-US" sz="2000" dirty="0"/>
          </a:p>
        </p:txBody>
      </p:sp>
      <p:sp>
        <p:nvSpPr>
          <p:cNvPr id="5" name="Text 3"/>
          <p:cNvSpPr/>
          <p:nvPr/>
        </p:nvSpPr>
        <p:spPr>
          <a:xfrm>
            <a:off x="274320" y="685800"/>
            <a:ext cx="8595360" cy="274320"/>
          </a:xfrm>
          <a:prstGeom prst="rect">
            <a:avLst/>
          </a:prstGeom>
          <a:noFill/>
          <a:ln/>
        </p:spPr>
        <p:txBody>
          <a:bodyPr wrap="square" lIns="0" tIns="0" rIns="0" bIns="0" rtlCol="0" anchor="ctr"/>
          <a:lstStyle/>
          <a:p>
            <a:pPr marL="0" indent="0">
              <a:buNone/>
            </a:pPr>
            <a:r>
              <a:rPr lang="en-US" sz="1100" i="1" dirty="0">
                <a:solidFill>
                  <a:srgbClr val="78909C"/>
                </a:solidFill>
                <a:latin typeface="Calibri" pitchFamily="34" charset="0"/>
                <a:ea typeface="Calibri" pitchFamily="34" charset="-122"/>
                <a:cs typeface="Calibri" pitchFamily="34" charset="-120"/>
              </a:rPr>
              <a:t>Custom round-robin framework for head-to-head testing all bot variants before submission.</a:t>
            </a:r>
            <a:endParaRPr lang="en-US" sz="1100" dirty="0"/>
          </a:p>
        </p:txBody>
      </p:sp>
      <p:sp>
        <p:nvSpPr>
          <p:cNvPr id="6" name="Shape 4"/>
          <p:cNvSpPr/>
          <p:nvPr/>
        </p:nvSpPr>
        <p:spPr>
          <a:xfrm>
            <a:off x="228600" y="1005840"/>
            <a:ext cx="4160520" cy="914400"/>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7" name="Shape 5"/>
          <p:cNvSpPr/>
          <p:nvPr/>
        </p:nvSpPr>
        <p:spPr>
          <a:xfrm>
            <a:off x="228599" y="1005840"/>
            <a:ext cx="45719" cy="914400"/>
          </a:xfrm>
          <a:prstGeom prst="rect">
            <a:avLst/>
          </a:prstGeom>
          <a:solidFill>
            <a:srgbClr val="00BCD4"/>
          </a:solidFill>
          <a:ln/>
        </p:spPr>
        <p:txBody>
          <a:bodyPr/>
          <a:lstStyle/>
          <a:p>
            <a:endParaRPr lang="en-IN"/>
          </a:p>
        </p:txBody>
      </p:sp>
      <p:sp>
        <p:nvSpPr>
          <p:cNvPr id="8" name="Text 6"/>
          <p:cNvSpPr/>
          <p:nvPr/>
        </p:nvSpPr>
        <p:spPr>
          <a:xfrm>
            <a:off x="338328" y="1060704"/>
            <a:ext cx="3886200" cy="256032"/>
          </a:xfrm>
          <a:prstGeom prst="rect">
            <a:avLst/>
          </a:prstGeom>
          <a:noFill/>
          <a:ln/>
        </p:spPr>
        <p:txBody>
          <a:bodyPr wrap="square" lIns="0" tIns="0" rIns="0" bIns="0"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Round-Robin Pairings</a:t>
            </a:r>
            <a:endParaRPr lang="en-US" sz="1100" dirty="0"/>
          </a:p>
        </p:txBody>
      </p:sp>
      <p:sp>
        <p:nvSpPr>
          <p:cNvPr id="9" name="Text 7"/>
          <p:cNvSpPr/>
          <p:nvPr/>
        </p:nvSpPr>
        <p:spPr>
          <a:xfrm>
            <a:off x="338328" y="1298448"/>
            <a:ext cx="3840480" cy="694944"/>
          </a:xfrm>
          <a:prstGeom prst="rect">
            <a:avLst/>
          </a:prstGeom>
          <a:noFill/>
          <a:ln/>
        </p:spPr>
        <p:txBody>
          <a:bodyPr wrap="square" lIns="0" tIns="0" rIns="0" bIns="0" rtlCol="0" anchor="t"/>
          <a:lstStyle/>
          <a:p>
            <a:pPr marL="0" indent="0">
              <a:buNone/>
            </a:pPr>
            <a:r>
              <a:rPr lang="en-US" sz="900" dirty="0">
                <a:solidFill>
                  <a:srgbClr val="B0BEC5"/>
                </a:solidFill>
                <a:latin typeface="Calibri" pitchFamily="34" charset="0"/>
                <a:ea typeface="Calibri" pitchFamily="34" charset="-122"/>
                <a:cs typeface="Calibri" pitchFamily="34" charset="-120"/>
              </a:rPr>
              <a:t>Every bot plays every other (nC2 × best-of-N). Results ranked by match wins, then bankroll.</a:t>
            </a:r>
            <a:endParaRPr lang="en-US" sz="900" dirty="0"/>
          </a:p>
        </p:txBody>
      </p:sp>
      <p:sp>
        <p:nvSpPr>
          <p:cNvPr id="10" name="Shape 8"/>
          <p:cNvSpPr/>
          <p:nvPr/>
        </p:nvSpPr>
        <p:spPr>
          <a:xfrm>
            <a:off x="4572000" y="1005840"/>
            <a:ext cx="4343400" cy="822960"/>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11" name="Shape 9"/>
          <p:cNvSpPr/>
          <p:nvPr/>
        </p:nvSpPr>
        <p:spPr>
          <a:xfrm>
            <a:off x="4571999" y="1005840"/>
            <a:ext cx="45719" cy="822960"/>
          </a:xfrm>
          <a:prstGeom prst="rect">
            <a:avLst/>
          </a:prstGeom>
          <a:solidFill>
            <a:srgbClr val="00BCD4"/>
          </a:solidFill>
          <a:ln/>
        </p:spPr>
        <p:txBody>
          <a:bodyPr/>
          <a:lstStyle/>
          <a:p>
            <a:endParaRPr lang="en-IN"/>
          </a:p>
        </p:txBody>
      </p:sp>
      <p:sp>
        <p:nvSpPr>
          <p:cNvPr id="12" name="Text 10"/>
          <p:cNvSpPr/>
          <p:nvPr/>
        </p:nvSpPr>
        <p:spPr>
          <a:xfrm>
            <a:off x="4690872" y="987552"/>
            <a:ext cx="4069080" cy="256032"/>
          </a:xfrm>
          <a:prstGeom prst="rect">
            <a:avLst/>
          </a:prstGeom>
          <a:noFill/>
          <a:ln/>
        </p:spPr>
        <p:txBody>
          <a:bodyPr wrap="square" lIns="0" tIns="0" rIns="0" bIns="0" rtlCol="0" anchor="ctr"/>
          <a:lstStyle/>
          <a:p>
            <a:pPr marL="0" indent="0">
              <a:buNone/>
            </a:pPr>
            <a:r>
              <a:rPr lang="en-US" sz="1100" b="1" dirty="0">
                <a:solidFill>
                  <a:srgbClr val="78909C"/>
                </a:solidFill>
                <a:latin typeface="Calibri" pitchFamily="34" charset="0"/>
                <a:ea typeface="Calibri" pitchFamily="34" charset="-122"/>
                <a:cs typeface="Calibri" pitchFamily="34" charset="-120"/>
              </a:rPr>
              <a:t>How It Drove Improvement</a:t>
            </a:r>
            <a:endParaRPr lang="en-US" sz="1100" dirty="0"/>
          </a:p>
        </p:txBody>
      </p:sp>
      <p:sp>
        <p:nvSpPr>
          <p:cNvPr id="13" name="Text 11"/>
          <p:cNvSpPr/>
          <p:nvPr/>
        </p:nvSpPr>
        <p:spPr>
          <a:xfrm>
            <a:off x="4692178" y="1215499"/>
            <a:ext cx="4023360" cy="694944"/>
          </a:xfrm>
          <a:prstGeom prst="rect">
            <a:avLst/>
          </a:prstGeom>
          <a:noFill/>
          <a:ln/>
        </p:spPr>
        <p:txBody>
          <a:bodyPr wrap="square" lIns="0" tIns="0" rIns="0" bIns="0" rtlCol="0" anchor="t"/>
          <a:lstStyle/>
          <a:p>
            <a:r>
              <a:rPr lang="en-US" sz="900" dirty="0">
                <a:solidFill>
                  <a:schemeClr val="bg1">
                    <a:lumMod val="65000"/>
                  </a:schemeClr>
                </a:solidFill>
              </a:rPr>
              <a:t>We iteratively developed multiple bot variants, isolating features like SPR awareness, aggression thresholds, and auction strategy. By analyzing tournament match logs, we identified the most synergistic feature combinations and continuously re-ran tournaments to refine our core model.</a:t>
            </a:r>
          </a:p>
        </p:txBody>
      </p:sp>
      <p:sp>
        <p:nvSpPr>
          <p:cNvPr id="14" name="Shape 12"/>
          <p:cNvSpPr/>
          <p:nvPr/>
        </p:nvSpPr>
        <p:spPr>
          <a:xfrm>
            <a:off x="237744" y="2048256"/>
            <a:ext cx="4160520" cy="1051560"/>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15" name="Shape 13"/>
          <p:cNvSpPr/>
          <p:nvPr/>
        </p:nvSpPr>
        <p:spPr>
          <a:xfrm>
            <a:off x="237744" y="2048256"/>
            <a:ext cx="36576" cy="1051560"/>
          </a:xfrm>
          <a:prstGeom prst="rect">
            <a:avLst/>
          </a:prstGeom>
          <a:solidFill>
            <a:srgbClr val="FF9800"/>
          </a:solidFill>
          <a:ln/>
        </p:spPr>
        <p:txBody>
          <a:bodyPr/>
          <a:lstStyle/>
          <a:p>
            <a:endParaRPr lang="en-IN"/>
          </a:p>
        </p:txBody>
      </p:sp>
      <p:sp>
        <p:nvSpPr>
          <p:cNvPr id="16" name="Text 14"/>
          <p:cNvSpPr/>
          <p:nvPr/>
        </p:nvSpPr>
        <p:spPr>
          <a:xfrm>
            <a:off x="347472" y="2103120"/>
            <a:ext cx="3886200" cy="256032"/>
          </a:xfrm>
          <a:prstGeom prst="rect">
            <a:avLst/>
          </a:prstGeom>
          <a:noFill/>
          <a:ln/>
        </p:spPr>
        <p:txBody>
          <a:bodyPr wrap="square" lIns="0" tIns="0" rIns="0" bIns="0" rtlCol="0" anchor="ctr"/>
          <a:lstStyle/>
          <a:p>
            <a:pPr marL="0" indent="0">
              <a:buNone/>
            </a:pPr>
            <a:r>
              <a:rPr lang="en-US" sz="1100" b="1" dirty="0">
                <a:solidFill>
                  <a:srgbClr val="FF9800"/>
                </a:solidFill>
                <a:latin typeface="Calibri" pitchFamily="34" charset="0"/>
                <a:ea typeface="Calibri" pitchFamily="34" charset="-122"/>
                <a:cs typeface="Calibri" pitchFamily="34" charset="-120"/>
              </a:rPr>
              <a:t>Parallel Workers + Cache</a:t>
            </a:r>
            <a:endParaRPr lang="en-US" sz="1100" dirty="0"/>
          </a:p>
        </p:txBody>
      </p:sp>
      <p:sp>
        <p:nvSpPr>
          <p:cNvPr id="17" name="Text 15"/>
          <p:cNvSpPr/>
          <p:nvPr/>
        </p:nvSpPr>
        <p:spPr>
          <a:xfrm>
            <a:off x="347472" y="2340864"/>
            <a:ext cx="3840480" cy="694944"/>
          </a:xfrm>
          <a:prstGeom prst="rect">
            <a:avLst/>
          </a:prstGeom>
          <a:noFill/>
          <a:ln/>
        </p:spPr>
        <p:txBody>
          <a:bodyPr wrap="square" lIns="0" tIns="0" rIns="0" bIns="0" rtlCol="0" anchor="t"/>
          <a:lstStyle/>
          <a:p>
            <a:pPr marL="0" indent="0">
              <a:buNone/>
            </a:pPr>
            <a:r>
              <a:rPr lang="en-US" sz="900" dirty="0">
                <a:solidFill>
                  <a:srgbClr val="B0BEC5"/>
                </a:solidFill>
                <a:latin typeface="Calibri" pitchFamily="34" charset="0"/>
                <a:ea typeface="Calibri" pitchFamily="34" charset="-122"/>
                <a:cs typeface="Calibri" pitchFamily="34" charset="-120"/>
              </a:rPr>
              <a:t>ProcessPoolExecutor for parallel matches. JSON cache stores past results — reruns only compute new matchups.</a:t>
            </a:r>
            <a:endParaRPr lang="en-US" sz="900" dirty="0"/>
          </a:p>
        </p:txBody>
      </p:sp>
      <p:sp>
        <p:nvSpPr>
          <p:cNvPr id="18" name="Shape 16"/>
          <p:cNvSpPr/>
          <p:nvPr/>
        </p:nvSpPr>
        <p:spPr>
          <a:xfrm>
            <a:off x="4562856" y="2060448"/>
            <a:ext cx="4343400" cy="822960"/>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19" name="Shape 17"/>
          <p:cNvSpPr/>
          <p:nvPr/>
        </p:nvSpPr>
        <p:spPr>
          <a:xfrm>
            <a:off x="4562855" y="2060448"/>
            <a:ext cx="45719" cy="822960"/>
          </a:xfrm>
          <a:prstGeom prst="rect">
            <a:avLst/>
          </a:prstGeom>
          <a:solidFill>
            <a:srgbClr val="FF9800"/>
          </a:solidFill>
          <a:ln/>
        </p:spPr>
        <p:txBody>
          <a:bodyPr/>
          <a:lstStyle/>
          <a:p>
            <a:endParaRPr lang="en-IN"/>
          </a:p>
        </p:txBody>
      </p:sp>
      <p:sp>
        <p:nvSpPr>
          <p:cNvPr id="20" name="Text 18"/>
          <p:cNvSpPr/>
          <p:nvPr/>
        </p:nvSpPr>
        <p:spPr>
          <a:xfrm>
            <a:off x="4672584" y="2115312"/>
            <a:ext cx="4069080" cy="256032"/>
          </a:xfrm>
          <a:prstGeom prst="rect">
            <a:avLst/>
          </a:prstGeom>
          <a:noFill/>
          <a:ln/>
        </p:spPr>
        <p:txBody>
          <a:bodyPr wrap="square" lIns="0" tIns="0" rIns="0" bIns="0" rtlCol="0" anchor="ctr"/>
          <a:lstStyle/>
          <a:p>
            <a:pPr marL="0" indent="0">
              <a:buNone/>
            </a:pPr>
            <a:r>
              <a:rPr lang="en-US" sz="1100" b="1" dirty="0">
                <a:solidFill>
                  <a:srgbClr val="78909C"/>
                </a:solidFill>
                <a:latin typeface="Calibri" pitchFamily="34" charset="0"/>
                <a:ea typeface="Calibri" pitchFamily="34" charset="-122"/>
                <a:cs typeface="Calibri" pitchFamily="34" charset="-120"/>
              </a:rPr>
              <a:t>How It Drove Improvement</a:t>
            </a:r>
            <a:endParaRPr lang="en-US" sz="1100" dirty="0"/>
          </a:p>
        </p:txBody>
      </p:sp>
      <mc:AlternateContent xmlns:mc="http://schemas.openxmlformats.org/markup-compatibility/2006" xmlns:a14="http://schemas.microsoft.com/office/drawing/2010/main">
        <mc:Choice Requires="a14">
          <p:sp>
            <p:nvSpPr>
              <p:cNvPr id="21" name="Text 19"/>
              <p:cNvSpPr/>
              <p:nvPr/>
            </p:nvSpPr>
            <p:spPr>
              <a:xfrm>
                <a:off x="4672584" y="2353056"/>
                <a:ext cx="4023360" cy="694944"/>
              </a:xfrm>
              <a:prstGeom prst="rect">
                <a:avLst/>
              </a:prstGeom>
              <a:noFill/>
              <a:ln/>
            </p:spPr>
            <p:txBody>
              <a:bodyPr wrap="square" lIns="0" tIns="0" rIns="0" bIns="0" rtlCol="0" anchor="t"/>
              <a:lstStyle/>
              <a:p>
                <a:r>
                  <a:rPr lang="en-US" sz="900" dirty="0">
                    <a:solidFill>
                      <a:schemeClr val="bg1">
                        <a:lumMod val="65000"/>
                      </a:schemeClr>
                    </a:solidFill>
                  </a:rPr>
                  <a:t>This approach significantly reduced processing time. If there are </a:t>
                </a:r>
                <a14:m>
                  <m:oMath xmlns:m="http://schemas.openxmlformats.org/officeDocument/2006/math">
                    <m:r>
                      <a:rPr lang="en-US" sz="900" i="1">
                        <a:solidFill>
                          <a:schemeClr val="bg1">
                            <a:lumMod val="65000"/>
                          </a:schemeClr>
                        </a:solidFill>
                        <a:latin typeface="Cambria Math" panose="02040503050406030204" pitchFamily="18" charset="0"/>
                      </a:rPr>
                      <m:t>𝑛</m:t>
                    </m:r>
                    <m:r>
                      <a:rPr lang="en-IN" sz="900" b="0" i="1" smtClean="0">
                        <a:solidFill>
                          <a:schemeClr val="bg1">
                            <a:lumMod val="65000"/>
                          </a:schemeClr>
                        </a:solidFill>
                        <a:latin typeface="Cambria Math" panose="02040503050406030204" pitchFamily="18" charset="0"/>
                      </a:rPr>
                      <m:t> </m:t>
                    </m:r>
                  </m:oMath>
                </a14:m>
                <a:r>
                  <a:rPr lang="en-US" sz="900" dirty="0">
                    <a:solidFill>
                      <a:schemeClr val="bg1">
                        <a:lumMod val="65000"/>
                      </a:schemeClr>
                    </a:solidFill>
                  </a:rPr>
                  <a:t>bots that have already played </a:t>
                </a:r>
                <a14:m>
                  <m:oMath xmlns:m="http://schemas.openxmlformats.org/officeDocument/2006/math">
                    <m:d>
                      <m:dPr>
                        <m:ctrlPr>
                          <a:rPr lang="ar-AE" sz="900" i="1">
                            <a:solidFill>
                              <a:schemeClr val="bg1">
                                <a:lumMod val="65000"/>
                              </a:schemeClr>
                            </a:solidFill>
                            <a:latin typeface="Cambria Math" panose="02040503050406030204" pitchFamily="18" charset="0"/>
                          </a:rPr>
                        </m:ctrlPr>
                      </m:dPr>
                      <m:e>
                        <m:f>
                          <m:fPr>
                            <m:type m:val="noBar"/>
                            <m:ctrlPr>
                              <a:rPr lang="ar-AE" sz="900" i="1">
                                <a:solidFill>
                                  <a:schemeClr val="bg1">
                                    <a:lumMod val="65000"/>
                                  </a:schemeClr>
                                </a:solidFill>
                                <a:latin typeface="Cambria Math" panose="02040503050406030204" pitchFamily="18" charset="0"/>
                              </a:rPr>
                            </m:ctrlPr>
                          </m:fPr>
                          <m:num>
                            <m:r>
                              <a:rPr lang="ar-AE" sz="900" i="1">
                                <a:solidFill>
                                  <a:schemeClr val="bg1">
                                    <a:lumMod val="65000"/>
                                  </a:schemeClr>
                                </a:solidFill>
                                <a:latin typeface="Cambria Math" panose="02040503050406030204" pitchFamily="18" charset="0"/>
                              </a:rPr>
                              <m:t>𝑛</m:t>
                            </m:r>
                          </m:num>
                          <m:den>
                            <m:r>
                              <a:rPr lang="ar-AE" sz="900">
                                <a:solidFill>
                                  <a:schemeClr val="bg1">
                                    <a:lumMod val="65000"/>
                                  </a:schemeClr>
                                </a:solidFill>
                                <a:latin typeface="Cambria Math" panose="02040503050406030204" pitchFamily="18" charset="0"/>
                              </a:rPr>
                              <m:t>2</m:t>
                            </m:r>
                          </m:den>
                        </m:f>
                      </m:e>
                    </m:d>
                    <m:r>
                      <a:rPr lang="ar-AE" sz="900">
                        <a:solidFill>
                          <a:schemeClr val="bg1">
                            <a:lumMod val="65000"/>
                          </a:schemeClr>
                        </a:solidFill>
                        <a:latin typeface="Cambria Math" panose="02040503050406030204" pitchFamily="18" charset="0"/>
                      </a:rPr>
                      <m:t>⋅</m:t>
                    </m:r>
                    <m:r>
                      <a:rPr lang="ar-AE" sz="900" i="1">
                        <a:solidFill>
                          <a:schemeClr val="bg1">
                            <a:lumMod val="65000"/>
                          </a:schemeClr>
                        </a:solidFill>
                        <a:latin typeface="Cambria Math" panose="02040503050406030204" pitchFamily="18" charset="0"/>
                      </a:rPr>
                      <m:t>𝑚</m:t>
                    </m:r>
                    <m:r>
                      <a:rPr lang="en-US" sz="900" b="0" i="1" smtClean="0">
                        <a:solidFill>
                          <a:schemeClr val="bg1">
                            <a:lumMod val="65000"/>
                          </a:schemeClr>
                        </a:solidFill>
                        <a:latin typeface="Cambria Math" panose="02040503050406030204" pitchFamily="18" charset="0"/>
                      </a:rPr>
                      <m:t> </m:t>
                    </m:r>
                  </m:oMath>
                </a14:m>
                <a:r>
                  <a:rPr lang="en-US" sz="900" dirty="0">
                    <a:solidFill>
                      <a:schemeClr val="bg1">
                        <a:lumMod val="65000"/>
                      </a:schemeClr>
                    </a:solidFill>
                  </a:rPr>
                  <a:t>matches, then when a new bot is added, only </a:t>
                </a:r>
                <a14:m>
                  <m:oMath xmlns:m="http://schemas.openxmlformats.org/officeDocument/2006/math">
                    <m:d>
                      <m:dPr>
                        <m:ctrlPr>
                          <a:rPr lang="ar-AE" sz="900" i="1">
                            <a:solidFill>
                              <a:schemeClr val="bg1">
                                <a:lumMod val="65000"/>
                              </a:schemeClr>
                            </a:solidFill>
                            <a:latin typeface="Cambria Math" panose="02040503050406030204" pitchFamily="18" charset="0"/>
                          </a:rPr>
                        </m:ctrlPr>
                      </m:dPr>
                      <m:e>
                        <m:f>
                          <m:fPr>
                            <m:type m:val="noBar"/>
                            <m:ctrlPr>
                              <a:rPr lang="ar-AE" sz="900" i="1">
                                <a:solidFill>
                                  <a:schemeClr val="bg1">
                                    <a:lumMod val="65000"/>
                                  </a:schemeClr>
                                </a:solidFill>
                                <a:latin typeface="Cambria Math" panose="02040503050406030204" pitchFamily="18" charset="0"/>
                              </a:rPr>
                            </m:ctrlPr>
                          </m:fPr>
                          <m:num>
                            <m:r>
                              <a:rPr lang="ar-AE" sz="900" i="1">
                                <a:solidFill>
                                  <a:schemeClr val="bg1">
                                    <a:lumMod val="65000"/>
                                  </a:schemeClr>
                                </a:solidFill>
                                <a:latin typeface="Cambria Math" panose="02040503050406030204" pitchFamily="18" charset="0"/>
                              </a:rPr>
                              <m:t>𝑛</m:t>
                            </m:r>
                            <m:r>
                              <a:rPr lang="ar-AE" sz="900">
                                <a:solidFill>
                                  <a:schemeClr val="bg1">
                                    <a:lumMod val="65000"/>
                                  </a:schemeClr>
                                </a:solidFill>
                                <a:latin typeface="Cambria Math" panose="02040503050406030204" pitchFamily="18" charset="0"/>
                              </a:rPr>
                              <m:t>+</m:t>
                            </m:r>
                            <m:r>
                              <a:rPr lang="ar-AE" sz="900">
                                <a:solidFill>
                                  <a:schemeClr val="bg1">
                                    <a:lumMod val="65000"/>
                                  </a:schemeClr>
                                </a:solidFill>
                                <a:latin typeface="Cambria Math" panose="02040503050406030204" pitchFamily="18" charset="0"/>
                              </a:rPr>
                              <m:t>1</m:t>
                            </m:r>
                          </m:num>
                          <m:den>
                            <m:r>
                              <a:rPr lang="ar-AE" sz="900">
                                <a:solidFill>
                                  <a:schemeClr val="bg1">
                                    <a:lumMod val="65000"/>
                                  </a:schemeClr>
                                </a:solidFill>
                                <a:latin typeface="Cambria Math" panose="02040503050406030204" pitchFamily="18" charset="0"/>
                              </a:rPr>
                              <m:t>2</m:t>
                            </m:r>
                          </m:den>
                        </m:f>
                      </m:e>
                    </m:d>
                    <m:r>
                      <a:rPr lang="ar-AE" sz="900">
                        <a:solidFill>
                          <a:schemeClr val="bg1">
                            <a:lumMod val="65000"/>
                          </a:schemeClr>
                        </a:solidFill>
                        <a:latin typeface="Cambria Math" panose="02040503050406030204" pitchFamily="18" charset="0"/>
                      </a:rPr>
                      <m:t>⋅</m:t>
                    </m:r>
                    <m:r>
                      <a:rPr lang="ar-AE" sz="900" i="1">
                        <a:solidFill>
                          <a:schemeClr val="bg1">
                            <a:lumMod val="65000"/>
                          </a:schemeClr>
                        </a:solidFill>
                        <a:latin typeface="Cambria Math" panose="02040503050406030204" pitchFamily="18" charset="0"/>
                      </a:rPr>
                      <m:t>𝑚</m:t>
                    </m:r>
                    <m:r>
                      <a:rPr lang="ar-AE" sz="900">
                        <a:solidFill>
                          <a:schemeClr val="bg1">
                            <a:lumMod val="65000"/>
                          </a:schemeClr>
                        </a:solidFill>
                        <a:latin typeface="Cambria Math" panose="02040503050406030204" pitchFamily="18" charset="0"/>
                      </a:rPr>
                      <m:t>−</m:t>
                    </m:r>
                    <m:d>
                      <m:dPr>
                        <m:ctrlPr>
                          <a:rPr lang="ar-AE" sz="900" i="1">
                            <a:solidFill>
                              <a:schemeClr val="bg1">
                                <a:lumMod val="65000"/>
                              </a:schemeClr>
                            </a:solidFill>
                            <a:latin typeface="Cambria Math" panose="02040503050406030204" pitchFamily="18" charset="0"/>
                          </a:rPr>
                        </m:ctrlPr>
                      </m:dPr>
                      <m:e>
                        <m:f>
                          <m:fPr>
                            <m:type m:val="noBar"/>
                            <m:ctrlPr>
                              <a:rPr lang="ar-AE" sz="900" i="1">
                                <a:solidFill>
                                  <a:schemeClr val="bg1">
                                    <a:lumMod val="65000"/>
                                  </a:schemeClr>
                                </a:solidFill>
                                <a:latin typeface="Cambria Math" panose="02040503050406030204" pitchFamily="18" charset="0"/>
                              </a:rPr>
                            </m:ctrlPr>
                          </m:fPr>
                          <m:num>
                            <m:r>
                              <a:rPr lang="ar-AE" sz="900" i="1">
                                <a:solidFill>
                                  <a:schemeClr val="bg1">
                                    <a:lumMod val="65000"/>
                                  </a:schemeClr>
                                </a:solidFill>
                                <a:latin typeface="Cambria Math" panose="02040503050406030204" pitchFamily="18" charset="0"/>
                              </a:rPr>
                              <m:t>𝑛</m:t>
                            </m:r>
                          </m:num>
                          <m:den>
                            <m:r>
                              <a:rPr lang="ar-AE" sz="900">
                                <a:solidFill>
                                  <a:schemeClr val="bg1">
                                    <a:lumMod val="65000"/>
                                  </a:schemeClr>
                                </a:solidFill>
                                <a:latin typeface="Cambria Math" panose="02040503050406030204" pitchFamily="18" charset="0"/>
                              </a:rPr>
                              <m:t>2</m:t>
                            </m:r>
                          </m:den>
                        </m:f>
                      </m:e>
                    </m:d>
                    <m:r>
                      <a:rPr lang="ar-AE" sz="900">
                        <a:solidFill>
                          <a:schemeClr val="bg1">
                            <a:lumMod val="65000"/>
                          </a:schemeClr>
                        </a:solidFill>
                        <a:latin typeface="Cambria Math" panose="02040503050406030204" pitchFamily="18" charset="0"/>
                      </a:rPr>
                      <m:t>⋅</m:t>
                    </m:r>
                    <m:r>
                      <a:rPr lang="ar-AE" sz="900" i="1">
                        <a:solidFill>
                          <a:schemeClr val="bg1">
                            <a:lumMod val="65000"/>
                          </a:schemeClr>
                        </a:solidFill>
                        <a:latin typeface="Cambria Math" panose="02040503050406030204" pitchFamily="18" charset="0"/>
                      </a:rPr>
                      <m:t>𝑚</m:t>
                    </m:r>
                    <m:r>
                      <a:rPr lang="en-US" sz="900" b="0" i="1" smtClean="0">
                        <a:solidFill>
                          <a:schemeClr val="bg1">
                            <a:lumMod val="65000"/>
                          </a:schemeClr>
                        </a:solidFill>
                        <a:latin typeface="Cambria Math" panose="02040503050406030204" pitchFamily="18" charset="0"/>
                      </a:rPr>
                      <m:t> </m:t>
                    </m:r>
                  </m:oMath>
                </a14:m>
                <a:r>
                  <a:rPr lang="en-US" sz="900" dirty="0">
                    <a:solidFill>
                      <a:schemeClr val="bg1">
                        <a:lumMod val="65000"/>
                      </a:schemeClr>
                    </a:solidFill>
                  </a:rPr>
                  <a:t>additional matches need to be run.</a:t>
                </a:r>
              </a:p>
            </p:txBody>
          </p:sp>
        </mc:Choice>
        <mc:Fallback xmlns="">
          <p:sp>
            <p:nvSpPr>
              <p:cNvPr id="21" name="Text 19"/>
              <p:cNvSpPr>
                <a:spLocks noRot="1" noChangeAspect="1" noMove="1" noResize="1" noEditPoints="1" noAdjustHandles="1" noChangeArrowheads="1" noChangeShapeType="1" noTextEdit="1"/>
              </p:cNvSpPr>
              <p:nvPr/>
            </p:nvSpPr>
            <p:spPr>
              <a:xfrm>
                <a:off x="4672584" y="2353056"/>
                <a:ext cx="4023360" cy="694944"/>
              </a:xfrm>
              <a:prstGeom prst="rect">
                <a:avLst/>
              </a:prstGeom>
              <a:blipFill>
                <a:blip r:embed="rId3"/>
                <a:stretch>
                  <a:fillRect l="-1818" t="-5263"/>
                </a:stretch>
              </a:blipFill>
              <a:ln/>
            </p:spPr>
            <p:txBody>
              <a:bodyPr/>
              <a:lstStyle/>
              <a:p>
                <a:r>
                  <a:rPr lang="en-US">
                    <a:noFill/>
                  </a:rPr>
                  <a:t> </a:t>
                </a:r>
              </a:p>
            </p:txBody>
          </p:sp>
        </mc:Fallback>
      </mc:AlternateContent>
      <p:sp>
        <p:nvSpPr>
          <p:cNvPr id="22" name="Shape 20"/>
          <p:cNvSpPr/>
          <p:nvPr/>
        </p:nvSpPr>
        <p:spPr>
          <a:xfrm>
            <a:off x="301753" y="3257550"/>
            <a:ext cx="4160520" cy="751114"/>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23" name="Shape 21"/>
          <p:cNvSpPr/>
          <p:nvPr/>
        </p:nvSpPr>
        <p:spPr>
          <a:xfrm flipH="1">
            <a:off x="256033" y="3257550"/>
            <a:ext cx="45719" cy="751114"/>
          </a:xfrm>
          <a:prstGeom prst="rect">
            <a:avLst/>
          </a:prstGeom>
          <a:solidFill>
            <a:srgbClr val="4CAF50"/>
          </a:solidFill>
          <a:ln/>
        </p:spPr>
        <p:txBody>
          <a:bodyPr/>
          <a:lstStyle/>
          <a:p>
            <a:endParaRPr lang="en-IN"/>
          </a:p>
        </p:txBody>
      </p:sp>
      <p:sp>
        <p:nvSpPr>
          <p:cNvPr id="24" name="Text 22"/>
          <p:cNvSpPr/>
          <p:nvPr/>
        </p:nvSpPr>
        <p:spPr>
          <a:xfrm>
            <a:off x="411481" y="3312414"/>
            <a:ext cx="3886200" cy="256032"/>
          </a:xfrm>
          <a:prstGeom prst="rect">
            <a:avLst/>
          </a:prstGeom>
          <a:noFill/>
          <a:ln/>
        </p:spPr>
        <p:txBody>
          <a:bodyPr wrap="square" lIns="0" tIns="0" rIns="0" bIns="0" rtlCol="0" anchor="ctr"/>
          <a:lstStyle/>
          <a:p>
            <a:pPr marL="0" indent="0">
              <a:buNone/>
            </a:pPr>
            <a:r>
              <a:rPr lang="en-US" sz="1100" b="1" dirty="0">
                <a:solidFill>
                  <a:srgbClr val="4CAF50"/>
                </a:solidFill>
                <a:latin typeface="Calibri" pitchFamily="34" charset="0"/>
                <a:ea typeface="Calibri" pitchFamily="34" charset="-122"/>
                <a:cs typeface="Calibri" pitchFamily="34" charset="-120"/>
              </a:rPr>
              <a:t>Draw Replay Until Decisive</a:t>
            </a:r>
            <a:endParaRPr lang="en-US" sz="1100" dirty="0"/>
          </a:p>
        </p:txBody>
      </p:sp>
      <p:sp>
        <p:nvSpPr>
          <p:cNvPr id="25" name="Text 23"/>
          <p:cNvSpPr/>
          <p:nvPr/>
        </p:nvSpPr>
        <p:spPr>
          <a:xfrm>
            <a:off x="411481" y="3550158"/>
            <a:ext cx="3840480" cy="694944"/>
          </a:xfrm>
          <a:prstGeom prst="rect">
            <a:avLst/>
          </a:prstGeom>
          <a:noFill/>
          <a:ln/>
        </p:spPr>
        <p:txBody>
          <a:bodyPr wrap="square" lIns="0" tIns="0" rIns="0" bIns="0" rtlCol="0" anchor="t"/>
          <a:lstStyle/>
          <a:p>
            <a:pPr marL="0" indent="0">
              <a:buNone/>
            </a:pPr>
            <a:r>
              <a:rPr lang="en-US" sz="900" dirty="0">
                <a:solidFill>
                  <a:srgbClr val="B0BEC5"/>
                </a:solidFill>
                <a:latin typeface="Calibri" pitchFamily="34" charset="0"/>
                <a:ea typeface="Calibri" pitchFamily="34" charset="-122"/>
                <a:cs typeface="Calibri" pitchFamily="34" charset="-120"/>
              </a:rPr>
              <a:t>Tied matches replayed automatically. - best-of flag runs 3×/5×/10× reps to separate real edges from variance.</a:t>
            </a:r>
            <a:endParaRPr lang="en-US" sz="900" dirty="0"/>
          </a:p>
        </p:txBody>
      </p:sp>
      <p:sp>
        <p:nvSpPr>
          <p:cNvPr id="26" name="Shape 24"/>
          <p:cNvSpPr/>
          <p:nvPr/>
        </p:nvSpPr>
        <p:spPr>
          <a:xfrm>
            <a:off x="4617718" y="3210306"/>
            <a:ext cx="4343400" cy="822960"/>
          </a:xfrm>
          <a:prstGeom prst="rect">
            <a:avLst/>
          </a:prstGeom>
          <a:solidFill>
            <a:srgbClr val="1F2D3D"/>
          </a:solidFill>
          <a:ln/>
          <a:effectLst>
            <a:outerShdw blurRad="50800" dist="25400" dir="8100000" algn="bl" rotWithShape="0">
              <a:srgbClr val="000000">
                <a:alpha val="25000"/>
              </a:srgbClr>
            </a:outerShdw>
          </a:effectLst>
        </p:spPr>
        <p:txBody>
          <a:bodyPr/>
          <a:lstStyle/>
          <a:p>
            <a:endParaRPr lang="en-IN"/>
          </a:p>
        </p:txBody>
      </p:sp>
      <p:sp>
        <p:nvSpPr>
          <p:cNvPr id="27" name="Shape 25"/>
          <p:cNvSpPr/>
          <p:nvPr/>
        </p:nvSpPr>
        <p:spPr>
          <a:xfrm>
            <a:off x="4617718" y="3210306"/>
            <a:ext cx="36576" cy="822960"/>
          </a:xfrm>
          <a:prstGeom prst="rect">
            <a:avLst/>
          </a:prstGeom>
          <a:solidFill>
            <a:srgbClr val="4CAF50"/>
          </a:solidFill>
          <a:ln/>
        </p:spPr>
        <p:txBody>
          <a:bodyPr/>
          <a:lstStyle/>
          <a:p>
            <a:endParaRPr lang="en-IN"/>
          </a:p>
        </p:txBody>
      </p:sp>
      <p:sp>
        <p:nvSpPr>
          <p:cNvPr id="28" name="Text 26"/>
          <p:cNvSpPr/>
          <p:nvPr/>
        </p:nvSpPr>
        <p:spPr>
          <a:xfrm>
            <a:off x="4727446" y="3265170"/>
            <a:ext cx="4069080" cy="256032"/>
          </a:xfrm>
          <a:prstGeom prst="rect">
            <a:avLst/>
          </a:prstGeom>
          <a:noFill/>
          <a:ln/>
        </p:spPr>
        <p:txBody>
          <a:bodyPr wrap="square" lIns="0" tIns="0" rIns="0" bIns="0" rtlCol="0" anchor="ctr"/>
          <a:lstStyle/>
          <a:p>
            <a:pPr marL="0" indent="0">
              <a:buNone/>
            </a:pPr>
            <a:r>
              <a:rPr lang="en-US" sz="1100" b="1" dirty="0">
                <a:solidFill>
                  <a:srgbClr val="78909C"/>
                </a:solidFill>
                <a:latin typeface="Calibri" pitchFamily="34" charset="0"/>
                <a:ea typeface="Calibri" pitchFamily="34" charset="-122"/>
                <a:cs typeface="Calibri" pitchFamily="34" charset="-120"/>
              </a:rPr>
              <a:t>How It Drove Improvement</a:t>
            </a:r>
            <a:endParaRPr lang="en-US" sz="1100" dirty="0"/>
          </a:p>
        </p:txBody>
      </p:sp>
      <p:sp>
        <p:nvSpPr>
          <p:cNvPr id="29" name="Text 27"/>
          <p:cNvSpPr/>
          <p:nvPr/>
        </p:nvSpPr>
        <p:spPr>
          <a:xfrm>
            <a:off x="4727446" y="3502914"/>
            <a:ext cx="4023360" cy="694944"/>
          </a:xfrm>
          <a:prstGeom prst="rect">
            <a:avLst/>
          </a:prstGeom>
          <a:noFill/>
          <a:ln/>
        </p:spPr>
        <p:txBody>
          <a:bodyPr wrap="square" lIns="0" tIns="0" rIns="0" bIns="0" rtlCol="0" anchor="t"/>
          <a:lstStyle/>
          <a:p>
            <a:r>
              <a:rPr lang="en-US" sz="900" dirty="0">
                <a:solidFill>
                  <a:schemeClr val="bg1">
                    <a:lumMod val="65000"/>
                  </a:schemeClr>
                </a:solidFill>
                <a:latin typeface="Calibri" pitchFamily="34" charset="0"/>
                <a:ea typeface="Calibri" pitchFamily="34" charset="-122"/>
                <a:cs typeface="Calibri" pitchFamily="34" charset="-120"/>
              </a:rPr>
              <a:t>Ensured every code change was tested against the full opponent field before uploading. </a:t>
            </a:r>
            <a:r>
              <a:rPr lang="en-US" sz="900" dirty="0">
                <a:solidFill>
                  <a:schemeClr val="bg1">
                    <a:lumMod val="65000"/>
                  </a:schemeClr>
                </a:solidFill>
              </a:rPr>
              <a:t> In total, we developed around 120 bots using this approach and selected the one with the best performance, minimal overfitting, and lowest variance.</a:t>
            </a:r>
          </a:p>
        </p:txBody>
      </p:sp>
      <p:sp>
        <p:nvSpPr>
          <p:cNvPr id="31" name="Text 29"/>
          <p:cNvSpPr/>
          <p:nvPr/>
        </p:nvSpPr>
        <p:spPr>
          <a:xfrm>
            <a:off x="320040" y="2639350"/>
            <a:ext cx="3995928" cy="365760"/>
          </a:xfrm>
          <a:prstGeom prst="rect">
            <a:avLst/>
          </a:prstGeom>
          <a:noFill/>
          <a:ln/>
        </p:spPr>
        <p:txBody>
          <a:bodyPr wrap="square" lIns="0" tIns="0" rIns="0" bIns="0" rtlCol="0" anchor="t"/>
          <a:lstStyle/>
          <a:p>
            <a:pPr marL="0" indent="0">
              <a:buNone/>
            </a:pPr>
            <a:r>
              <a:rPr lang="en-US" sz="750" dirty="0">
                <a:solidFill>
                  <a:schemeClr val="accent6">
                    <a:lumMod val="60000"/>
                    <a:lumOff val="40000"/>
                  </a:schemeClr>
                </a:solidFill>
                <a:latin typeface="Consolas" pitchFamily="34" charset="0"/>
                <a:ea typeface="Consolas" pitchFamily="34" charset="-122"/>
                <a:cs typeface="Consolas" pitchFamily="34" charset="-120"/>
              </a:rPr>
              <a:t># Workers init ONCE (not per-match).  Cache prevents replaying known results.</a:t>
            </a:r>
            <a:endParaRPr lang="en-US" sz="750" dirty="0">
              <a:solidFill>
                <a:schemeClr val="accent6">
                  <a:lumMod val="60000"/>
                  <a:lumOff val="40000"/>
                </a:schemeClr>
              </a:solidFill>
            </a:endParaRPr>
          </a:p>
          <a:p>
            <a:pPr marL="0" indent="0">
              <a:buNone/>
            </a:pPr>
            <a:r>
              <a:rPr lang="en-US" sz="750" dirty="0">
                <a:solidFill>
                  <a:schemeClr val="bg1">
                    <a:lumMod val="95000"/>
                  </a:schemeClr>
                </a:solidFill>
                <a:latin typeface="Consolas" pitchFamily="34" charset="0"/>
                <a:ea typeface="Consolas" pitchFamily="34" charset="-122"/>
                <a:cs typeface="Consolas" pitchFamily="34" charset="-120"/>
              </a:rPr>
              <a:t>cached = _try_resolve_from_cache(a, b, key, cache, retries)  </a:t>
            </a:r>
            <a:r>
              <a:rPr lang="en-US" sz="750" dirty="0">
                <a:solidFill>
                  <a:schemeClr val="accent6">
                    <a:lumMod val="60000"/>
                    <a:lumOff val="40000"/>
                  </a:schemeClr>
                </a:solidFill>
                <a:latin typeface="Consolas" pitchFamily="34" charset="0"/>
                <a:ea typeface="Consolas" pitchFamily="34" charset="-122"/>
                <a:cs typeface="Consolas" pitchFamily="34" charset="-120"/>
              </a:rPr>
              <a:t># instant if found</a:t>
            </a:r>
            <a:endParaRPr lang="en-US" sz="750" dirty="0">
              <a:solidFill>
                <a:schemeClr val="accent6">
                  <a:lumMod val="60000"/>
                  <a:lumOff val="40000"/>
                </a:schemeClr>
              </a:solidFill>
            </a:endParaRPr>
          </a:p>
        </p:txBody>
      </p:sp>
      <p:sp>
        <p:nvSpPr>
          <p:cNvPr id="33" name="Text 29">
            <a:extLst>
              <a:ext uri="{FF2B5EF4-FFF2-40B4-BE49-F238E27FC236}">
                <a16:creationId xmlns:a16="http://schemas.microsoft.com/office/drawing/2014/main" id="{DCF24294-8250-32A8-F557-32138A840F7C}"/>
              </a:ext>
            </a:extLst>
          </p:cNvPr>
          <p:cNvSpPr/>
          <p:nvPr/>
        </p:nvSpPr>
        <p:spPr>
          <a:xfrm>
            <a:off x="338328" y="1627849"/>
            <a:ext cx="3995928" cy="365760"/>
          </a:xfrm>
          <a:prstGeom prst="rect">
            <a:avLst/>
          </a:prstGeom>
          <a:noFill/>
          <a:ln/>
        </p:spPr>
        <p:txBody>
          <a:bodyPr wrap="square" lIns="0" tIns="0" rIns="0" bIns="0" rtlCol="0" anchor="t"/>
          <a:lstStyle/>
          <a:p>
            <a:r>
              <a:rPr lang="en-US" sz="750" dirty="0">
                <a:solidFill>
                  <a:schemeClr val="bg1"/>
                </a:solidFill>
                <a:latin typeface="Consolas" pitchFamily="34" charset="0"/>
                <a:ea typeface="Consolas" pitchFamily="34" charset="-122"/>
                <a:cs typeface="Consolas" pitchFamily="34" charset="-120"/>
              </a:rPr>
              <a:t>ranking = sorted(</a:t>
            </a:r>
            <a:r>
              <a:rPr lang="en-US" sz="750" dirty="0" err="1">
                <a:solidFill>
                  <a:schemeClr val="bg1"/>
                </a:solidFill>
                <a:latin typeface="Consolas" pitchFamily="34" charset="0"/>
                <a:ea typeface="Consolas" pitchFamily="34" charset="-122"/>
                <a:cs typeface="Consolas" pitchFamily="34" charset="-120"/>
              </a:rPr>
              <a:t>stats.items</a:t>
            </a:r>
            <a:r>
              <a:rPr lang="en-US" sz="750" dirty="0">
                <a:solidFill>
                  <a:schemeClr val="bg1"/>
                </a:solidFill>
                <a:latin typeface="Consolas" pitchFamily="34" charset="0"/>
                <a:ea typeface="Consolas" pitchFamily="34" charset="-122"/>
                <a:cs typeface="Consolas" pitchFamily="34" charset="-120"/>
              </a:rPr>
              <a:t>(), key=lambda x: (x[1]["</a:t>
            </a:r>
            <a:r>
              <a:rPr lang="en-US" sz="750" dirty="0" err="1">
                <a:solidFill>
                  <a:schemeClr val="bg1"/>
                </a:solidFill>
                <a:latin typeface="Consolas" pitchFamily="34" charset="0"/>
                <a:ea typeface="Consolas" pitchFamily="34" charset="-122"/>
                <a:cs typeface="Consolas" pitchFamily="34" charset="-120"/>
              </a:rPr>
              <a:t>match_wins</a:t>
            </a:r>
            <a:r>
              <a:rPr lang="en-US" sz="750" dirty="0">
                <a:solidFill>
                  <a:schemeClr val="bg1"/>
                </a:solidFill>
                <a:latin typeface="Consolas" pitchFamily="34" charset="0"/>
                <a:ea typeface="Consolas" pitchFamily="34" charset="-122"/>
                <a:cs typeface="Consolas" pitchFamily="34" charset="-120"/>
              </a:rPr>
              <a:t>"], x[1]["</a:t>
            </a:r>
            <a:r>
              <a:rPr lang="en-US" sz="750" dirty="0" err="1">
                <a:solidFill>
                  <a:schemeClr val="bg1"/>
                </a:solidFill>
                <a:latin typeface="Consolas" pitchFamily="34" charset="0"/>
                <a:ea typeface="Consolas" pitchFamily="34" charset="-122"/>
                <a:cs typeface="Consolas" pitchFamily="34" charset="-120"/>
              </a:rPr>
              <a:t>total_bankroll</a:t>
            </a:r>
            <a:r>
              <a:rPr lang="en-US" sz="750" dirty="0">
                <a:solidFill>
                  <a:schemeClr val="bg1"/>
                </a:solidFill>
                <a:latin typeface="Consolas" pitchFamily="34" charset="0"/>
                <a:ea typeface="Consolas" pitchFamily="34" charset="-122"/>
                <a:cs typeface="Consolas" pitchFamily="34" charset="-120"/>
              </a:rPr>
              <a:t>"]), reverse=True</a:t>
            </a:r>
            <a:r>
              <a:rPr lang="en-US" sz="750" dirty="0">
                <a:solidFill>
                  <a:schemeClr val="accent6">
                    <a:lumMod val="60000"/>
                    <a:lumOff val="40000"/>
                  </a:schemeClr>
                </a:solidFill>
                <a:latin typeface="Consolas" pitchFamily="34" charset="0"/>
                <a:ea typeface="Consolas" pitchFamily="34" charset="-122"/>
                <a:cs typeface="Consolas" pitchFamily="34" charset="-120"/>
              </a:rPr>
              <a:t>)  # sort by wins, then bankroll (desc)</a:t>
            </a:r>
            <a:endParaRPr lang="en-US" sz="750" dirty="0">
              <a:solidFill>
                <a:schemeClr val="accent6">
                  <a:lumMod val="60000"/>
                  <a:lumOff val="40000"/>
                </a:schemeClr>
              </a:solidFill>
            </a:endParaRPr>
          </a:p>
        </p:txBody>
      </p:sp>
      <p:pic>
        <p:nvPicPr>
          <p:cNvPr id="34" name="Picture 33">
            <a:extLst>
              <a:ext uri="{FF2B5EF4-FFF2-40B4-BE49-F238E27FC236}">
                <a16:creationId xmlns:a16="http://schemas.microsoft.com/office/drawing/2014/main" id="{0F3D7C15-76D7-267D-F7C5-B6F31FECE1F7}"/>
              </a:ext>
            </a:extLst>
          </p:cNvPr>
          <p:cNvPicPr>
            <a:picLocks noChangeAspect="1"/>
          </p:cNvPicPr>
          <p:nvPr/>
        </p:nvPicPr>
        <p:blipFill>
          <a:blip r:embed="rId4"/>
          <a:stretch>
            <a:fillRect/>
          </a:stretch>
        </p:blipFill>
        <p:spPr>
          <a:xfrm>
            <a:off x="4275300" y="4249639"/>
            <a:ext cx="4484652" cy="719832"/>
          </a:xfrm>
          <a:prstGeom prst="rect">
            <a:avLst/>
          </a:prstGeom>
        </p:spPr>
      </p:pic>
      <p:sp>
        <p:nvSpPr>
          <p:cNvPr id="35" name="TextBox 34">
            <a:extLst>
              <a:ext uri="{FF2B5EF4-FFF2-40B4-BE49-F238E27FC236}">
                <a16:creationId xmlns:a16="http://schemas.microsoft.com/office/drawing/2014/main" id="{E6D9C49C-86BA-4260-7B37-44E8F8D79D9A}"/>
              </a:ext>
            </a:extLst>
          </p:cNvPr>
          <p:cNvSpPr txBox="1"/>
          <p:nvPr/>
        </p:nvSpPr>
        <p:spPr>
          <a:xfrm>
            <a:off x="1042908" y="4424889"/>
            <a:ext cx="2811988" cy="369332"/>
          </a:xfrm>
          <a:prstGeom prst="rect">
            <a:avLst/>
          </a:prstGeom>
          <a:noFill/>
          <a:ln w="38100">
            <a:solidFill>
              <a:srgbClr val="FFFF00"/>
            </a:solidFill>
          </a:ln>
        </p:spPr>
        <p:txBody>
          <a:bodyPr wrap="none" rtlCol="0">
            <a:spAutoFit/>
          </a:bodyPr>
          <a:lstStyle/>
          <a:p>
            <a:r>
              <a:rPr lang="en-US" b="1" i="1" dirty="0">
                <a:solidFill>
                  <a:schemeClr val="bg1">
                    <a:lumMod val="65000"/>
                  </a:schemeClr>
                </a:solidFill>
                <a:effectLst>
                  <a:outerShdw blurRad="38100" dist="38100" dir="2700000" algn="tl">
                    <a:srgbClr val="000000">
                      <a:alpha val="43137"/>
                    </a:srgbClr>
                  </a:outerShdw>
                </a:effectLst>
                <a:latin typeface="Bahnschrift" panose="020B0502040204020203" pitchFamily="34" charset="0"/>
              </a:rPr>
              <a:t>Demo Tournament Output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260814" y="2242566"/>
            <a:ext cx="8661654" cy="2649763"/>
          </a:xfrm>
          <a:prstGeom prst="rect">
            <a:avLst/>
          </a:prstGeom>
          <a:solidFill>
            <a:srgbClr val="1E2D40"/>
          </a:solidFill>
          <a:ln w="6350">
            <a:solidFill>
              <a:srgbClr val="2E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Shape 0">
            <a:extLst>
              <a:ext uri="{FF2B5EF4-FFF2-40B4-BE49-F238E27FC236}">
                <a16:creationId xmlns:a16="http://schemas.microsoft.com/office/drawing/2014/main" id="{774D733D-3193-7233-015F-86A84191719D}"/>
              </a:ext>
            </a:extLst>
          </p:cNvPr>
          <p:cNvSpPr/>
          <p:nvPr/>
        </p:nvSpPr>
        <p:spPr>
          <a:xfrm>
            <a:off x="0" y="118872"/>
            <a:ext cx="9144000" cy="539496"/>
          </a:xfrm>
          <a:prstGeom prst="rect">
            <a:avLst/>
          </a:prstGeom>
          <a:solidFill>
            <a:srgbClr val="1F2D3D"/>
          </a:solidFill>
          <a:ln/>
        </p:spPr>
        <p:txBody>
          <a:bodyPr/>
          <a:lstStyle/>
          <a:p>
            <a:endParaRPr lang="en-IN"/>
          </a:p>
        </p:txBody>
      </p:sp>
      <p:sp>
        <p:nvSpPr>
          <p:cNvPr id="2" name="Rectangle 1"/>
          <p:cNvSpPr/>
          <p:nvPr/>
        </p:nvSpPr>
        <p:spPr>
          <a:xfrm>
            <a:off x="241221" y="123444"/>
            <a:ext cx="48006" cy="514350"/>
          </a:xfrm>
          <a:prstGeom prst="rect">
            <a:avLst/>
          </a:prstGeom>
          <a:solidFill>
            <a:srgbClr val="E8A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TextBox 2"/>
          <p:cNvSpPr txBox="1"/>
          <p:nvPr/>
        </p:nvSpPr>
        <p:spPr>
          <a:xfrm>
            <a:off x="378381" y="162420"/>
            <a:ext cx="2603598" cy="415498"/>
          </a:xfrm>
          <a:prstGeom prst="rect">
            <a:avLst/>
          </a:prstGeom>
          <a:noFill/>
        </p:spPr>
        <p:txBody>
          <a:bodyPr wrap="none">
            <a:spAutoFit/>
          </a:bodyPr>
          <a:lstStyle/>
          <a:p>
            <a:pPr algn="l"/>
            <a:r>
              <a:rPr lang="en-US" sz="2100" b="1" dirty="0">
                <a:solidFill>
                  <a:srgbClr val="FFFFFF"/>
                </a:solidFill>
                <a:latin typeface="Calibri"/>
              </a:rPr>
              <a:t>Missed Opportunities</a:t>
            </a:r>
            <a:endParaRPr sz="2100" b="1" dirty="0">
              <a:solidFill>
                <a:srgbClr val="FFFFFF"/>
              </a:solidFill>
              <a:latin typeface="Calibri"/>
            </a:endParaRPr>
          </a:p>
        </p:txBody>
      </p:sp>
      <p:sp>
        <p:nvSpPr>
          <p:cNvPr id="4" name="TextBox 3"/>
          <p:cNvSpPr txBox="1"/>
          <p:nvPr/>
        </p:nvSpPr>
        <p:spPr>
          <a:xfrm>
            <a:off x="378381" y="685800"/>
            <a:ext cx="8503920" cy="265457"/>
          </a:xfrm>
          <a:prstGeom prst="rect">
            <a:avLst/>
          </a:prstGeom>
          <a:noFill/>
        </p:spPr>
        <p:txBody>
          <a:bodyPr wrap="square">
            <a:spAutoFit/>
          </a:bodyPr>
          <a:lstStyle/>
          <a:p>
            <a:pPr algn="l"/>
            <a:r>
              <a:rPr sz="1125" i="1" dirty="0">
                <a:solidFill>
                  <a:srgbClr val="B0BECF"/>
                </a:solidFill>
                <a:latin typeface="Calibri"/>
              </a:rPr>
              <a:t>Design choices that were directionally right but </a:t>
            </a:r>
            <a:r>
              <a:rPr lang="en-US" sz="1125" i="1" dirty="0">
                <a:solidFill>
                  <a:srgbClr val="B0BECF"/>
                </a:solidFill>
                <a:latin typeface="Calibri"/>
              </a:rPr>
              <a:t>couldn’t be implemented due to time constraints/ proper testing.</a:t>
            </a:r>
            <a:endParaRPr sz="1125" i="1" dirty="0">
              <a:solidFill>
                <a:srgbClr val="B0BECF"/>
              </a:solidFill>
              <a:latin typeface="Calibri"/>
            </a:endParaRPr>
          </a:p>
        </p:txBody>
      </p:sp>
      <p:sp>
        <p:nvSpPr>
          <p:cNvPr id="15" name="Rectangle 14"/>
          <p:cNvSpPr/>
          <p:nvPr/>
        </p:nvSpPr>
        <p:spPr>
          <a:xfrm>
            <a:off x="4287441" y="2297430"/>
            <a:ext cx="4560570" cy="1186434"/>
          </a:xfrm>
          <a:prstGeom prst="rect">
            <a:avLst/>
          </a:prstGeom>
          <a:solidFill>
            <a:srgbClr val="111A26"/>
          </a:solidFill>
          <a:ln w="6350">
            <a:solidFill>
              <a:srgbClr val="2E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TextBox 15"/>
          <p:cNvSpPr txBox="1"/>
          <p:nvPr/>
        </p:nvSpPr>
        <p:spPr>
          <a:xfrm>
            <a:off x="4369848" y="2357424"/>
            <a:ext cx="4395755" cy="1254702"/>
          </a:xfrm>
          <a:prstGeom prst="rect">
            <a:avLst/>
          </a:prstGeom>
          <a:noFill/>
        </p:spPr>
        <p:txBody>
          <a:bodyPr wrap="none">
            <a:spAutoFit/>
          </a:bodyPr>
          <a:lstStyle/>
          <a:p>
            <a:r>
              <a:rPr lang="en-US" sz="830" dirty="0">
                <a:solidFill>
                  <a:schemeClr val="bg1"/>
                </a:solidFill>
                <a:latin typeface="Consolas" panose="020B0609020204030204" pitchFamily="49" charset="0"/>
              </a:rPr>
              <a:t>if </a:t>
            </a:r>
            <a:r>
              <a:rPr lang="en-US" sz="830" dirty="0" err="1">
                <a:solidFill>
                  <a:schemeClr val="bg1"/>
                </a:solidFill>
                <a:latin typeface="Consolas" panose="020B0609020204030204" pitchFamily="49" charset="0"/>
              </a:rPr>
              <a:t>my_cost</a:t>
            </a:r>
            <a:r>
              <a:rPr lang="en-US" sz="830" dirty="0">
                <a:solidFill>
                  <a:schemeClr val="bg1"/>
                </a:solidFill>
                <a:latin typeface="Consolas" panose="020B0609020204030204" pitchFamily="49" charset="0"/>
              </a:rPr>
              <a:t> &gt; 0 and </a:t>
            </a:r>
            <a:r>
              <a:rPr lang="en-US" sz="830" dirty="0" err="1">
                <a:solidFill>
                  <a:schemeClr val="bg1"/>
                </a:solidFill>
                <a:latin typeface="Consolas" panose="020B0609020204030204" pitchFamily="49" charset="0"/>
              </a:rPr>
              <a:t>has_info</a:t>
            </a:r>
            <a:r>
              <a:rPr lang="en-US" sz="830" dirty="0">
                <a:solidFill>
                  <a:schemeClr val="bg1"/>
                </a:solidFill>
                <a:latin typeface="Consolas" panose="020B0609020204030204" pitchFamily="49" charset="0"/>
              </a:rPr>
              <a:t>:</a:t>
            </a:r>
          </a:p>
          <a:p>
            <a:r>
              <a:rPr lang="en-US" sz="830" dirty="0">
                <a:solidFill>
                  <a:schemeClr val="bg1"/>
                </a:solidFill>
                <a:latin typeface="Consolas" panose="020B0609020204030204" pitchFamily="49" charset="0"/>
              </a:rPr>
              <a:t>   </a:t>
            </a:r>
            <a:r>
              <a:rPr lang="en-US" sz="830" dirty="0" err="1">
                <a:solidFill>
                  <a:schemeClr val="bg1"/>
                </a:solidFill>
                <a:latin typeface="Consolas" panose="020B0609020204030204" pitchFamily="49" charset="0"/>
              </a:rPr>
              <a:t>self.opp_bid_history.append</a:t>
            </a:r>
            <a:r>
              <a:rPr lang="en-US" sz="830" dirty="0">
                <a:solidFill>
                  <a:schemeClr val="bg1"/>
                </a:solidFill>
                <a:latin typeface="Consolas" panose="020B0609020204030204" pitchFamily="49" charset="0"/>
              </a:rPr>
              <a:t>(</a:t>
            </a:r>
            <a:r>
              <a:rPr lang="en-US" sz="830" dirty="0" err="1">
                <a:solidFill>
                  <a:schemeClr val="bg1"/>
                </a:solidFill>
                <a:latin typeface="Consolas" panose="020B0609020204030204" pitchFamily="49" charset="0"/>
              </a:rPr>
              <a:t>my_cost</a:t>
            </a:r>
            <a:r>
              <a:rPr lang="en-US" sz="830" dirty="0">
                <a:solidFill>
                  <a:schemeClr val="bg1"/>
                </a:solidFill>
                <a:latin typeface="Consolas" panose="020B0609020204030204" pitchFamily="49" charset="0"/>
              </a:rPr>
              <a:t>) # </a:t>
            </a:r>
            <a:r>
              <a:rPr lang="en-US" sz="830" dirty="0">
                <a:solidFill>
                  <a:schemeClr val="accent6">
                    <a:lumMod val="75000"/>
                  </a:schemeClr>
                </a:solidFill>
                <a:latin typeface="Consolas" panose="020B0609020204030204" pitchFamily="49" charset="0"/>
              </a:rPr>
              <a:t>append known opponent bidding</a:t>
            </a:r>
          </a:p>
          <a:p>
            <a:r>
              <a:rPr lang="en-US" sz="830" dirty="0" err="1">
                <a:solidFill>
                  <a:schemeClr val="bg1"/>
                </a:solidFill>
                <a:latin typeface="Consolas" panose="020B0609020204030204" pitchFamily="49" charset="0"/>
              </a:rPr>
              <a:t>elif</a:t>
            </a:r>
            <a:r>
              <a:rPr lang="en-US" sz="830" dirty="0">
                <a:solidFill>
                  <a:schemeClr val="bg1"/>
                </a:solidFill>
                <a:latin typeface="Consolas" panose="020B0609020204030204" pitchFamily="49" charset="0"/>
              </a:rPr>
              <a:t> </a:t>
            </a:r>
            <a:r>
              <a:rPr lang="en-US" sz="830" dirty="0" err="1">
                <a:solidFill>
                  <a:schemeClr val="bg1"/>
                </a:solidFill>
                <a:latin typeface="Consolas" panose="020B0609020204030204" pitchFamily="49" charset="0"/>
              </a:rPr>
              <a:t>my_cost</a:t>
            </a:r>
            <a:r>
              <a:rPr lang="en-US" sz="830" dirty="0">
                <a:solidFill>
                  <a:schemeClr val="bg1"/>
                </a:solidFill>
                <a:latin typeface="Consolas" panose="020B0609020204030204" pitchFamily="49" charset="0"/>
              </a:rPr>
              <a:t> == 0 and </a:t>
            </a:r>
            <a:r>
              <a:rPr lang="en-US" sz="830" dirty="0" err="1">
                <a:solidFill>
                  <a:schemeClr val="bg1"/>
                </a:solidFill>
                <a:latin typeface="Consolas" panose="020B0609020204030204" pitchFamily="49" charset="0"/>
              </a:rPr>
              <a:t>self.opp_has_info</a:t>
            </a:r>
            <a:r>
              <a:rPr lang="en-US" sz="830" dirty="0">
                <a:solidFill>
                  <a:schemeClr val="bg1"/>
                </a:solidFill>
                <a:latin typeface="Consolas" panose="020B0609020204030204" pitchFamily="49" charset="0"/>
              </a:rPr>
              <a:t>:</a:t>
            </a:r>
          </a:p>
          <a:p>
            <a:r>
              <a:rPr lang="en-US" sz="830" dirty="0">
                <a:solidFill>
                  <a:schemeClr val="bg1"/>
                </a:solidFill>
                <a:latin typeface="Consolas" panose="020B0609020204030204" pitchFamily="49" charset="0"/>
              </a:rPr>
              <a:t>   est = max(</a:t>
            </a:r>
            <a:r>
              <a:rPr lang="en-US" sz="830" dirty="0" err="1">
                <a:solidFill>
                  <a:schemeClr val="bg1"/>
                </a:solidFill>
                <a:latin typeface="Consolas" panose="020B0609020204030204" pitchFamily="49" charset="0"/>
              </a:rPr>
              <a:t>self.my_bid</a:t>
            </a:r>
            <a:r>
              <a:rPr lang="en-US" sz="830" dirty="0">
                <a:solidFill>
                  <a:schemeClr val="bg1"/>
                </a:solidFill>
                <a:latin typeface="Consolas" panose="020B0609020204030204" pitchFamily="49" charset="0"/>
              </a:rPr>
              <a:t> + 5, </a:t>
            </a:r>
            <a:r>
              <a:rPr lang="en-US" sz="830" dirty="0" err="1">
                <a:solidFill>
                  <a:schemeClr val="bg1"/>
                </a:solidFill>
                <a:latin typeface="Consolas" panose="020B0609020204030204" pitchFamily="49" charset="0"/>
              </a:rPr>
              <a:t>self.my_bid</a:t>
            </a:r>
            <a:r>
              <a:rPr lang="en-US" sz="830" dirty="0">
                <a:solidFill>
                  <a:schemeClr val="bg1"/>
                </a:solidFill>
                <a:latin typeface="Consolas" panose="020B0609020204030204" pitchFamily="49" charset="0"/>
              </a:rPr>
              <a:t> * 1.5) # </a:t>
            </a:r>
            <a:r>
              <a:rPr lang="en-US" sz="830" dirty="0">
                <a:solidFill>
                  <a:schemeClr val="accent6">
                    <a:lumMod val="75000"/>
                  </a:schemeClr>
                </a:solidFill>
                <a:latin typeface="Consolas" panose="020B0609020204030204" pitchFamily="49" charset="0"/>
              </a:rPr>
              <a:t>estimate opponent</a:t>
            </a:r>
          </a:p>
          <a:p>
            <a:r>
              <a:rPr lang="en-US" sz="830" dirty="0">
                <a:solidFill>
                  <a:schemeClr val="accent6">
                    <a:lumMod val="75000"/>
                  </a:schemeClr>
                </a:solidFill>
                <a:latin typeface="Consolas" panose="020B0609020204030204" pitchFamily="49" charset="0"/>
              </a:rPr>
              <a:t>bidding to be close to ours if we lose and append</a:t>
            </a:r>
          </a:p>
          <a:p>
            <a:r>
              <a:rPr lang="en-US" sz="830" dirty="0">
                <a:solidFill>
                  <a:schemeClr val="bg1"/>
                </a:solidFill>
                <a:latin typeface="Consolas" panose="020B0609020204030204" pitchFamily="49" charset="0"/>
              </a:rPr>
              <a:t>if </a:t>
            </a:r>
            <a:r>
              <a:rPr lang="en-US" sz="830" dirty="0" err="1">
                <a:solidFill>
                  <a:schemeClr val="bg1"/>
                </a:solidFill>
                <a:latin typeface="Consolas" panose="020B0609020204030204" pitchFamily="49" charset="0"/>
              </a:rPr>
              <a:t>self.opp_bid_history</a:t>
            </a:r>
            <a:r>
              <a:rPr lang="en-US" sz="830" dirty="0">
                <a:solidFill>
                  <a:schemeClr val="bg1"/>
                </a:solidFill>
                <a:latin typeface="Consolas" panose="020B0609020204030204" pitchFamily="49" charset="0"/>
              </a:rPr>
              <a:t>:</a:t>
            </a:r>
          </a:p>
          <a:p>
            <a:r>
              <a:rPr lang="en-US" sz="830" dirty="0">
                <a:solidFill>
                  <a:schemeClr val="bg1"/>
                </a:solidFill>
                <a:latin typeface="Consolas" panose="020B0609020204030204" pitchFamily="49" charset="0"/>
              </a:rPr>
              <a:t>   recent = </a:t>
            </a:r>
            <a:r>
              <a:rPr lang="en-US" sz="830" dirty="0" err="1">
                <a:solidFill>
                  <a:schemeClr val="bg1"/>
                </a:solidFill>
                <a:latin typeface="Consolas" panose="020B0609020204030204" pitchFamily="49" charset="0"/>
              </a:rPr>
              <a:t>self.opp_bid_history</a:t>
            </a:r>
            <a:r>
              <a:rPr lang="en-US" sz="830" dirty="0">
                <a:solidFill>
                  <a:schemeClr val="bg1"/>
                </a:solidFill>
                <a:latin typeface="Consolas" panose="020B0609020204030204" pitchFamily="49" charset="0"/>
              </a:rPr>
              <a:t>[-80:]</a:t>
            </a:r>
          </a:p>
          <a:p>
            <a:r>
              <a:rPr lang="en-US" sz="830" dirty="0">
                <a:solidFill>
                  <a:schemeClr val="bg1"/>
                </a:solidFill>
                <a:latin typeface="Consolas" panose="020B0609020204030204" pitchFamily="49" charset="0"/>
              </a:rPr>
              <a:t>   </a:t>
            </a:r>
            <a:r>
              <a:rPr lang="en-US" sz="830" dirty="0" err="1">
                <a:solidFill>
                  <a:schemeClr val="bg1"/>
                </a:solidFill>
                <a:latin typeface="Consolas" panose="020B0609020204030204" pitchFamily="49" charset="0"/>
              </a:rPr>
              <a:t>self.opp_bid_avg</a:t>
            </a:r>
            <a:r>
              <a:rPr lang="en-US" sz="830" dirty="0">
                <a:solidFill>
                  <a:schemeClr val="bg1"/>
                </a:solidFill>
                <a:latin typeface="Consolas" panose="020B0609020204030204" pitchFamily="49" charset="0"/>
              </a:rPr>
              <a:t> = sum(recent) / </a:t>
            </a:r>
            <a:r>
              <a:rPr lang="en-US" sz="830" dirty="0" err="1">
                <a:solidFill>
                  <a:schemeClr val="bg1"/>
                </a:solidFill>
                <a:latin typeface="Consolas" panose="020B0609020204030204" pitchFamily="49" charset="0"/>
              </a:rPr>
              <a:t>len</a:t>
            </a:r>
            <a:r>
              <a:rPr lang="en-US" sz="830" dirty="0">
                <a:solidFill>
                  <a:schemeClr val="bg1"/>
                </a:solidFill>
                <a:latin typeface="Consolas" panose="020B0609020204030204" pitchFamily="49" charset="0"/>
              </a:rPr>
              <a:t>(recent)</a:t>
            </a:r>
          </a:p>
          <a:p>
            <a:pPr>
              <a:spcBef>
                <a:spcPts val="75"/>
              </a:spcBef>
            </a:pPr>
            <a:endParaRPr sz="830" dirty="0">
              <a:solidFill>
                <a:schemeClr val="bg1"/>
              </a:solidFill>
              <a:latin typeface="Consolas" panose="020B0609020204030204" pitchFamily="49" charset="0"/>
            </a:endParaRPr>
          </a:p>
        </p:txBody>
      </p:sp>
      <p:sp>
        <p:nvSpPr>
          <p:cNvPr id="18" name="Rectangle 17"/>
          <p:cNvSpPr/>
          <p:nvPr/>
        </p:nvSpPr>
        <p:spPr>
          <a:xfrm>
            <a:off x="233626" y="2242566"/>
            <a:ext cx="62363" cy="2649763"/>
          </a:xfrm>
          <a:prstGeom prst="rect">
            <a:avLst/>
          </a:prstGeom>
          <a:solidFill>
            <a:srgbClr val="E5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TextBox 18"/>
          <p:cNvSpPr txBox="1"/>
          <p:nvPr/>
        </p:nvSpPr>
        <p:spPr>
          <a:xfrm>
            <a:off x="371475" y="2873829"/>
            <a:ext cx="3840480" cy="253916"/>
          </a:xfrm>
          <a:prstGeom prst="rect">
            <a:avLst/>
          </a:prstGeom>
          <a:noFill/>
        </p:spPr>
        <p:txBody>
          <a:bodyPr wrap="square">
            <a:spAutoFit/>
          </a:bodyPr>
          <a:lstStyle/>
          <a:p>
            <a:r>
              <a:rPr lang="en-US" sz="1050" b="1" dirty="0">
                <a:solidFill>
                  <a:srgbClr val="E56B6B"/>
                </a:solidFill>
              </a:rPr>
              <a:t>Adaptive Auction Strategy Based on Opponent Bidding</a:t>
            </a:r>
            <a:endParaRPr sz="1050" b="1" dirty="0">
              <a:solidFill>
                <a:srgbClr val="E56B6B"/>
              </a:solidFill>
              <a:latin typeface="Calibri"/>
            </a:endParaRPr>
          </a:p>
        </p:txBody>
      </p:sp>
      <p:sp>
        <p:nvSpPr>
          <p:cNvPr id="20" name="TextBox 19"/>
          <p:cNvSpPr txBox="1"/>
          <p:nvPr/>
        </p:nvSpPr>
        <p:spPr>
          <a:xfrm>
            <a:off x="371475" y="3107001"/>
            <a:ext cx="3806190" cy="1018740"/>
          </a:xfrm>
          <a:prstGeom prst="rect">
            <a:avLst/>
          </a:prstGeom>
          <a:noFill/>
        </p:spPr>
        <p:txBody>
          <a:bodyPr wrap="square">
            <a:spAutoFit/>
          </a:bodyPr>
          <a:lstStyle/>
          <a:p>
            <a:r>
              <a:rPr lang="en-US" sz="860" dirty="0">
                <a:solidFill>
                  <a:schemeClr val="bg1">
                    <a:lumMod val="75000"/>
                  </a:schemeClr>
                </a:solidFill>
              </a:rPr>
              <a:t>We have dead code in our bot for opponent bid history that is never used, although it was intended to be part of our updated auction logic. After winning the auction, large raises can signal our information edge and cause opponents to fold. Randomizing between information-sized and standard bets would help disguise this tell. We were testing a much better auction strategy that uses opponent bid history, but we couldn’t integrate it into our main codebase due to time constraints.</a:t>
            </a:r>
            <a:endParaRPr sz="860" dirty="0">
              <a:solidFill>
                <a:schemeClr val="bg1">
                  <a:lumMod val="75000"/>
                </a:schemeClr>
              </a:solidFill>
              <a:latin typeface="Calibri"/>
            </a:endParaRPr>
          </a:p>
        </p:txBody>
      </p:sp>
      <p:sp>
        <p:nvSpPr>
          <p:cNvPr id="21" name="Rectangle 20"/>
          <p:cNvSpPr/>
          <p:nvPr/>
        </p:nvSpPr>
        <p:spPr>
          <a:xfrm>
            <a:off x="4287441" y="3531098"/>
            <a:ext cx="4560570" cy="1361231"/>
          </a:xfrm>
          <a:prstGeom prst="rect">
            <a:avLst/>
          </a:prstGeom>
          <a:solidFill>
            <a:srgbClr val="111A26"/>
          </a:solidFill>
          <a:ln w="6350">
            <a:solidFill>
              <a:srgbClr val="2E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TextBox 21"/>
          <p:cNvSpPr txBox="1"/>
          <p:nvPr/>
        </p:nvSpPr>
        <p:spPr>
          <a:xfrm>
            <a:off x="4352067" y="3530751"/>
            <a:ext cx="4319850" cy="1612749"/>
          </a:xfrm>
          <a:prstGeom prst="rect">
            <a:avLst/>
          </a:prstGeom>
          <a:noFill/>
        </p:spPr>
        <p:txBody>
          <a:bodyPr wrap="square">
            <a:spAutoFit/>
          </a:bodyPr>
          <a:lstStyle/>
          <a:p>
            <a:pPr>
              <a:spcBef>
                <a:spcPts val="75"/>
              </a:spcBef>
            </a:pPr>
            <a:r>
              <a:rPr lang="en-US" sz="800" dirty="0" err="1">
                <a:solidFill>
                  <a:schemeClr val="bg1">
                    <a:lumMod val="85000"/>
                  </a:schemeClr>
                </a:solidFill>
                <a:latin typeface="Consolas" panose="020B0609020204030204" pitchFamily="49" charset="0"/>
              </a:rPr>
              <a:t>info_curve</a:t>
            </a:r>
            <a:r>
              <a:rPr lang="en-US" sz="800" dirty="0">
                <a:solidFill>
                  <a:schemeClr val="bg1">
                    <a:lumMod val="85000"/>
                  </a:schemeClr>
                </a:solidFill>
                <a:latin typeface="Consolas" panose="020B0609020204030204" pitchFamily="49" charset="0"/>
              </a:rPr>
              <a:t> = 4.0 * eq * (1.0 - eq) </a:t>
            </a:r>
            <a:r>
              <a:rPr lang="en-US" sz="800" dirty="0">
                <a:solidFill>
                  <a:schemeClr val="accent6">
                    <a:lumMod val="75000"/>
                  </a:schemeClr>
                </a:solidFill>
                <a:latin typeface="Consolas" panose="020B0609020204030204" pitchFamily="49" charset="0"/>
              </a:rPr>
              <a:t># peaks at eq=0.5</a:t>
            </a:r>
          </a:p>
          <a:p>
            <a:pPr>
              <a:spcBef>
                <a:spcPts val="75"/>
              </a:spcBef>
            </a:pPr>
            <a:r>
              <a:rPr lang="en-US" sz="800" dirty="0" err="1">
                <a:solidFill>
                  <a:schemeClr val="bg1">
                    <a:lumMod val="85000"/>
                  </a:schemeClr>
                </a:solidFill>
                <a:latin typeface="Consolas" panose="020B0609020204030204" pitchFamily="49" charset="0"/>
              </a:rPr>
              <a:t>deny_bonus</a:t>
            </a:r>
            <a:r>
              <a:rPr lang="en-US" sz="800" dirty="0">
                <a:solidFill>
                  <a:schemeClr val="bg1">
                    <a:lumMod val="85000"/>
                  </a:schemeClr>
                </a:solidFill>
                <a:latin typeface="Consolas" panose="020B0609020204030204" pitchFamily="49" charset="0"/>
              </a:rPr>
              <a:t> = max(0.0, (eq - 0.55) * 0.12) </a:t>
            </a:r>
            <a:r>
              <a:rPr lang="en-US" sz="800" dirty="0">
                <a:solidFill>
                  <a:schemeClr val="accent6">
                    <a:lumMod val="75000"/>
                  </a:schemeClr>
                </a:solidFill>
                <a:latin typeface="Consolas" panose="020B0609020204030204" pitchFamily="49" charset="0"/>
              </a:rPr>
              <a:t># strong hands deny info</a:t>
            </a:r>
          </a:p>
          <a:p>
            <a:pPr>
              <a:spcBef>
                <a:spcPts val="75"/>
              </a:spcBef>
            </a:pPr>
            <a:r>
              <a:rPr lang="en-US" sz="800" dirty="0" err="1">
                <a:solidFill>
                  <a:schemeClr val="bg1">
                    <a:lumMod val="85000"/>
                  </a:schemeClr>
                </a:solidFill>
                <a:latin typeface="Consolas" panose="020B0609020204030204" pitchFamily="49" charset="0"/>
              </a:rPr>
              <a:t>base_bid</a:t>
            </a:r>
            <a:r>
              <a:rPr lang="en-US" sz="800" dirty="0">
                <a:solidFill>
                  <a:schemeClr val="bg1">
                    <a:lumMod val="85000"/>
                  </a:schemeClr>
                </a:solidFill>
                <a:latin typeface="Consolas" panose="020B0609020204030204" pitchFamily="49" charset="0"/>
              </a:rPr>
              <a:t> = int(</a:t>
            </a:r>
            <a:r>
              <a:rPr lang="en-US" sz="800" dirty="0" err="1">
                <a:solidFill>
                  <a:schemeClr val="bg1">
                    <a:lumMod val="85000"/>
                  </a:schemeClr>
                </a:solidFill>
                <a:latin typeface="Consolas" panose="020B0609020204030204" pitchFamily="49" charset="0"/>
              </a:rPr>
              <a:t>exp_pot</a:t>
            </a:r>
            <a:r>
              <a:rPr lang="en-US" sz="800" dirty="0">
                <a:solidFill>
                  <a:schemeClr val="bg1">
                    <a:lumMod val="85000"/>
                  </a:schemeClr>
                </a:solidFill>
                <a:latin typeface="Consolas" panose="020B0609020204030204" pitchFamily="49" charset="0"/>
              </a:rPr>
              <a:t> * (</a:t>
            </a:r>
            <a:r>
              <a:rPr lang="en-US" sz="800" dirty="0" err="1">
                <a:solidFill>
                  <a:schemeClr val="bg1">
                    <a:lumMod val="85000"/>
                  </a:schemeClr>
                </a:solidFill>
                <a:latin typeface="Consolas" panose="020B0609020204030204" pitchFamily="49" charset="0"/>
              </a:rPr>
              <a:t>info_curve</a:t>
            </a:r>
            <a:r>
              <a:rPr lang="en-US" sz="800" dirty="0">
                <a:solidFill>
                  <a:schemeClr val="bg1">
                    <a:lumMod val="85000"/>
                  </a:schemeClr>
                </a:solidFill>
                <a:latin typeface="Consolas" panose="020B0609020204030204" pitchFamily="49" charset="0"/>
              </a:rPr>
              <a:t> * 0.14 + </a:t>
            </a:r>
            <a:r>
              <a:rPr lang="en-US" sz="800" dirty="0" err="1">
                <a:solidFill>
                  <a:schemeClr val="bg1">
                    <a:lumMod val="85000"/>
                  </a:schemeClr>
                </a:solidFill>
                <a:latin typeface="Consolas" panose="020B0609020204030204" pitchFamily="49" charset="0"/>
              </a:rPr>
              <a:t>deny_bonus</a:t>
            </a:r>
            <a:r>
              <a:rPr lang="en-US" sz="800" dirty="0">
                <a:solidFill>
                  <a:schemeClr val="bg1">
                    <a:lumMod val="85000"/>
                  </a:schemeClr>
                </a:solidFill>
                <a:latin typeface="Consolas" panose="020B0609020204030204" pitchFamily="49" charset="0"/>
              </a:rPr>
              <a:t>)</a:t>
            </a:r>
          </a:p>
          <a:p>
            <a:pPr>
              <a:spcBef>
                <a:spcPts val="75"/>
              </a:spcBef>
            </a:pPr>
            <a:r>
              <a:rPr lang="en-US" sz="800" dirty="0">
                <a:solidFill>
                  <a:schemeClr val="bg1">
                    <a:lumMod val="85000"/>
                  </a:schemeClr>
                </a:solidFill>
                <a:latin typeface="Consolas" panose="020B0609020204030204" pitchFamily="49" charset="0"/>
              </a:rPr>
              <a:t>if eq &lt; 0.32: </a:t>
            </a:r>
            <a:r>
              <a:rPr lang="en-US" sz="800" dirty="0">
                <a:solidFill>
                  <a:schemeClr val="accent6">
                    <a:lumMod val="75000"/>
                  </a:schemeClr>
                </a:solidFill>
                <a:latin typeface="Consolas" panose="020B0609020204030204" pitchFamily="49" charset="0"/>
              </a:rPr>
              <a:t># weak hand — info worthless</a:t>
            </a:r>
          </a:p>
          <a:p>
            <a:pPr>
              <a:spcBef>
                <a:spcPts val="75"/>
              </a:spcBef>
            </a:pPr>
            <a:r>
              <a:rPr lang="en-US" sz="800" dirty="0">
                <a:solidFill>
                  <a:schemeClr val="bg1">
                    <a:lumMod val="85000"/>
                  </a:schemeClr>
                </a:solidFill>
                <a:latin typeface="Consolas" panose="020B0609020204030204" pitchFamily="49" charset="0"/>
              </a:rPr>
              <a:t>   </a:t>
            </a:r>
            <a:r>
              <a:rPr lang="en-US" sz="800" dirty="0" err="1">
                <a:solidFill>
                  <a:schemeClr val="bg1">
                    <a:lumMod val="85000"/>
                  </a:schemeClr>
                </a:solidFill>
                <a:latin typeface="Consolas" panose="020B0609020204030204" pitchFamily="49" charset="0"/>
              </a:rPr>
              <a:t>base_bid</a:t>
            </a:r>
            <a:r>
              <a:rPr lang="en-US" sz="800" dirty="0">
                <a:solidFill>
                  <a:schemeClr val="bg1">
                    <a:lumMod val="85000"/>
                  </a:schemeClr>
                </a:solidFill>
                <a:latin typeface="Consolas" panose="020B0609020204030204" pitchFamily="49" charset="0"/>
              </a:rPr>
              <a:t> = min(</a:t>
            </a:r>
            <a:r>
              <a:rPr lang="en-US" sz="800" dirty="0" err="1">
                <a:solidFill>
                  <a:schemeClr val="bg1">
                    <a:lumMod val="85000"/>
                  </a:schemeClr>
                </a:solidFill>
                <a:latin typeface="Consolas" panose="020B0609020204030204" pitchFamily="49" charset="0"/>
              </a:rPr>
              <a:t>base_bid</a:t>
            </a:r>
            <a:r>
              <a:rPr lang="en-US" sz="800" dirty="0">
                <a:solidFill>
                  <a:schemeClr val="bg1">
                    <a:lumMod val="85000"/>
                  </a:schemeClr>
                </a:solidFill>
                <a:latin typeface="Consolas" panose="020B0609020204030204" pitchFamily="49" charset="0"/>
              </a:rPr>
              <a:t>, max(0, int(</a:t>
            </a:r>
            <a:r>
              <a:rPr lang="en-US" sz="800" dirty="0" err="1">
                <a:solidFill>
                  <a:schemeClr val="bg1">
                    <a:lumMod val="85000"/>
                  </a:schemeClr>
                </a:solidFill>
                <a:latin typeface="Consolas" panose="020B0609020204030204" pitchFamily="49" charset="0"/>
              </a:rPr>
              <a:t>exp_pot</a:t>
            </a:r>
            <a:r>
              <a:rPr lang="en-US" sz="800" dirty="0">
                <a:solidFill>
                  <a:schemeClr val="bg1">
                    <a:lumMod val="85000"/>
                  </a:schemeClr>
                </a:solidFill>
                <a:latin typeface="Consolas" panose="020B0609020204030204" pitchFamily="49" charset="0"/>
              </a:rPr>
              <a:t> * 0.02)+ 20))</a:t>
            </a:r>
          </a:p>
          <a:p>
            <a:pPr>
              <a:spcBef>
                <a:spcPts val="75"/>
              </a:spcBef>
            </a:pPr>
            <a:r>
              <a:rPr lang="en-US" sz="800" dirty="0">
                <a:solidFill>
                  <a:schemeClr val="bg1">
                    <a:lumMod val="85000"/>
                  </a:schemeClr>
                </a:solidFill>
                <a:latin typeface="Consolas" panose="020B0609020204030204" pitchFamily="49" charset="0"/>
              </a:rPr>
              <a:t>if </a:t>
            </a:r>
            <a:r>
              <a:rPr lang="en-US" sz="800" dirty="0" err="1">
                <a:solidFill>
                  <a:schemeClr val="bg1">
                    <a:lumMod val="85000"/>
                  </a:schemeClr>
                </a:solidFill>
                <a:latin typeface="Consolas" panose="020B0609020204030204" pitchFamily="49" charset="0"/>
              </a:rPr>
              <a:t>len</a:t>
            </a:r>
            <a:r>
              <a:rPr lang="en-US" sz="800" dirty="0">
                <a:solidFill>
                  <a:schemeClr val="bg1">
                    <a:lumMod val="85000"/>
                  </a:schemeClr>
                </a:solidFill>
                <a:latin typeface="Consolas" panose="020B0609020204030204" pitchFamily="49" charset="0"/>
              </a:rPr>
              <a:t>(</a:t>
            </a:r>
            <a:r>
              <a:rPr lang="en-US" sz="800" dirty="0" err="1">
                <a:solidFill>
                  <a:schemeClr val="bg1">
                    <a:lumMod val="85000"/>
                  </a:schemeClr>
                </a:solidFill>
                <a:latin typeface="Consolas" panose="020B0609020204030204" pitchFamily="49" charset="0"/>
              </a:rPr>
              <a:t>self.opp_bid_history</a:t>
            </a:r>
            <a:r>
              <a:rPr lang="en-US" sz="800" dirty="0">
                <a:solidFill>
                  <a:schemeClr val="bg1">
                    <a:lumMod val="85000"/>
                  </a:schemeClr>
                </a:solidFill>
                <a:latin typeface="Consolas" panose="020B0609020204030204" pitchFamily="49" charset="0"/>
              </a:rPr>
              <a:t>) &gt;= 8:</a:t>
            </a:r>
          </a:p>
          <a:p>
            <a:pPr>
              <a:spcBef>
                <a:spcPts val="75"/>
              </a:spcBef>
            </a:pPr>
            <a:r>
              <a:rPr lang="en-US" sz="800" dirty="0">
                <a:solidFill>
                  <a:schemeClr val="bg1">
                    <a:lumMod val="85000"/>
                  </a:schemeClr>
                </a:solidFill>
                <a:latin typeface="Consolas" panose="020B0609020204030204" pitchFamily="49" charset="0"/>
              </a:rPr>
              <a:t>   cap = int(</a:t>
            </a:r>
            <a:r>
              <a:rPr lang="en-US" sz="800" dirty="0" err="1">
                <a:solidFill>
                  <a:schemeClr val="bg1">
                    <a:lumMod val="85000"/>
                  </a:schemeClr>
                </a:solidFill>
                <a:latin typeface="Consolas" panose="020B0609020204030204" pitchFamily="49" charset="0"/>
              </a:rPr>
              <a:t>self.opp_bid_avg</a:t>
            </a:r>
            <a:r>
              <a:rPr lang="en-US" sz="800" dirty="0">
                <a:solidFill>
                  <a:schemeClr val="bg1">
                    <a:lumMod val="85000"/>
                  </a:schemeClr>
                </a:solidFill>
                <a:latin typeface="Consolas" panose="020B0609020204030204" pitchFamily="49" charset="0"/>
              </a:rPr>
              <a:t> * 2.5 + 15)</a:t>
            </a:r>
          </a:p>
          <a:p>
            <a:pPr>
              <a:spcBef>
                <a:spcPts val="75"/>
              </a:spcBef>
            </a:pPr>
            <a:r>
              <a:rPr lang="en-US" sz="800" dirty="0">
                <a:solidFill>
                  <a:schemeClr val="bg1">
                    <a:lumMod val="85000"/>
                  </a:schemeClr>
                </a:solidFill>
                <a:latin typeface="Consolas" panose="020B0609020204030204" pitchFamily="49" charset="0"/>
              </a:rPr>
              <a:t>   </a:t>
            </a:r>
            <a:r>
              <a:rPr lang="en-US" sz="800" dirty="0" err="1">
                <a:solidFill>
                  <a:schemeClr val="bg1">
                    <a:lumMod val="85000"/>
                  </a:schemeClr>
                </a:solidFill>
                <a:latin typeface="Consolas" panose="020B0609020204030204" pitchFamily="49" charset="0"/>
              </a:rPr>
              <a:t>base_bid</a:t>
            </a:r>
            <a:r>
              <a:rPr lang="en-US" sz="800" dirty="0">
                <a:solidFill>
                  <a:schemeClr val="bg1">
                    <a:lumMod val="85000"/>
                  </a:schemeClr>
                </a:solidFill>
                <a:latin typeface="Consolas" panose="020B0609020204030204" pitchFamily="49" charset="0"/>
              </a:rPr>
              <a:t> = min(</a:t>
            </a:r>
            <a:r>
              <a:rPr lang="en-US" sz="800" dirty="0" err="1">
                <a:solidFill>
                  <a:schemeClr val="bg1">
                    <a:lumMod val="85000"/>
                  </a:schemeClr>
                </a:solidFill>
                <a:latin typeface="Consolas" panose="020B0609020204030204" pitchFamily="49" charset="0"/>
              </a:rPr>
              <a:t>base_bid</a:t>
            </a:r>
            <a:r>
              <a:rPr lang="en-US" sz="800" dirty="0">
                <a:solidFill>
                  <a:schemeClr val="bg1">
                    <a:lumMod val="85000"/>
                  </a:schemeClr>
                </a:solidFill>
                <a:latin typeface="Consolas" panose="020B0609020204030204" pitchFamily="49" charset="0"/>
              </a:rPr>
              <a:t>, cap) </a:t>
            </a:r>
            <a:r>
              <a:rPr lang="en-US" sz="800" dirty="0">
                <a:solidFill>
                  <a:schemeClr val="accent6">
                    <a:lumMod val="75000"/>
                  </a:schemeClr>
                </a:solidFill>
                <a:latin typeface="Consolas" panose="020B0609020204030204" pitchFamily="49" charset="0"/>
              </a:rPr>
              <a:t># don't overbid a frugal </a:t>
            </a:r>
            <a:r>
              <a:rPr lang="en-US" sz="800" dirty="0" err="1">
                <a:solidFill>
                  <a:schemeClr val="accent6">
                    <a:lumMod val="75000"/>
                  </a:schemeClr>
                </a:solidFill>
                <a:latin typeface="Consolas" panose="020B0609020204030204" pitchFamily="49" charset="0"/>
              </a:rPr>
              <a:t>opp</a:t>
            </a:r>
            <a:endParaRPr lang="en-US" sz="800" dirty="0">
              <a:solidFill>
                <a:schemeClr val="accent6">
                  <a:lumMod val="75000"/>
                </a:schemeClr>
              </a:solidFill>
              <a:latin typeface="Consolas" panose="020B0609020204030204" pitchFamily="49" charset="0"/>
            </a:endParaRPr>
          </a:p>
          <a:p>
            <a:pPr>
              <a:spcBef>
                <a:spcPts val="75"/>
              </a:spcBef>
            </a:pPr>
            <a:r>
              <a:rPr lang="en-US" sz="800" dirty="0">
                <a:solidFill>
                  <a:schemeClr val="bg1"/>
                </a:solidFill>
                <a:latin typeface="Consolas" panose="020B0609020204030204" pitchFamily="49" charset="0"/>
              </a:rPr>
              <a:t>bid = max(0, min(</a:t>
            </a:r>
            <a:r>
              <a:rPr lang="en-US" sz="800" dirty="0" err="1">
                <a:solidFill>
                  <a:schemeClr val="bg1"/>
                </a:solidFill>
                <a:latin typeface="Consolas" panose="020B0609020204030204" pitchFamily="49" charset="0"/>
              </a:rPr>
              <a:t>base_bid</a:t>
            </a:r>
            <a:r>
              <a:rPr lang="en-US" sz="800" dirty="0">
                <a:solidFill>
                  <a:schemeClr val="bg1"/>
                </a:solidFill>
                <a:latin typeface="Consolas" panose="020B0609020204030204" pitchFamily="49" charset="0"/>
              </a:rPr>
              <a:t>, </a:t>
            </a:r>
            <a:r>
              <a:rPr lang="en-US" sz="800" dirty="0" err="1">
                <a:solidFill>
                  <a:schemeClr val="bg1"/>
                </a:solidFill>
                <a:latin typeface="Consolas" panose="020B0609020204030204" pitchFamily="49" charset="0"/>
              </a:rPr>
              <a:t>my_chips</a:t>
            </a:r>
            <a:r>
              <a:rPr lang="en-US" sz="800" dirty="0">
                <a:solidFill>
                  <a:schemeClr val="bg1"/>
                </a:solidFill>
                <a:latin typeface="Consolas" panose="020B0609020204030204" pitchFamily="49" charset="0"/>
              </a:rPr>
              <a:t>)) </a:t>
            </a:r>
            <a:r>
              <a:rPr lang="en-US" sz="800" dirty="0" err="1">
                <a:solidFill>
                  <a:schemeClr val="bg1"/>
                </a:solidFill>
                <a:latin typeface="Consolas" panose="020B0609020204030204" pitchFamily="49" charset="0"/>
              </a:rPr>
              <a:t>self.my_bid</a:t>
            </a:r>
            <a:r>
              <a:rPr lang="en-US" sz="800" dirty="0">
                <a:solidFill>
                  <a:schemeClr val="bg1"/>
                </a:solidFill>
                <a:latin typeface="Consolas" panose="020B0609020204030204" pitchFamily="49" charset="0"/>
              </a:rPr>
              <a:t> = bid return </a:t>
            </a:r>
            <a:r>
              <a:rPr lang="en-US" sz="800" dirty="0" err="1">
                <a:solidFill>
                  <a:schemeClr val="bg1"/>
                </a:solidFill>
                <a:latin typeface="Consolas" panose="020B0609020204030204" pitchFamily="49" charset="0"/>
              </a:rPr>
              <a:t>ActionBid</a:t>
            </a:r>
            <a:r>
              <a:rPr lang="en-US" sz="800" dirty="0">
                <a:solidFill>
                  <a:schemeClr val="bg1"/>
                </a:solidFill>
                <a:latin typeface="Consolas" panose="020B0609020204030204" pitchFamily="49" charset="0"/>
              </a:rPr>
              <a:t>(bid)</a:t>
            </a:r>
          </a:p>
          <a:p>
            <a:pPr>
              <a:spcBef>
                <a:spcPts val="75"/>
              </a:spcBef>
            </a:pPr>
            <a:endParaRPr sz="800" dirty="0">
              <a:solidFill>
                <a:schemeClr val="bg1">
                  <a:lumMod val="85000"/>
                </a:schemeClr>
              </a:solidFill>
              <a:latin typeface="Consolas"/>
            </a:endParaRPr>
          </a:p>
        </p:txBody>
      </p:sp>
      <p:sp>
        <p:nvSpPr>
          <p:cNvPr id="11" name="Rectangle 10"/>
          <p:cNvSpPr/>
          <p:nvPr/>
        </p:nvSpPr>
        <p:spPr>
          <a:xfrm>
            <a:off x="271557" y="891540"/>
            <a:ext cx="8661654" cy="1165860"/>
          </a:xfrm>
          <a:prstGeom prst="rect">
            <a:avLst/>
          </a:prstGeom>
          <a:solidFill>
            <a:srgbClr val="1E2D40"/>
          </a:solidFill>
          <a:ln w="6350">
            <a:solidFill>
              <a:srgbClr val="2E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228518" y="904870"/>
            <a:ext cx="37719" cy="1165860"/>
          </a:xfrm>
          <a:prstGeom prst="rect">
            <a:avLst/>
          </a:prstGeom>
          <a:solidFill>
            <a:srgbClr val="4DC4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TextBox 12"/>
          <p:cNvSpPr txBox="1"/>
          <p:nvPr/>
        </p:nvSpPr>
        <p:spPr>
          <a:xfrm>
            <a:off x="374427" y="946404"/>
            <a:ext cx="2743200" cy="253916"/>
          </a:xfrm>
          <a:prstGeom prst="rect">
            <a:avLst/>
          </a:prstGeom>
          <a:noFill/>
        </p:spPr>
        <p:txBody>
          <a:bodyPr wrap="square">
            <a:spAutoFit/>
          </a:bodyPr>
          <a:lstStyle/>
          <a:p>
            <a:pPr algn="l"/>
            <a:r>
              <a:rPr sz="1050" b="1" dirty="0">
                <a:solidFill>
                  <a:srgbClr val="4DC4A5"/>
                </a:solidFill>
                <a:latin typeface="Calibri"/>
              </a:rPr>
              <a:t>MC Redundancy — No Street Cache</a:t>
            </a:r>
          </a:p>
        </p:txBody>
      </p:sp>
      <mc:AlternateContent xmlns:mc="http://schemas.openxmlformats.org/markup-compatibility/2006" xmlns:a14="http://schemas.microsoft.com/office/drawing/2010/main">
        <mc:Choice Requires="a14">
          <p:sp>
            <p:nvSpPr>
              <p:cNvPr id="24" name="TextBox 23"/>
              <p:cNvSpPr txBox="1"/>
              <p:nvPr/>
            </p:nvSpPr>
            <p:spPr>
              <a:xfrm>
                <a:off x="378381" y="1225616"/>
                <a:ext cx="3771900" cy="786241"/>
              </a:xfrm>
              <a:prstGeom prst="rect">
                <a:avLst/>
              </a:prstGeom>
              <a:noFill/>
            </p:spPr>
            <p:txBody>
              <a:bodyPr wrap="square">
                <a:spAutoFit/>
              </a:bodyPr>
              <a:lstStyle/>
              <a:p>
                <a:r>
                  <a:rPr lang="en-US" sz="860" dirty="0">
                    <a:solidFill>
                      <a:schemeClr val="accent4">
                        <a:lumMod val="60000"/>
                        <a:lumOff val="40000"/>
                      </a:schemeClr>
                    </a:solidFill>
                  </a:rPr>
                  <a:t>✗ Waste: The same board produces identical equity, so caching results per street would have reduced redundant computation and freed up CPU resources for higher-N simulations where they matter most. We could have saved up to 500k simulations and instead run </a:t>
                </a:r>
                <a14:m>
                  <m:oMath xmlns:m="http://schemas.openxmlformats.org/officeDocument/2006/math">
                    <m:d>
                      <m:dPr>
                        <m:ctrlPr>
                          <a:rPr lang="ar-AE" sz="860" i="1">
                            <a:solidFill>
                              <a:schemeClr val="accent4">
                                <a:lumMod val="60000"/>
                                <a:lumOff val="40000"/>
                              </a:schemeClr>
                            </a:solidFill>
                            <a:latin typeface="Cambria Math" panose="02040503050406030204" pitchFamily="18" charset="0"/>
                          </a:rPr>
                        </m:ctrlPr>
                      </m:dPr>
                      <m:e>
                        <m:f>
                          <m:fPr>
                            <m:type m:val="noBar"/>
                            <m:ctrlPr>
                              <a:rPr lang="ar-AE" sz="860" i="1">
                                <a:solidFill>
                                  <a:schemeClr val="accent4">
                                    <a:lumMod val="60000"/>
                                    <a:lumOff val="40000"/>
                                  </a:schemeClr>
                                </a:solidFill>
                                <a:latin typeface="Cambria Math" panose="02040503050406030204" pitchFamily="18" charset="0"/>
                              </a:rPr>
                            </m:ctrlPr>
                          </m:fPr>
                          <m:num>
                            <m:r>
                              <a:rPr lang="ar-AE" sz="860">
                                <a:solidFill>
                                  <a:schemeClr val="accent4">
                                    <a:lumMod val="60000"/>
                                    <a:lumOff val="40000"/>
                                  </a:schemeClr>
                                </a:solidFill>
                                <a:latin typeface="Cambria Math" panose="02040503050406030204" pitchFamily="18" charset="0"/>
                              </a:rPr>
                              <m:t>45</m:t>
                            </m:r>
                          </m:num>
                          <m:den>
                            <m:r>
                              <a:rPr lang="ar-AE" sz="860">
                                <a:solidFill>
                                  <a:schemeClr val="accent4">
                                    <a:lumMod val="60000"/>
                                    <a:lumOff val="40000"/>
                                  </a:schemeClr>
                                </a:solidFill>
                                <a:latin typeface="Cambria Math" panose="02040503050406030204" pitchFamily="18" charset="0"/>
                              </a:rPr>
                              <m:t>2</m:t>
                            </m:r>
                          </m:den>
                        </m:f>
                      </m:e>
                    </m:d>
                  </m:oMath>
                </a14:m>
                <a:r>
                  <a:rPr lang="en-US" sz="860" dirty="0">
                    <a:solidFill>
                      <a:schemeClr val="accent4">
                        <a:lumMod val="60000"/>
                        <a:lumOff val="40000"/>
                      </a:schemeClr>
                    </a:solidFill>
                  </a:rPr>
                  <a:t> exhaustive simulations for the turn (with </a:t>
                </a:r>
                <a:r>
                  <a:rPr lang="en-US" sz="860" dirty="0" err="1">
                    <a:solidFill>
                      <a:schemeClr val="accent4">
                        <a:lumMod val="60000"/>
                        <a:lumOff val="40000"/>
                      </a:schemeClr>
                    </a:solidFill>
                  </a:rPr>
                  <a:t>has_info</a:t>
                </a:r>
                <a:r>
                  <a:rPr lang="en-US" sz="860" dirty="0">
                    <a:solidFill>
                      <a:schemeClr val="accent4">
                        <a:lumMod val="60000"/>
                        <a:lumOff val="40000"/>
                      </a:schemeClr>
                    </a:solidFill>
                  </a:rPr>
                  <a:t>) and river (without </a:t>
                </a:r>
                <a:r>
                  <a:rPr lang="en-US" sz="860" dirty="0" err="1">
                    <a:solidFill>
                      <a:schemeClr val="accent4">
                        <a:lumMod val="60000"/>
                        <a:lumOff val="40000"/>
                      </a:schemeClr>
                    </a:solidFill>
                  </a:rPr>
                  <a:t>has_info</a:t>
                </a:r>
                <a:r>
                  <a:rPr lang="en-US" sz="860" dirty="0">
                    <a:solidFill>
                      <a:schemeClr val="accent4">
                        <a:lumMod val="60000"/>
                        <a:lumOff val="40000"/>
                      </a:schemeClr>
                    </a:solidFill>
                  </a:rPr>
                  <a:t>) to obtain more precise equity estimates</a:t>
                </a:r>
                <a:endParaRPr lang="en-US" sz="860" dirty="0">
                  <a:solidFill>
                    <a:schemeClr val="accent4">
                      <a:lumMod val="60000"/>
                      <a:lumOff val="40000"/>
                    </a:schemeClr>
                  </a:solidFill>
                  <a:latin typeface="Calibri"/>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378381" y="1225616"/>
                <a:ext cx="3771900" cy="786241"/>
              </a:xfrm>
              <a:prstGeom prst="rect">
                <a:avLst/>
              </a:prstGeom>
              <a:blipFill>
                <a:blip r:embed="rId2"/>
                <a:stretch>
                  <a:fillRect b="-1550"/>
                </a:stretch>
              </a:blipFill>
            </p:spPr>
            <p:txBody>
              <a:bodyPr/>
              <a:lstStyle/>
              <a:p>
                <a:r>
                  <a:rPr lang="en-US">
                    <a:noFill/>
                  </a:rPr>
                  <a:t> </a:t>
                </a:r>
              </a:p>
            </p:txBody>
          </p:sp>
        </mc:Fallback>
      </mc:AlternateContent>
      <p:sp>
        <p:nvSpPr>
          <p:cNvPr id="25" name="Rectangle 24"/>
          <p:cNvSpPr/>
          <p:nvPr/>
        </p:nvSpPr>
        <p:spPr>
          <a:xfrm>
            <a:off x="4249197" y="946404"/>
            <a:ext cx="4629150" cy="1083564"/>
          </a:xfrm>
          <a:prstGeom prst="rect">
            <a:avLst/>
          </a:prstGeom>
          <a:solidFill>
            <a:srgbClr val="111A26"/>
          </a:solidFill>
          <a:ln w="6350">
            <a:solidFill>
              <a:srgbClr val="2E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6" name="TextBox 25"/>
          <p:cNvSpPr txBox="1"/>
          <p:nvPr/>
        </p:nvSpPr>
        <p:spPr>
          <a:xfrm>
            <a:off x="4352067" y="1028700"/>
            <a:ext cx="3877985" cy="918200"/>
          </a:xfrm>
          <a:prstGeom prst="rect">
            <a:avLst/>
          </a:prstGeom>
          <a:noFill/>
        </p:spPr>
        <p:txBody>
          <a:bodyPr wrap="none">
            <a:spAutoFit/>
          </a:bodyPr>
          <a:lstStyle/>
          <a:p>
            <a:pPr>
              <a:spcBef>
                <a:spcPts val="75"/>
              </a:spcBef>
            </a:pPr>
            <a:r>
              <a:rPr sz="825" dirty="0">
                <a:solidFill>
                  <a:srgbClr val="6A9F6A"/>
                </a:solidFill>
                <a:latin typeface="Consolas"/>
              </a:rPr>
              <a:t># Current: _equity() called fresh on EVERY </a:t>
            </a:r>
            <a:r>
              <a:rPr sz="825" dirty="0" err="1">
                <a:solidFill>
                  <a:srgbClr val="6A9F6A"/>
                </a:solidFill>
                <a:latin typeface="Consolas"/>
              </a:rPr>
              <a:t>get_move</a:t>
            </a:r>
            <a:r>
              <a:rPr sz="825" dirty="0">
                <a:solidFill>
                  <a:srgbClr val="6A9F6A"/>
                </a:solidFill>
                <a:latin typeface="Consolas"/>
              </a:rPr>
              <a:t>() call</a:t>
            </a:r>
          </a:p>
          <a:p>
            <a:pPr>
              <a:spcBef>
                <a:spcPts val="75"/>
              </a:spcBef>
            </a:pPr>
            <a:r>
              <a:rPr sz="825" dirty="0">
                <a:solidFill>
                  <a:srgbClr val="6A9F6A"/>
                </a:solidFill>
                <a:latin typeface="Consolas"/>
              </a:rPr>
              <a:t># Fix sketch:</a:t>
            </a:r>
          </a:p>
          <a:p>
            <a:pPr>
              <a:spcBef>
                <a:spcPts val="75"/>
              </a:spcBef>
            </a:pPr>
            <a:r>
              <a:rPr sz="825" dirty="0">
                <a:solidFill>
                  <a:schemeClr val="bg1">
                    <a:lumMod val="85000"/>
                  </a:schemeClr>
                </a:solidFill>
                <a:latin typeface="Consolas"/>
              </a:rPr>
              <a:t>if self._</a:t>
            </a:r>
            <a:r>
              <a:rPr sz="825" dirty="0" err="1">
                <a:solidFill>
                  <a:schemeClr val="bg1">
                    <a:lumMod val="85000"/>
                  </a:schemeClr>
                </a:solidFill>
                <a:latin typeface="Consolas"/>
              </a:rPr>
              <a:t>cached_street</a:t>
            </a:r>
            <a:r>
              <a:rPr sz="825" dirty="0">
                <a:solidFill>
                  <a:schemeClr val="bg1">
                    <a:lumMod val="85000"/>
                  </a:schemeClr>
                </a:solidFill>
                <a:latin typeface="Consolas"/>
              </a:rPr>
              <a:t> != street or self._</a:t>
            </a:r>
            <a:r>
              <a:rPr sz="825" dirty="0" err="1">
                <a:solidFill>
                  <a:schemeClr val="bg1">
                    <a:lumMod val="85000"/>
                  </a:schemeClr>
                </a:solidFill>
                <a:latin typeface="Consolas"/>
              </a:rPr>
              <a:t>cached_board</a:t>
            </a:r>
            <a:r>
              <a:rPr sz="825" dirty="0">
                <a:solidFill>
                  <a:schemeClr val="bg1">
                    <a:lumMod val="85000"/>
                  </a:schemeClr>
                </a:solidFill>
                <a:latin typeface="Consolas"/>
              </a:rPr>
              <a:t> != board:</a:t>
            </a:r>
          </a:p>
          <a:p>
            <a:pPr>
              <a:spcBef>
                <a:spcPts val="75"/>
              </a:spcBef>
            </a:pPr>
            <a:r>
              <a:rPr sz="825" dirty="0">
                <a:solidFill>
                  <a:srgbClr val="D4D4D4"/>
                </a:solidFill>
                <a:latin typeface="Consolas"/>
              </a:rPr>
              <a:t>    self._</a:t>
            </a:r>
            <a:r>
              <a:rPr sz="825" dirty="0" err="1">
                <a:solidFill>
                  <a:srgbClr val="D4D4D4"/>
                </a:solidFill>
                <a:latin typeface="Consolas"/>
              </a:rPr>
              <a:t>cached_eq</a:t>
            </a:r>
            <a:r>
              <a:rPr sz="825" dirty="0">
                <a:solidFill>
                  <a:srgbClr val="D4D4D4"/>
                </a:solidFill>
                <a:latin typeface="Consolas"/>
              </a:rPr>
              <a:t> = self._</a:t>
            </a:r>
            <a:r>
              <a:rPr sz="825" dirty="0" err="1">
                <a:solidFill>
                  <a:srgbClr val="D4D4D4"/>
                </a:solidFill>
                <a:latin typeface="Consolas"/>
              </a:rPr>
              <a:t>run_mc</a:t>
            </a:r>
            <a:r>
              <a:rPr sz="825" dirty="0">
                <a:solidFill>
                  <a:srgbClr val="D4D4D4"/>
                </a:solidFill>
                <a:latin typeface="Consolas"/>
              </a:rPr>
              <a:t>(cs, </a:t>
            </a:r>
            <a:r>
              <a:rPr sz="825" dirty="0" err="1">
                <a:solidFill>
                  <a:srgbClr val="D4D4D4"/>
                </a:solidFill>
                <a:latin typeface="Consolas"/>
              </a:rPr>
              <a:t>gi</a:t>
            </a:r>
            <a:r>
              <a:rPr sz="825" dirty="0">
                <a:solidFill>
                  <a:srgbClr val="D4D4D4"/>
                </a:solidFill>
                <a:latin typeface="Consolas"/>
              </a:rPr>
              <a:t>)</a:t>
            </a:r>
          </a:p>
          <a:p>
            <a:pPr>
              <a:spcBef>
                <a:spcPts val="75"/>
              </a:spcBef>
            </a:pPr>
            <a:r>
              <a:rPr sz="825" dirty="0">
                <a:solidFill>
                  <a:srgbClr val="D4D4D4"/>
                </a:solidFill>
                <a:latin typeface="Consolas"/>
              </a:rPr>
              <a:t>    self._</a:t>
            </a:r>
            <a:r>
              <a:rPr sz="825" dirty="0" err="1">
                <a:solidFill>
                  <a:srgbClr val="D4D4D4"/>
                </a:solidFill>
                <a:latin typeface="Consolas"/>
              </a:rPr>
              <a:t>cached_street</a:t>
            </a:r>
            <a:r>
              <a:rPr sz="825" dirty="0">
                <a:solidFill>
                  <a:srgbClr val="D4D4D4"/>
                </a:solidFill>
                <a:latin typeface="Consolas"/>
              </a:rPr>
              <a:t>, self._</a:t>
            </a:r>
            <a:r>
              <a:rPr sz="825" dirty="0" err="1">
                <a:solidFill>
                  <a:srgbClr val="D4D4D4"/>
                </a:solidFill>
                <a:latin typeface="Consolas"/>
              </a:rPr>
              <a:t>cached_board</a:t>
            </a:r>
            <a:r>
              <a:rPr sz="825" dirty="0">
                <a:solidFill>
                  <a:srgbClr val="D4D4D4"/>
                </a:solidFill>
                <a:latin typeface="Consolas"/>
              </a:rPr>
              <a:t> = street, board</a:t>
            </a:r>
          </a:p>
          <a:p>
            <a:pPr>
              <a:spcBef>
                <a:spcPts val="75"/>
              </a:spcBef>
            </a:pPr>
            <a:r>
              <a:rPr lang="en-US" sz="825" dirty="0">
                <a:solidFill>
                  <a:srgbClr val="D4D4D4"/>
                </a:solidFill>
                <a:latin typeface="Consolas"/>
              </a:rPr>
              <a:t>     </a:t>
            </a:r>
            <a:r>
              <a:rPr sz="825" dirty="0">
                <a:solidFill>
                  <a:srgbClr val="D4D4D4"/>
                </a:solidFill>
                <a:latin typeface="Consolas"/>
              </a:rPr>
              <a:t>eq = self._</a:t>
            </a:r>
            <a:r>
              <a:rPr sz="825" dirty="0" err="1">
                <a:solidFill>
                  <a:srgbClr val="D4D4D4"/>
                </a:solidFill>
                <a:latin typeface="Consolas"/>
              </a:rPr>
              <a:t>cached_eq</a:t>
            </a:r>
            <a:endParaRPr sz="825" dirty="0">
              <a:solidFill>
                <a:srgbClr val="D4D4D4"/>
              </a:solidFill>
              <a:latin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109727"/>
            <a:ext cx="9144000" cy="548642"/>
          </a:xfrm>
          <a:prstGeom prst="rect">
            <a:avLst/>
          </a:prstGeom>
          <a:solidFill>
            <a:srgbClr val="1B2A3B"/>
          </a:solidFill>
          <a:ln w="12700">
            <a:solidFill>
              <a:srgbClr val="1B2A3B"/>
            </a:solidFill>
            <a:prstDash val="solid"/>
          </a:ln>
        </p:spPr>
        <p:txBody>
          <a:bodyPr/>
          <a:lstStyle/>
          <a:p>
            <a:endParaRPr lang="en-IN"/>
          </a:p>
        </p:txBody>
      </p:sp>
      <p:sp>
        <p:nvSpPr>
          <p:cNvPr id="4" name="Text 2"/>
          <p:cNvSpPr/>
          <p:nvPr/>
        </p:nvSpPr>
        <p:spPr>
          <a:xfrm>
            <a:off x="457200" y="164592"/>
            <a:ext cx="8229600" cy="475488"/>
          </a:xfrm>
          <a:prstGeom prst="rect">
            <a:avLst/>
          </a:prstGeom>
          <a:noFill/>
          <a:ln/>
        </p:spPr>
        <p:txBody>
          <a:bodyPr wrap="square" lIns="0" tIns="0" rIns="0" bIns="0" rtlCol="0" anchor="ctr"/>
          <a:lstStyle/>
          <a:p>
            <a:pPr marL="0" indent="0">
              <a:buNone/>
            </a:pPr>
            <a:r>
              <a:rPr lang="en-US" sz="2600" b="1" kern="0" spc="300" dirty="0">
                <a:solidFill>
                  <a:srgbClr val="F0F4F8"/>
                </a:solidFill>
                <a:latin typeface="Calibri" pitchFamily="34" charset="0"/>
                <a:ea typeface="Calibri" pitchFamily="34" charset="-122"/>
                <a:cs typeface="Calibri" pitchFamily="34" charset="-120"/>
              </a:rPr>
              <a:t>Key Advantages </a:t>
            </a:r>
            <a:r>
              <a:rPr lang="en-US" sz="2600" b="1" kern="0" spc="300">
                <a:solidFill>
                  <a:srgbClr val="F0F4F8"/>
                </a:solidFill>
                <a:latin typeface="Calibri" pitchFamily="34" charset="0"/>
                <a:ea typeface="Calibri" pitchFamily="34" charset="-122"/>
                <a:cs typeface="Calibri" pitchFamily="34" charset="-120"/>
              </a:rPr>
              <a:t>and Takeaways</a:t>
            </a:r>
            <a:endParaRPr lang="en-US" sz="2600" dirty="0"/>
          </a:p>
        </p:txBody>
      </p:sp>
      <p:sp>
        <p:nvSpPr>
          <p:cNvPr id="5" name="Text 3"/>
          <p:cNvSpPr/>
          <p:nvPr/>
        </p:nvSpPr>
        <p:spPr>
          <a:xfrm>
            <a:off x="457200" y="658368"/>
            <a:ext cx="8229600" cy="274320"/>
          </a:xfrm>
          <a:prstGeom prst="rect">
            <a:avLst/>
          </a:prstGeom>
          <a:noFill/>
          <a:ln/>
        </p:spPr>
        <p:txBody>
          <a:bodyPr wrap="square" lIns="0" tIns="0" rIns="0" bIns="0" rtlCol="0" anchor="ctr"/>
          <a:lstStyle/>
          <a:p>
            <a:pPr marL="0" indent="0">
              <a:buNone/>
            </a:pPr>
            <a:r>
              <a:rPr lang="en-US" sz="1200" dirty="0">
                <a:solidFill>
                  <a:srgbClr val="9DAFC0"/>
                </a:solidFill>
                <a:latin typeface="Calibri" pitchFamily="34" charset="0"/>
                <a:ea typeface="Calibri" pitchFamily="34" charset="-122"/>
                <a:cs typeface="Calibri" pitchFamily="34" charset="-120"/>
              </a:rPr>
              <a:t>IIT Pokerbots 2026  ·  Preliminary Round</a:t>
            </a:r>
            <a:endParaRPr lang="en-US" sz="1200" dirty="0"/>
          </a:p>
        </p:txBody>
      </p:sp>
      <p:sp>
        <p:nvSpPr>
          <p:cNvPr id="7" name="Rectangle 6">
            <a:extLst>
              <a:ext uri="{FF2B5EF4-FFF2-40B4-BE49-F238E27FC236}">
                <a16:creationId xmlns:a16="http://schemas.microsoft.com/office/drawing/2014/main" id="{A2240002-6A3F-39BE-8449-890284528D27}"/>
              </a:ext>
            </a:extLst>
          </p:cNvPr>
          <p:cNvSpPr/>
          <p:nvPr/>
        </p:nvSpPr>
        <p:spPr>
          <a:xfrm>
            <a:off x="347357" y="133732"/>
            <a:ext cx="48006" cy="514350"/>
          </a:xfrm>
          <a:prstGeom prst="rect">
            <a:avLst/>
          </a:prstGeom>
          <a:solidFill>
            <a:srgbClr val="E8A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 2"/>
          <p:cNvSpPr/>
          <p:nvPr/>
        </p:nvSpPr>
        <p:spPr>
          <a:xfrm>
            <a:off x="280851" y="969264"/>
            <a:ext cx="1371600" cy="182880"/>
          </a:xfrm>
          <a:prstGeom prst="rect">
            <a:avLst/>
          </a:prstGeom>
          <a:noFill/>
          <a:ln/>
        </p:spPr>
        <p:txBody>
          <a:bodyPr wrap="square" lIns="0" tIns="0" rIns="0" bIns="0" rtlCol="0" anchor="ctr"/>
          <a:lstStyle/>
          <a:p>
            <a:pPr marL="0" indent="0">
              <a:buNone/>
            </a:pPr>
            <a:r>
              <a:rPr lang="en-US" sz="850" b="1" kern="0" spc="300" dirty="0">
                <a:solidFill>
                  <a:srgbClr val="F59E0B"/>
                </a:solidFill>
                <a:latin typeface="Calibri" pitchFamily="34" charset="0"/>
                <a:ea typeface="Calibri" pitchFamily="34" charset="-122"/>
                <a:cs typeface="Calibri" pitchFamily="34" charset="-120"/>
              </a:rPr>
              <a:t>ADVANTAGES</a:t>
            </a:r>
            <a:endParaRPr lang="en-US" sz="850" dirty="0"/>
          </a:p>
        </p:txBody>
      </p:sp>
      <p:sp>
        <p:nvSpPr>
          <p:cNvPr id="9" name="Shape 3"/>
          <p:cNvSpPr/>
          <p:nvPr/>
        </p:nvSpPr>
        <p:spPr>
          <a:xfrm>
            <a:off x="235131" y="1170432"/>
            <a:ext cx="2743200" cy="1024128"/>
          </a:xfrm>
          <a:prstGeom prst="rect">
            <a:avLst/>
          </a:prstGeom>
          <a:solidFill>
            <a:srgbClr val="131D33"/>
          </a:solidFill>
          <a:ln w="4445">
            <a:solidFill>
              <a:srgbClr val="F59E0B"/>
            </a:solidFill>
            <a:prstDash val="solid"/>
          </a:ln>
        </p:spPr>
        <p:txBody>
          <a:bodyPr/>
          <a:lstStyle/>
          <a:p>
            <a:endParaRPr lang="en-IN"/>
          </a:p>
        </p:txBody>
      </p:sp>
      <p:sp>
        <p:nvSpPr>
          <p:cNvPr id="10" name="Shape 4"/>
          <p:cNvSpPr/>
          <p:nvPr/>
        </p:nvSpPr>
        <p:spPr>
          <a:xfrm>
            <a:off x="235131" y="1170432"/>
            <a:ext cx="45720" cy="1024128"/>
          </a:xfrm>
          <a:prstGeom prst="rect">
            <a:avLst/>
          </a:prstGeom>
          <a:solidFill>
            <a:srgbClr val="F59E0B"/>
          </a:solidFill>
          <a:ln/>
        </p:spPr>
        <p:txBody>
          <a:bodyPr/>
          <a:lstStyle/>
          <a:p>
            <a:endParaRPr lang="en-IN"/>
          </a:p>
        </p:txBody>
      </p:sp>
      <p:pic>
        <p:nvPicPr>
          <p:cNvPr id="11" name="Image 0" descr="preencoded.png"/>
          <p:cNvPicPr>
            <a:picLocks noChangeAspect="1"/>
          </p:cNvPicPr>
          <p:nvPr/>
        </p:nvPicPr>
        <p:blipFill>
          <a:blip r:embed="rId3"/>
          <a:stretch>
            <a:fillRect/>
          </a:stretch>
        </p:blipFill>
        <p:spPr>
          <a:xfrm>
            <a:off x="363147" y="1261872"/>
            <a:ext cx="237744" cy="237744"/>
          </a:xfrm>
          <a:prstGeom prst="rect">
            <a:avLst/>
          </a:prstGeom>
        </p:spPr>
      </p:pic>
      <p:sp>
        <p:nvSpPr>
          <p:cNvPr id="12" name="Text 5"/>
          <p:cNvSpPr/>
          <p:nvPr/>
        </p:nvSpPr>
        <p:spPr>
          <a:xfrm>
            <a:off x="655755" y="1225296"/>
            <a:ext cx="132588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Precision equity</a:t>
            </a:r>
            <a:endParaRPr lang="en-US" sz="1200" dirty="0"/>
          </a:p>
        </p:txBody>
      </p:sp>
      <p:sp>
        <p:nvSpPr>
          <p:cNvPr id="13" name="Text 6"/>
          <p:cNvSpPr/>
          <p:nvPr/>
        </p:nvSpPr>
        <p:spPr>
          <a:xfrm>
            <a:off x="1972491" y="1207008"/>
            <a:ext cx="877824" cy="219456"/>
          </a:xfrm>
          <a:prstGeom prst="rect">
            <a:avLst/>
          </a:prstGeom>
          <a:noFill/>
          <a:ln/>
        </p:spPr>
        <p:txBody>
          <a:bodyPr wrap="square" lIns="0" tIns="0" rIns="0" bIns="0" rtlCol="0" anchor="ctr"/>
          <a:lstStyle/>
          <a:p>
            <a:pPr marL="0" indent="0" algn="r">
              <a:buNone/>
            </a:pPr>
            <a:r>
              <a:rPr lang="en-US" sz="1600" b="1" dirty="0">
                <a:solidFill>
                  <a:srgbClr val="F59E0B"/>
                </a:solidFill>
                <a:latin typeface="Arial Black" pitchFamily="34" charset="0"/>
                <a:ea typeface="Arial Black" pitchFamily="34" charset="-122"/>
                <a:cs typeface="Arial Black" pitchFamily="34" charset="-120"/>
              </a:rPr>
              <a:t>1,326</a:t>
            </a:r>
            <a:endParaRPr lang="en-US" sz="1600" dirty="0"/>
          </a:p>
        </p:txBody>
      </p:sp>
      <p:sp>
        <p:nvSpPr>
          <p:cNvPr id="14" name="Text 7"/>
          <p:cNvSpPr/>
          <p:nvPr/>
        </p:nvSpPr>
        <p:spPr>
          <a:xfrm>
            <a:off x="1972491" y="1408176"/>
            <a:ext cx="877824" cy="137160"/>
          </a:xfrm>
          <a:prstGeom prst="rect">
            <a:avLst/>
          </a:prstGeom>
          <a:noFill/>
          <a:ln/>
        </p:spPr>
        <p:txBody>
          <a:bodyPr wrap="square" lIns="0" tIns="0" rIns="0" bIns="0" rtlCol="0" anchor="t"/>
          <a:lstStyle/>
          <a:p>
            <a:pPr marL="0" indent="0" algn="r">
              <a:buNone/>
            </a:pPr>
            <a:r>
              <a:rPr lang="en-US" sz="700" dirty="0">
                <a:solidFill>
                  <a:srgbClr val="475569"/>
                </a:solidFill>
                <a:latin typeface="Calibri" pitchFamily="34" charset="0"/>
                <a:ea typeface="Calibri" pitchFamily="34" charset="-122"/>
                <a:cs typeface="Calibri" pitchFamily="34" charset="-120"/>
              </a:rPr>
              <a:t>suit-aware combos</a:t>
            </a:r>
            <a:endParaRPr lang="en-US" sz="700" dirty="0"/>
          </a:p>
        </p:txBody>
      </p:sp>
      <p:sp>
        <p:nvSpPr>
          <p:cNvPr id="15" name="Text 8"/>
          <p:cNvSpPr/>
          <p:nvPr/>
        </p:nvSpPr>
        <p:spPr>
          <a:xfrm>
            <a:off x="363147" y="1572768"/>
            <a:ext cx="2487168" cy="566928"/>
          </a:xfrm>
          <a:prstGeom prst="rect">
            <a:avLst/>
          </a:prstGeom>
          <a:noFill/>
          <a:ln/>
        </p:spPr>
        <p:txBody>
          <a:bodyPr wrap="square" lIns="0" tIns="0" rIns="0" bIns="0" rtlCol="0" anchor="t"/>
          <a:lstStyle/>
          <a:p>
            <a:pPr marL="0" indent="0">
              <a:buNone/>
            </a:pPr>
            <a:r>
              <a:rPr lang="en-US" sz="850" dirty="0">
                <a:solidFill>
                  <a:srgbClr val="94A3B8"/>
                </a:solidFill>
                <a:latin typeface="Calibri" pitchFamily="34" charset="0"/>
                <a:ea typeface="Calibri" pitchFamily="34" charset="-122"/>
                <a:cs typeface="Calibri" pitchFamily="34" charset="-120"/>
              </a:rPr>
              <a:t>O(1) preflop table → adaptive MC (90–650 sims) → exhaustive river enum when opp card known</a:t>
            </a:r>
            <a:endParaRPr lang="en-US" sz="850" dirty="0"/>
          </a:p>
        </p:txBody>
      </p:sp>
      <p:sp>
        <p:nvSpPr>
          <p:cNvPr id="16" name="Shape 9"/>
          <p:cNvSpPr/>
          <p:nvPr/>
        </p:nvSpPr>
        <p:spPr>
          <a:xfrm>
            <a:off x="3088059" y="1170432"/>
            <a:ext cx="2743200" cy="1024128"/>
          </a:xfrm>
          <a:prstGeom prst="rect">
            <a:avLst/>
          </a:prstGeom>
          <a:solidFill>
            <a:srgbClr val="131D33"/>
          </a:solidFill>
          <a:ln w="4445">
            <a:solidFill>
              <a:srgbClr val="14B8A6"/>
            </a:solidFill>
            <a:prstDash val="solid"/>
          </a:ln>
        </p:spPr>
        <p:txBody>
          <a:bodyPr/>
          <a:lstStyle/>
          <a:p>
            <a:endParaRPr lang="en-IN"/>
          </a:p>
        </p:txBody>
      </p:sp>
      <p:sp>
        <p:nvSpPr>
          <p:cNvPr id="17" name="Shape 10"/>
          <p:cNvSpPr/>
          <p:nvPr/>
        </p:nvSpPr>
        <p:spPr>
          <a:xfrm>
            <a:off x="3088059" y="1170432"/>
            <a:ext cx="45720" cy="1024128"/>
          </a:xfrm>
          <a:prstGeom prst="rect">
            <a:avLst/>
          </a:prstGeom>
          <a:solidFill>
            <a:srgbClr val="14B8A6"/>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3216075" y="1261872"/>
            <a:ext cx="237744" cy="237744"/>
          </a:xfrm>
          <a:prstGeom prst="rect">
            <a:avLst/>
          </a:prstGeom>
        </p:spPr>
      </p:pic>
      <p:sp>
        <p:nvSpPr>
          <p:cNvPr id="19" name="Text 11"/>
          <p:cNvSpPr/>
          <p:nvPr/>
        </p:nvSpPr>
        <p:spPr>
          <a:xfrm>
            <a:off x="3508683" y="1225296"/>
            <a:ext cx="132588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Auction dominance</a:t>
            </a:r>
            <a:endParaRPr lang="en-US" sz="1200" dirty="0"/>
          </a:p>
        </p:txBody>
      </p:sp>
      <p:sp>
        <p:nvSpPr>
          <p:cNvPr id="20" name="Text 12"/>
          <p:cNvSpPr/>
          <p:nvPr/>
        </p:nvSpPr>
        <p:spPr>
          <a:xfrm>
            <a:off x="4825419" y="1207008"/>
            <a:ext cx="877824" cy="219456"/>
          </a:xfrm>
          <a:prstGeom prst="rect">
            <a:avLst/>
          </a:prstGeom>
          <a:noFill/>
          <a:ln/>
        </p:spPr>
        <p:txBody>
          <a:bodyPr wrap="square" lIns="0" tIns="0" rIns="0" bIns="0" rtlCol="0" anchor="ctr"/>
          <a:lstStyle/>
          <a:p>
            <a:pPr marL="0" indent="0" algn="r">
              <a:buNone/>
            </a:pPr>
            <a:r>
              <a:rPr lang="en-US" sz="1600" b="1" dirty="0">
                <a:solidFill>
                  <a:srgbClr val="14B8A6"/>
                </a:solidFill>
                <a:latin typeface="Arial Black" pitchFamily="34" charset="0"/>
                <a:ea typeface="Arial Black" pitchFamily="34" charset="-122"/>
                <a:cs typeface="Arial Black" pitchFamily="34" charset="-120"/>
              </a:rPr>
              <a:t>2nd</a:t>
            </a:r>
            <a:endParaRPr lang="en-US" sz="1600" dirty="0"/>
          </a:p>
        </p:txBody>
      </p:sp>
      <p:sp>
        <p:nvSpPr>
          <p:cNvPr id="21" name="Text 13"/>
          <p:cNvSpPr/>
          <p:nvPr/>
        </p:nvSpPr>
        <p:spPr>
          <a:xfrm>
            <a:off x="4825419" y="1408176"/>
            <a:ext cx="877824" cy="137160"/>
          </a:xfrm>
          <a:prstGeom prst="rect">
            <a:avLst/>
          </a:prstGeom>
          <a:noFill/>
          <a:ln/>
        </p:spPr>
        <p:txBody>
          <a:bodyPr wrap="square" lIns="0" tIns="0" rIns="0" bIns="0" rtlCol="0" anchor="t"/>
          <a:lstStyle/>
          <a:p>
            <a:pPr marL="0" indent="0" algn="r">
              <a:buNone/>
            </a:pPr>
            <a:r>
              <a:rPr lang="en-US" sz="700" dirty="0">
                <a:solidFill>
                  <a:srgbClr val="475569"/>
                </a:solidFill>
                <a:latin typeface="Calibri" pitchFamily="34" charset="0"/>
                <a:ea typeface="Calibri" pitchFamily="34" charset="-122"/>
                <a:cs typeface="Calibri" pitchFamily="34" charset="-120"/>
              </a:rPr>
              <a:t>2nd-price advantage</a:t>
            </a:r>
            <a:endParaRPr lang="en-US" sz="700" dirty="0"/>
          </a:p>
        </p:txBody>
      </p:sp>
      <p:sp>
        <p:nvSpPr>
          <p:cNvPr id="22" name="Text 14"/>
          <p:cNvSpPr/>
          <p:nvPr/>
        </p:nvSpPr>
        <p:spPr>
          <a:xfrm>
            <a:off x="3216075" y="1572768"/>
            <a:ext cx="2487168" cy="566928"/>
          </a:xfrm>
          <a:prstGeom prst="rect">
            <a:avLst/>
          </a:prstGeom>
          <a:noFill/>
          <a:ln/>
        </p:spPr>
        <p:txBody>
          <a:bodyPr wrap="square" lIns="0" tIns="0" rIns="0" bIns="0" rtlCol="0" anchor="t"/>
          <a:lstStyle/>
          <a:p>
            <a:r>
              <a:rPr lang="en-US" sz="850" dirty="0">
                <a:solidFill>
                  <a:schemeClr val="bg1">
                    <a:lumMod val="65000"/>
                  </a:schemeClr>
                </a:solidFill>
              </a:rPr>
              <a:t>K-Means clustered tiers with opponent-aware ranges; win = capture True Value (Offense + Defense), lose = force opponent to overpay.</a:t>
            </a:r>
          </a:p>
        </p:txBody>
      </p:sp>
      <p:sp>
        <p:nvSpPr>
          <p:cNvPr id="23" name="Shape 15"/>
          <p:cNvSpPr/>
          <p:nvPr/>
        </p:nvSpPr>
        <p:spPr>
          <a:xfrm>
            <a:off x="5940987" y="1170432"/>
            <a:ext cx="2743200" cy="1024128"/>
          </a:xfrm>
          <a:prstGeom prst="rect">
            <a:avLst/>
          </a:prstGeom>
          <a:solidFill>
            <a:srgbClr val="131D33"/>
          </a:solidFill>
          <a:ln w="4445">
            <a:solidFill>
              <a:srgbClr val="A78BFA"/>
            </a:solidFill>
            <a:prstDash val="solid"/>
          </a:ln>
        </p:spPr>
        <p:txBody>
          <a:bodyPr/>
          <a:lstStyle/>
          <a:p>
            <a:endParaRPr lang="en-IN"/>
          </a:p>
        </p:txBody>
      </p:sp>
      <p:sp>
        <p:nvSpPr>
          <p:cNvPr id="24" name="Shape 16"/>
          <p:cNvSpPr/>
          <p:nvPr/>
        </p:nvSpPr>
        <p:spPr>
          <a:xfrm>
            <a:off x="5940987" y="1170432"/>
            <a:ext cx="45720" cy="1024128"/>
          </a:xfrm>
          <a:prstGeom prst="rect">
            <a:avLst/>
          </a:prstGeom>
          <a:solidFill>
            <a:srgbClr val="A78BFA"/>
          </a:solidFill>
          <a:ln/>
        </p:spPr>
        <p:txBody>
          <a:bodyPr/>
          <a:lstStyle/>
          <a:p>
            <a:endParaRPr lang="en-IN"/>
          </a:p>
        </p:txBody>
      </p:sp>
      <p:pic>
        <p:nvPicPr>
          <p:cNvPr id="25" name="Image 2" descr="preencoded.png"/>
          <p:cNvPicPr>
            <a:picLocks noChangeAspect="1"/>
          </p:cNvPicPr>
          <p:nvPr/>
        </p:nvPicPr>
        <p:blipFill>
          <a:blip r:embed="rId5"/>
          <a:stretch>
            <a:fillRect/>
          </a:stretch>
        </p:blipFill>
        <p:spPr>
          <a:xfrm>
            <a:off x="6069003" y="1261872"/>
            <a:ext cx="237744" cy="237744"/>
          </a:xfrm>
          <a:prstGeom prst="rect">
            <a:avLst/>
          </a:prstGeom>
        </p:spPr>
      </p:pic>
      <p:sp>
        <p:nvSpPr>
          <p:cNvPr id="26" name="Text 17"/>
          <p:cNvSpPr/>
          <p:nvPr/>
        </p:nvSpPr>
        <p:spPr>
          <a:xfrm>
            <a:off x="6361611" y="1225296"/>
            <a:ext cx="132588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Dual play modes</a:t>
            </a:r>
            <a:endParaRPr lang="en-US" sz="1200" dirty="0"/>
          </a:p>
        </p:txBody>
      </p:sp>
      <p:sp>
        <p:nvSpPr>
          <p:cNvPr id="27" name="Text 18"/>
          <p:cNvSpPr/>
          <p:nvPr/>
        </p:nvSpPr>
        <p:spPr>
          <a:xfrm>
            <a:off x="7678347" y="1207008"/>
            <a:ext cx="877824" cy="219456"/>
          </a:xfrm>
          <a:prstGeom prst="rect">
            <a:avLst/>
          </a:prstGeom>
          <a:noFill/>
          <a:ln/>
        </p:spPr>
        <p:txBody>
          <a:bodyPr wrap="square" lIns="0" tIns="0" rIns="0" bIns="0" rtlCol="0" anchor="ctr"/>
          <a:lstStyle/>
          <a:p>
            <a:pPr marL="0" indent="0" algn="r">
              <a:buNone/>
            </a:pPr>
            <a:r>
              <a:rPr lang="en-US" sz="1600" b="1" dirty="0">
                <a:solidFill>
                  <a:srgbClr val="A78BFA"/>
                </a:solidFill>
                <a:latin typeface="Arial Black" pitchFamily="34" charset="0"/>
                <a:ea typeface="Arial Black" pitchFamily="34" charset="-122"/>
                <a:cs typeface="Arial Black" pitchFamily="34" charset="-120"/>
              </a:rPr>
              <a:t>2</a:t>
            </a:r>
            <a:endParaRPr lang="en-US" sz="1600" dirty="0"/>
          </a:p>
        </p:txBody>
      </p:sp>
      <p:sp>
        <p:nvSpPr>
          <p:cNvPr id="28" name="Text 19"/>
          <p:cNvSpPr/>
          <p:nvPr/>
        </p:nvSpPr>
        <p:spPr>
          <a:xfrm>
            <a:off x="7678347" y="1408176"/>
            <a:ext cx="877824" cy="137160"/>
          </a:xfrm>
          <a:prstGeom prst="rect">
            <a:avLst/>
          </a:prstGeom>
          <a:noFill/>
          <a:ln/>
        </p:spPr>
        <p:txBody>
          <a:bodyPr wrap="square" lIns="0" tIns="0" rIns="0" bIns="0" rtlCol="0" anchor="t"/>
          <a:lstStyle/>
          <a:p>
            <a:pPr marL="0" indent="0" algn="r">
              <a:buNone/>
            </a:pPr>
            <a:r>
              <a:rPr lang="en-US" sz="700" dirty="0">
                <a:solidFill>
                  <a:srgbClr val="475569"/>
                </a:solidFill>
                <a:latin typeface="Calibri" pitchFamily="34" charset="0"/>
                <a:ea typeface="Calibri" pitchFamily="34" charset="-122"/>
                <a:cs typeface="Calibri" pitchFamily="34" charset="-120"/>
              </a:rPr>
              <a:t>asymmetric modes</a:t>
            </a:r>
            <a:endParaRPr lang="en-US" sz="700" dirty="0"/>
          </a:p>
        </p:txBody>
      </p:sp>
      <p:sp>
        <p:nvSpPr>
          <p:cNvPr id="29" name="Text 20"/>
          <p:cNvSpPr/>
          <p:nvPr/>
        </p:nvSpPr>
        <p:spPr>
          <a:xfrm>
            <a:off x="6069003" y="1572768"/>
            <a:ext cx="2487168" cy="566928"/>
          </a:xfrm>
          <a:prstGeom prst="rect">
            <a:avLst/>
          </a:prstGeom>
          <a:noFill/>
          <a:ln/>
        </p:spPr>
        <p:txBody>
          <a:bodyPr wrap="square" lIns="0" tIns="0" rIns="0" bIns="0" rtlCol="0" anchor="t"/>
          <a:lstStyle/>
          <a:p>
            <a:pPr marL="0" indent="0">
              <a:buNone/>
            </a:pPr>
            <a:r>
              <a:rPr lang="en-US" sz="850" dirty="0">
                <a:solidFill>
                  <a:srgbClr val="94A3B8"/>
                </a:solidFill>
                <a:latin typeface="Calibri" pitchFamily="34" charset="0"/>
                <a:ea typeface="Calibri" pitchFamily="34" charset="-122"/>
                <a:cs typeface="Calibri" pitchFamily="34" charset="-120"/>
              </a:rPr>
              <a:t>Won auction: thin value bets, near-zero call margin. Lost auction: zero bluffs, 25% stack cap</a:t>
            </a:r>
            <a:endParaRPr lang="en-US" sz="850" dirty="0"/>
          </a:p>
        </p:txBody>
      </p:sp>
      <p:sp>
        <p:nvSpPr>
          <p:cNvPr id="30" name="Shape 21"/>
          <p:cNvSpPr/>
          <p:nvPr/>
        </p:nvSpPr>
        <p:spPr>
          <a:xfrm>
            <a:off x="235131" y="2267712"/>
            <a:ext cx="2743200" cy="1024128"/>
          </a:xfrm>
          <a:prstGeom prst="rect">
            <a:avLst/>
          </a:prstGeom>
          <a:solidFill>
            <a:srgbClr val="131D33"/>
          </a:solidFill>
          <a:ln w="4445">
            <a:solidFill>
              <a:srgbClr val="FB7185"/>
            </a:solidFill>
            <a:prstDash val="solid"/>
          </a:ln>
        </p:spPr>
        <p:txBody>
          <a:bodyPr/>
          <a:lstStyle/>
          <a:p>
            <a:endParaRPr lang="en-IN"/>
          </a:p>
        </p:txBody>
      </p:sp>
      <p:sp>
        <p:nvSpPr>
          <p:cNvPr id="31" name="Shape 22"/>
          <p:cNvSpPr/>
          <p:nvPr/>
        </p:nvSpPr>
        <p:spPr>
          <a:xfrm>
            <a:off x="235131" y="2267712"/>
            <a:ext cx="45720" cy="1024128"/>
          </a:xfrm>
          <a:prstGeom prst="rect">
            <a:avLst/>
          </a:prstGeom>
          <a:solidFill>
            <a:srgbClr val="FB7185"/>
          </a:solidFill>
          <a:ln/>
        </p:spPr>
        <p:txBody>
          <a:bodyPr/>
          <a:lstStyle/>
          <a:p>
            <a:endParaRPr lang="en-IN"/>
          </a:p>
        </p:txBody>
      </p:sp>
      <p:pic>
        <p:nvPicPr>
          <p:cNvPr id="32" name="Image 3" descr="preencoded.png"/>
          <p:cNvPicPr>
            <a:picLocks noChangeAspect="1"/>
          </p:cNvPicPr>
          <p:nvPr/>
        </p:nvPicPr>
        <p:blipFill>
          <a:blip r:embed="rId6"/>
          <a:stretch>
            <a:fillRect/>
          </a:stretch>
        </p:blipFill>
        <p:spPr>
          <a:xfrm>
            <a:off x="363147" y="2359152"/>
            <a:ext cx="237744" cy="237744"/>
          </a:xfrm>
          <a:prstGeom prst="rect">
            <a:avLst/>
          </a:prstGeom>
        </p:spPr>
      </p:pic>
      <p:sp>
        <p:nvSpPr>
          <p:cNvPr id="33" name="Text 23"/>
          <p:cNvSpPr/>
          <p:nvPr/>
        </p:nvSpPr>
        <p:spPr>
          <a:xfrm>
            <a:off x="655755" y="2322576"/>
            <a:ext cx="132588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Deep hand reading</a:t>
            </a:r>
            <a:endParaRPr lang="en-US" sz="1200" dirty="0"/>
          </a:p>
        </p:txBody>
      </p:sp>
      <p:sp>
        <p:nvSpPr>
          <p:cNvPr id="34" name="Text 24"/>
          <p:cNvSpPr/>
          <p:nvPr/>
        </p:nvSpPr>
        <p:spPr>
          <a:xfrm>
            <a:off x="1972491" y="2304288"/>
            <a:ext cx="877824" cy="219456"/>
          </a:xfrm>
          <a:prstGeom prst="rect">
            <a:avLst/>
          </a:prstGeom>
          <a:noFill/>
          <a:ln/>
        </p:spPr>
        <p:txBody>
          <a:bodyPr wrap="square" lIns="0" tIns="0" rIns="0" bIns="0" rtlCol="0" anchor="ctr"/>
          <a:lstStyle/>
          <a:p>
            <a:pPr marL="0" indent="0" algn="r">
              <a:buNone/>
            </a:pPr>
            <a:r>
              <a:rPr lang="en-US" sz="1600" b="1" dirty="0">
                <a:solidFill>
                  <a:srgbClr val="FB7185"/>
                </a:solidFill>
                <a:latin typeface="Arial Black" pitchFamily="34" charset="0"/>
                <a:ea typeface="Arial Black" pitchFamily="34" charset="-122"/>
                <a:cs typeface="Arial Black" pitchFamily="34" charset="-120"/>
              </a:rPr>
              <a:t>17</a:t>
            </a:r>
            <a:endParaRPr lang="en-US" sz="1600" dirty="0"/>
          </a:p>
        </p:txBody>
      </p:sp>
      <p:sp>
        <p:nvSpPr>
          <p:cNvPr id="35" name="Text 25"/>
          <p:cNvSpPr/>
          <p:nvPr/>
        </p:nvSpPr>
        <p:spPr>
          <a:xfrm>
            <a:off x="1972491" y="2505456"/>
            <a:ext cx="877824" cy="137160"/>
          </a:xfrm>
          <a:prstGeom prst="rect">
            <a:avLst/>
          </a:prstGeom>
          <a:noFill/>
          <a:ln/>
        </p:spPr>
        <p:txBody>
          <a:bodyPr wrap="square" lIns="0" tIns="0" rIns="0" bIns="0" rtlCol="0" anchor="t"/>
          <a:lstStyle/>
          <a:p>
            <a:pPr marL="0" indent="0" algn="r">
              <a:buNone/>
            </a:pPr>
            <a:r>
              <a:rPr lang="en-US" sz="700" dirty="0">
                <a:solidFill>
                  <a:srgbClr val="475569"/>
                </a:solidFill>
                <a:latin typeface="Calibri" pitchFamily="34" charset="0"/>
                <a:ea typeface="Calibri" pitchFamily="34" charset="-122"/>
                <a:cs typeface="Calibri" pitchFamily="34" charset="-120"/>
              </a:rPr>
              <a:t>hand classes</a:t>
            </a:r>
            <a:endParaRPr lang="en-US" sz="700" dirty="0"/>
          </a:p>
        </p:txBody>
      </p:sp>
      <p:sp>
        <p:nvSpPr>
          <p:cNvPr id="36" name="Text 26"/>
          <p:cNvSpPr/>
          <p:nvPr/>
        </p:nvSpPr>
        <p:spPr>
          <a:xfrm>
            <a:off x="363147" y="2670048"/>
            <a:ext cx="2487168" cy="566928"/>
          </a:xfrm>
          <a:prstGeom prst="rect">
            <a:avLst/>
          </a:prstGeom>
          <a:noFill/>
          <a:ln/>
        </p:spPr>
        <p:txBody>
          <a:bodyPr wrap="square" lIns="0" tIns="0" rIns="0" bIns="0" rtlCol="0" anchor="t"/>
          <a:lstStyle/>
          <a:p>
            <a:pPr marL="0" indent="0">
              <a:buNone/>
            </a:pPr>
            <a:r>
              <a:rPr lang="en-US" sz="850" dirty="0">
                <a:solidFill>
                  <a:srgbClr val="94A3B8"/>
                </a:solidFill>
                <a:latin typeface="Calibri" pitchFamily="34" charset="0"/>
                <a:ea typeface="Calibri" pitchFamily="34" charset="-122"/>
                <a:cs typeface="Calibri" pitchFamily="34" charset="-120"/>
              </a:rPr>
              <a:t>Full classifier (SF → set → TPGK → draws → nothing) + board texture + street-specific skepticism</a:t>
            </a:r>
            <a:endParaRPr lang="en-US" sz="850" dirty="0"/>
          </a:p>
        </p:txBody>
      </p:sp>
      <p:sp>
        <p:nvSpPr>
          <p:cNvPr id="37" name="Shape 27"/>
          <p:cNvSpPr/>
          <p:nvPr/>
        </p:nvSpPr>
        <p:spPr>
          <a:xfrm>
            <a:off x="3088059" y="2267712"/>
            <a:ext cx="2743200" cy="1024128"/>
          </a:xfrm>
          <a:prstGeom prst="rect">
            <a:avLst/>
          </a:prstGeom>
          <a:solidFill>
            <a:srgbClr val="131D33"/>
          </a:solidFill>
          <a:ln w="4445">
            <a:solidFill>
              <a:srgbClr val="34D399"/>
            </a:solidFill>
            <a:prstDash val="solid"/>
          </a:ln>
        </p:spPr>
        <p:txBody>
          <a:bodyPr/>
          <a:lstStyle/>
          <a:p>
            <a:endParaRPr lang="en-IN"/>
          </a:p>
        </p:txBody>
      </p:sp>
      <p:sp>
        <p:nvSpPr>
          <p:cNvPr id="38" name="Shape 28"/>
          <p:cNvSpPr/>
          <p:nvPr/>
        </p:nvSpPr>
        <p:spPr>
          <a:xfrm>
            <a:off x="3088059" y="2267712"/>
            <a:ext cx="45720" cy="1024128"/>
          </a:xfrm>
          <a:prstGeom prst="rect">
            <a:avLst/>
          </a:prstGeom>
          <a:solidFill>
            <a:srgbClr val="34D399"/>
          </a:solidFill>
          <a:ln/>
        </p:spPr>
        <p:txBody>
          <a:bodyPr/>
          <a:lstStyle/>
          <a:p>
            <a:endParaRPr lang="en-IN"/>
          </a:p>
        </p:txBody>
      </p:sp>
      <p:pic>
        <p:nvPicPr>
          <p:cNvPr id="39" name="Image 4" descr="preencoded.png"/>
          <p:cNvPicPr>
            <a:picLocks noChangeAspect="1"/>
          </p:cNvPicPr>
          <p:nvPr/>
        </p:nvPicPr>
        <p:blipFill>
          <a:blip r:embed="rId7"/>
          <a:stretch>
            <a:fillRect/>
          </a:stretch>
        </p:blipFill>
        <p:spPr>
          <a:xfrm>
            <a:off x="3216075" y="2359152"/>
            <a:ext cx="237744" cy="237744"/>
          </a:xfrm>
          <a:prstGeom prst="rect">
            <a:avLst/>
          </a:prstGeom>
        </p:spPr>
      </p:pic>
      <p:sp>
        <p:nvSpPr>
          <p:cNvPr id="40" name="Text 29"/>
          <p:cNvSpPr/>
          <p:nvPr/>
        </p:nvSpPr>
        <p:spPr>
          <a:xfrm>
            <a:off x="3508683" y="2322576"/>
            <a:ext cx="132588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Fast adaptation</a:t>
            </a:r>
            <a:endParaRPr lang="en-US" sz="1200" dirty="0"/>
          </a:p>
        </p:txBody>
      </p:sp>
      <p:sp>
        <p:nvSpPr>
          <p:cNvPr id="41" name="Text 30"/>
          <p:cNvSpPr/>
          <p:nvPr/>
        </p:nvSpPr>
        <p:spPr>
          <a:xfrm>
            <a:off x="4825419" y="2304288"/>
            <a:ext cx="877824" cy="219456"/>
          </a:xfrm>
          <a:prstGeom prst="rect">
            <a:avLst/>
          </a:prstGeom>
          <a:noFill/>
          <a:ln/>
        </p:spPr>
        <p:txBody>
          <a:bodyPr wrap="square" lIns="0" tIns="0" rIns="0" bIns="0" rtlCol="0" anchor="ctr"/>
          <a:lstStyle/>
          <a:p>
            <a:pPr marL="0" indent="0" algn="r">
              <a:buNone/>
            </a:pPr>
            <a:r>
              <a:rPr lang="en-US" sz="1600" b="1" dirty="0">
                <a:solidFill>
                  <a:srgbClr val="34D399"/>
                </a:solidFill>
                <a:latin typeface="Arial Black" pitchFamily="34" charset="0"/>
                <a:ea typeface="Arial Black" pitchFamily="34" charset="-122"/>
                <a:cs typeface="Arial Black" pitchFamily="34" charset="-120"/>
              </a:rPr>
              <a:t>18</a:t>
            </a:r>
            <a:endParaRPr lang="en-US" sz="1600" dirty="0"/>
          </a:p>
        </p:txBody>
      </p:sp>
      <p:sp>
        <p:nvSpPr>
          <p:cNvPr id="42" name="Text 31"/>
          <p:cNvSpPr/>
          <p:nvPr/>
        </p:nvSpPr>
        <p:spPr>
          <a:xfrm>
            <a:off x="4825419" y="2505456"/>
            <a:ext cx="877824" cy="137160"/>
          </a:xfrm>
          <a:prstGeom prst="rect">
            <a:avLst/>
          </a:prstGeom>
          <a:noFill/>
          <a:ln/>
        </p:spPr>
        <p:txBody>
          <a:bodyPr wrap="square" lIns="0" tIns="0" rIns="0" bIns="0" rtlCol="0" anchor="t"/>
          <a:lstStyle/>
          <a:p>
            <a:pPr marL="0" indent="0" algn="r">
              <a:buNone/>
            </a:pPr>
            <a:r>
              <a:rPr lang="en-US" sz="700" dirty="0">
                <a:solidFill>
                  <a:srgbClr val="475569"/>
                </a:solidFill>
                <a:latin typeface="Calibri" pitchFamily="34" charset="0"/>
                <a:ea typeface="Calibri" pitchFamily="34" charset="-122"/>
                <a:cs typeface="Calibri" pitchFamily="34" charset="-120"/>
              </a:rPr>
              <a:t>hand recalibration</a:t>
            </a:r>
            <a:endParaRPr lang="en-US" sz="700" dirty="0"/>
          </a:p>
        </p:txBody>
      </p:sp>
      <p:sp>
        <p:nvSpPr>
          <p:cNvPr id="91" name="Text 32"/>
          <p:cNvSpPr/>
          <p:nvPr/>
        </p:nvSpPr>
        <p:spPr>
          <a:xfrm>
            <a:off x="3216075" y="2670048"/>
            <a:ext cx="2487168" cy="566928"/>
          </a:xfrm>
          <a:prstGeom prst="rect">
            <a:avLst/>
          </a:prstGeom>
          <a:noFill/>
          <a:ln/>
        </p:spPr>
        <p:txBody>
          <a:bodyPr wrap="square" lIns="0" tIns="0" rIns="0" bIns="0" rtlCol="0" anchor="t"/>
          <a:lstStyle/>
          <a:p>
            <a:pPr marL="0" indent="0">
              <a:buNone/>
            </a:pPr>
            <a:r>
              <a:rPr lang="en-US" sz="850" dirty="0">
                <a:solidFill>
                  <a:srgbClr val="94A3B8"/>
                </a:solidFill>
                <a:latin typeface="Calibri" pitchFamily="34" charset="0"/>
                <a:ea typeface="Calibri" pitchFamily="34" charset="-122"/>
                <a:cs typeface="Calibri" pitchFamily="34" charset="-120"/>
              </a:rPr>
              <a:t>65/35 recent-vs-cumulative blend → derives call_scale + aggro_boost; degrades gracefully on time</a:t>
            </a:r>
            <a:endParaRPr lang="en-US" sz="850" dirty="0"/>
          </a:p>
        </p:txBody>
      </p:sp>
      <p:sp>
        <p:nvSpPr>
          <p:cNvPr id="92" name="Shape 33"/>
          <p:cNvSpPr/>
          <p:nvPr/>
        </p:nvSpPr>
        <p:spPr>
          <a:xfrm>
            <a:off x="5940987" y="2267712"/>
            <a:ext cx="2743200" cy="1024128"/>
          </a:xfrm>
          <a:prstGeom prst="rect">
            <a:avLst/>
          </a:prstGeom>
          <a:solidFill>
            <a:srgbClr val="131D33"/>
          </a:solidFill>
          <a:ln w="4445">
            <a:solidFill>
              <a:srgbClr val="3B82F6"/>
            </a:solidFill>
            <a:prstDash val="solid"/>
          </a:ln>
        </p:spPr>
        <p:txBody>
          <a:bodyPr/>
          <a:lstStyle/>
          <a:p>
            <a:endParaRPr lang="en-IN"/>
          </a:p>
        </p:txBody>
      </p:sp>
      <p:sp>
        <p:nvSpPr>
          <p:cNvPr id="93" name="Shape 34"/>
          <p:cNvSpPr/>
          <p:nvPr/>
        </p:nvSpPr>
        <p:spPr>
          <a:xfrm>
            <a:off x="5940987" y="2267712"/>
            <a:ext cx="45720" cy="1024128"/>
          </a:xfrm>
          <a:prstGeom prst="rect">
            <a:avLst/>
          </a:prstGeom>
          <a:solidFill>
            <a:srgbClr val="3B82F6"/>
          </a:solidFill>
          <a:ln/>
        </p:spPr>
        <p:txBody>
          <a:bodyPr/>
          <a:lstStyle/>
          <a:p>
            <a:endParaRPr lang="en-IN"/>
          </a:p>
        </p:txBody>
      </p:sp>
      <p:pic>
        <p:nvPicPr>
          <p:cNvPr id="94" name="Image 5" descr="preencoded.png"/>
          <p:cNvPicPr>
            <a:picLocks noChangeAspect="1"/>
          </p:cNvPicPr>
          <p:nvPr/>
        </p:nvPicPr>
        <p:blipFill>
          <a:blip r:embed="rId8"/>
          <a:stretch>
            <a:fillRect/>
          </a:stretch>
        </p:blipFill>
        <p:spPr>
          <a:xfrm>
            <a:off x="6069003" y="2359152"/>
            <a:ext cx="237744" cy="237744"/>
          </a:xfrm>
          <a:prstGeom prst="rect">
            <a:avLst/>
          </a:prstGeom>
        </p:spPr>
      </p:pic>
      <p:sp>
        <p:nvSpPr>
          <p:cNvPr id="95" name="Text 35"/>
          <p:cNvSpPr/>
          <p:nvPr/>
        </p:nvSpPr>
        <p:spPr>
          <a:xfrm>
            <a:off x="6361611" y="2322576"/>
            <a:ext cx="132588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Exploit resistance</a:t>
            </a:r>
            <a:endParaRPr lang="en-US" sz="1200" dirty="0"/>
          </a:p>
        </p:txBody>
      </p:sp>
      <p:sp>
        <p:nvSpPr>
          <p:cNvPr id="96" name="Text 36"/>
          <p:cNvSpPr/>
          <p:nvPr/>
        </p:nvSpPr>
        <p:spPr>
          <a:xfrm>
            <a:off x="7678347" y="2304288"/>
            <a:ext cx="877824" cy="219456"/>
          </a:xfrm>
          <a:prstGeom prst="rect">
            <a:avLst/>
          </a:prstGeom>
          <a:noFill/>
          <a:ln/>
        </p:spPr>
        <p:txBody>
          <a:bodyPr wrap="square" lIns="0" tIns="0" rIns="0" bIns="0" rtlCol="0" anchor="ctr"/>
          <a:lstStyle/>
          <a:p>
            <a:pPr marL="0" indent="0" algn="r">
              <a:buNone/>
            </a:pPr>
            <a:r>
              <a:rPr lang="en-US" sz="1600" b="1" dirty="0">
                <a:solidFill>
                  <a:srgbClr val="3B82F6"/>
                </a:solidFill>
                <a:latin typeface="Arial Black" pitchFamily="34" charset="0"/>
                <a:ea typeface="Arial Black" pitchFamily="34" charset="-122"/>
                <a:cs typeface="Arial Black" pitchFamily="34" charset="-120"/>
              </a:rPr>
              <a:t>5</a:t>
            </a:r>
            <a:endParaRPr lang="en-US" sz="1600" dirty="0"/>
          </a:p>
        </p:txBody>
      </p:sp>
      <p:sp>
        <p:nvSpPr>
          <p:cNvPr id="97" name="Text 37"/>
          <p:cNvSpPr/>
          <p:nvPr/>
        </p:nvSpPr>
        <p:spPr>
          <a:xfrm>
            <a:off x="7678347" y="2505456"/>
            <a:ext cx="877824" cy="137160"/>
          </a:xfrm>
          <a:prstGeom prst="rect">
            <a:avLst/>
          </a:prstGeom>
          <a:noFill/>
          <a:ln/>
        </p:spPr>
        <p:txBody>
          <a:bodyPr wrap="square" lIns="0" tIns="0" rIns="0" bIns="0" rtlCol="0" anchor="t"/>
          <a:lstStyle/>
          <a:p>
            <a:pPr marL="0" indent="0" algn="r">
              <a:buNone/>
            </a:pPr>
            <a:r>
              <a:rPr lang="en-US" sz="700" dirty="0">
                <a:solidFill>
                  <a:srgbClr val="475569"/>
                </a:solidFill>
                <a:latin typeface="Calibri" pitchFamily="34" charset="0"/>
                <a:ea typeface="Calibri" pitchFamily="34" charset="-122"/>
                <a:cs typeface="Calibri" pitchFamily="34" charset="-120"/>
              </a:rPr>
              <a:t>defense layers</a:t>
            </a:r>
            <a:endParaRPr lang="en-US" sz="700" dirty="0"/>
          </a:p>
        </p:txBody>
      </p:sp>
      <p:sp>
        <p:nvSpPr>
          <p:cNvPr id="98" name="Text 38"/>
          <p:cNvSpPr/>
          <p:nvPr/>
        </p:nvSpPr>
        <p:spPr>
          <a:xfrm>
            <a:off x="6069003" y="2670048"/>
            <a:ext cx="2487168" cy="566928"/>
          </a:xfrm>
          <a:prstGeom prst="rect">
            <a:avLst/>
          </a:prstGeom>
          <a:noFill/>
          <a:ln/>
        </p:spPr>
        <p:txBody>
          <a:bodyPr wrap="square" lIns="0" tIns="0" rIns="0" bIns="0" rtlCol="0" anchor="t"/>
          <a:lstStyle/>
          <a:p>
            <a:pPr marL="0" indent="0">
              <a:buNone/>
            </a:pPr>
            <a:r>
              <a:rPr lang="en-US" sz="850" dirty="0">
                <a:solidFill>
                  <a:srgbClr val="94A3B8"/>
                </a:solidFill>
                <a:latin typeface="Calibri" pitchFamily="34" charset="0"/>
                <a:ea typeface="Calibri" pitchFamily="34" charset="-122"/>
                <a:cs typeface="Calibri" pitchFamily="34" charset="-120"/>
              </a:rPr>
              <a:t>Position-aware fold gate, SPR commitment logic, check-raise traps (30%), catch-bluff calls (22–30%)</a:t>
            </a:r>
            <a:endParaRPr lang="en-US" sz="850" dirty="0"/>
          </a:p>
        </p:txBody>
      </p:sp>
      <p:sp>
        <p:nvSpPr>
          <p:cNvPr id="99" name="Text 39"/>
          <p:cNvSpPr/>
          <p:nvPr/>
        </p:nvSpPr>
        <p:spPr>
          <a:xfrm>
            <a:off x="280851" y="3364992"/>
            <a:ext cx="1371600" cy="182880"/>
          </a:xfrm>
          <a:prstGeom prst="rect">
            <a:avLst/>
          </a:prstGeom>
          <a:noFill/>
          <a:ln/>
        </p:spPr>
        <p:txBody>
          <a:bodyPr wrap="square" lIns="0" tIns="0" rIns="0" bIns="0" rtlCol="0" anchor="ctr"/>
          <a:lstStyle/>
          <a:p>
            <a:pPr marL="0" indent="0">
              <a:buNone/>
            </a:pPr>
            <a:r>
              <a:rPr lang="en-US" sz="850" b="1" kern="0" spc="300" dirty="0">
                <a:solidFill>
                  <a:srgbClr val="14B8A6"/>
                </a:solidFill>
                <a:latin typeface="Calibri" pitchFamily="34" charset="0"/>
                <a:ea typeface="Calibri" pitchFamily="34" charset="-122"/>
                <a:cs typeface="Calibri" pitchFamily="34" charset="-120"/>
              </a:rPr>
              <a:t>TAKEAWAYS</a:t>
            </a:r>
            <a:endParaRPr lang="en-US" sz="850" dirty="0"/>
          </a:p>
        </p:txBody>
      </p:sp>
      <p:sp>
        <p:nvSpPr>
          <p:cNvPr id="100" name="Shape 40"/>
          <p:cNvSpPr/>
          <p:nvPr/>
        </p:nvSpPr>
        <p:spPr>
          <a:xfrm>
            <a:off x="235131" y="3584448"/>
            <a:ext cx="2743200" cy="1335024"/>
          </a:xfrm>
          <a:prstGeom prst="rect">
            <a:avLst/>
          </a:prstGeom>
          <a:solidFill>
            <a:srgbClr val="1A2744"/>
          </a:solidFill>
          <a:ln w="5080">
            <a:solidFill>
              <a:srgbClr val="F59E0B"/>
            </a:solidFill>
            <a:prstDash val="solid"/>
          </a:ln>
        </p:spPr>
        <p:txBody>
          <a:bodyPr/>
          <a:lstStyle/>
          <a:p>
            <a:endParaRPr lang="en-IN"/>
          </a:p>
        </p:txBody>
      </p:sp>
      <p:sp>
        <p:nvSpPr>
          <p:cNvPr id="101" name="Shape 41"/>
          <p:cNvSpPr/>
          <p:nvPr/>
        </p:nvSpPr>
        <p:spPr>
          <a:xfrm>
            <a:off x="235131" y="3584448"/>
            <a:ext cx="2743200" cy="36576"/>
          </a:xfrm>
          <a:prstGeom prst="rect">
            <a:avLst/>
          </a:prstGeom>
          <a:solidFill>
            <a:srgbClr val="F59E0B"/>
          </a:solidFill>
          <a:ln/>
        </p:spPr>
        <p:txBody>
          <a:bodyPr/>
          <a:lstStyle/>
          <a:p>
            <a:endParaRPr lang="en-IN"/>
          </a:p>
        </p:txBody>
      </p:sp>
      <p:pic>
        <p:nvPicPr>
          <p:cNvPr id="102" name="Image 6" descr="preencoded.png"/>
          <p:cNvPicPr>
            <a:picLocks noChangeAspect="1"/>
          </p:cNvPicPr>
          <p:nvPr/>
        </p:nvPicPr>
        <p:blipFill>
          <a:blip r:embed="rId9"/>
          <a:stretch>
            <a:fillRect/>
          </a:stretch>
        </p:blipFill>
        <p:spPr>
          <a:xfrm>
            <a:off x="363147" y="3712464"/>
            <a:ext cx="256032" cy="256032"/>
          </a:xfrm>
          <a:prstGeom prst="rect">
            <a:avLst/>
          </a:prstGeom>
        </p:spPr>
      </p:pic>
      <p:sp>
        <p:nvSpPr>
          <p:cNvPr id="103" name="Text 42"/>
          <p:cNvSpPr/>
          <p:nvPr/>
        </p:nvSpPr>
        <p:spPr>
          <a:xfrm>
            <a:off x="692331" y="3694176"/>
            <a:ext cx="2157984" cy="27432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Information &gt; chips</a:t>
            </a:r>
            <a:endParaRPr lang="en-US" sz="1300" dirty="0"/>
          </a:p>
        </p:txBody>
      </p:sp>
      <p:sp>
        <p:nvSpPr>
          <p:cNvPr id="104" name="Shape 43"/>
          <p:cNvSpPr/>
          <p:nvPr/>
        </p:nvSpPr>
        <p:spPr>
          <a:xfrm>
            <a:off x="363147" y="4023360"/>
            <a:ext cx="2487168" cy="0"/>
          </a:xfrm>
          <a:prstGeom prst="line">
            <a:avLst/>
          </a:prstGeom>
          <a:noFill/>
          <a:ln w="3810">
            <a:solidFill>
              <a:srgbClr val="475569"/>
            </a:solidFill>
            <a:prstDash val="solid"/>
          </a:ln>
        </p:spPr>
        <p:txBody>
          <a:bodyPr/>
          <a:lstStyle/>
          <a:p>
            <a:endParaRPr lang="en-IN"/>
          </a:p>
        </p:txBody>
      </p:sp>
      <p:sp>
        <p:nvSpPr>
          <p:cNvPr id="105" name="Text 44"/>
          <p:cNvSpPr/>
          <p:nvPr/>
        </p:nvSpPr>
        <p:spPr>
          <a:xfrm>
            <a:off x="363147" y="4078224"/>
            <a:ext cx="2487168" cy="713232"/>
          </a:xfrm>
          <a:prstGeom prst="rect">
            <a:avLst/>
          </a:prstGeom>
          <a:noFill/>
          <a:ln/>
        </p:spPr>
        <p:txBody>
          <a:bodyPr wrap="square" lIns="0" tIns="0" rIns="0" bIns="0" rtlCol="0" anchor="t"/>
          <a:lstStyle/>
          <a:p>
            <a:pPr marL="0" indent="0">
              <a:buNone/>
            </a:pPr>
            <a:r>
              <a:rPr lang="en-US" sz="850" dirty="0">
                <a:solidFill>
                  <a:srgbClr val="94A3B8"/>
                </a:solidFill>
                <a:latin typeface="Calibri" pitchFamily="34" charset="0"/>
                <a:ea typeface="Calibri" pitchFamily="34" charset="-122"/>
                <a:cs typeface="Calibri" pitchFamily="34" charset="-120"/>
              </a:rPr>
              <a:t>The auction is the real game. A 2nd-price bid that wins cheaply gives exact equity - turning every subsequent street into a near-solved decision.</a:t>
            </a:r>
            <a:endParaRPr lang="en-US" sz="850" dirty="0"/>
          </a:p>
        </p:txBody>
      </p:sp>
      <p:sp>
        <p:nvSpPr>
          <p:cNvPr id="106" name="Shape 45"/>
          <p:cNvSpPr/>
          <p:nvPr/>
        </p:nvSpPr>
        <p:spPr>
          <a:xfrm>
            <a:off x="3088059" y="3584448"/>
            <a:ext cx="2743200" cy="1335024"/>
          </a:xfrm>
          <a:prstGeom prst="rect">
            <a:avLst/>
          </a:prstGeom>
          <a:solidFill>
            <a:srgbClr val="1A2744"/>
          </a:solidFill>
          <a:ln w="5080">
            <a:solidFill>
              <a:srgbClr val="14B8A6"/>
            </a:solidFill>
            <a:prstDash val="solid"/>
          </a:ln>
        </p:spPr>
        <p:txBody>
          <a:bodyPr/>
          <a:lstStyle/>
          <a:p>
            <a:endParaRPr lang="en-IN"/>
          </a:p>
        </p:txBody>
      </p:sp>
      <p:sp>
        <p:nvSpPr>
          <p:cNvPr id="107" name="Shape 46"/>
          <p:cNvSpPr/>
          <p:nvPr/>
        </p:nvSpPr>
        <p:spPr>
          <a:xfrm>
            <a:off x="3088059" y="3584448"/>
            <a:ext cx="2743200" cy="36576"/>
          </a:xfrm>
          <a:prstGeom prst="rect">
            <a:avLst/>
          </a:prstGeom>
          <a:solidFill>
            <a:srgbClr val="14B8A6"/>
          </a:solidFill>
          <a:ln/>
        </p:spPr>
        <p:txBody>
          <a:bodyPr/>
          <a:lstStyle/>
          <a:p>
            <a:endParaRPr lang="en-IN"/>
          </a:p>
        </p:txBody>
      </p:sp>
      <p:pic>
        <p:nvPicPr>
          <p:cNvPr id="108" name="Image 7" descr="preencoded.png"/>
          <p:cNvPicPr>
            <a:picLocks noChangeAspect="1"/>
          </p:cNvPicPr>
          <p:nvPr/>
        </p:nvPicPr>
        <p:blipFill>
          <a:blip r:embed="rId10"/>
          <a:stretch>
            <a:fillRect/>
          </a:stretch>
        </p:blipFill>
        <p:spPr>
          <a:xfrm>
            <a:off x="3216075" y="3712464"/>
            <a:ext cx="256032" cy="256032"/>
          </a:xfrm>
          <a:prstGeom prst="rect">
            <a:avLst/>
          </a:prstGeom>
        </p:spPr>
      </p:pic>
      <p:sp>
        <p:nvSpPr>
          <p:cNvPr id="109" name="Text 47"/>
          <p:cNvSpPr/>
          <p:nvPr/>
        </p:nvSpPr>
        <p:spPr>
          <a:xfrm>
            <a:off x="3545259" y="3694176"/>
            <a:ext cx="2157984" cy="274320"/>
          </a:xfrm>
          <a:prstGeom prst="rect">
            <a:avLst/>
          </a:prstGeom>
          <a:noFill/>
          <a:ln/>
        </p:spPr>
        <p:txBody>
          <a:bodyPr wrap="square" lIns="0" tIns="0" rIns="0" bIns="0" rtlCol="0" anchor="ctr"/>
          <a:lstStyle/>
          <a:p>
            <a:pPr marL="0" indent="0">
              <a:buNone/>
            </a:pPr>
            <a:r>
              <a:rPr lang="en-US" sz="1300" b="1" dirty="0">
                <a:solidFill>
                  <a:srgbClr val="14B8A6"/>
                </a:solidFill>
                <a:latin typeface="Calibri" pitchFamily="34" charset="0"/>
                <a:ea typeface="Calibri" pitchFamily="34" charset="-122"/>
                <a:cs typeface="Calibri" pitchFamily="34" charset="-120"/>
              </a:rPr>
              <a:t>Asymmetry is alpha</a:t>
            </a:r>
            <a:endParaRPr lang="en-US" sz="1300" dirty="0"/>
          </a:p>
        </p:txBody>
      </p:sp>
      <p:sp>
        <p:nvSpPr>
          <p:cNvPr id="110" name="Shape 48"/>
          <p:cNvSpPr/>
          <p:nvPr/>
        </p:nvSpPr>
        <p:spPr>
          <a:xfrm>
            <a:off x="3216075" y="4023360"/>
            <a:ext cx="2487168" cy="0"/>
          </a:xfrm>
          <a:prstGeom prst="line">
            <a:avLst/>
          </a:prstGeom>
          <a:noFill/>
          <a:ln w="3810">
            <a:solidFill>
              <a:srgbClr val="475569"/>
            </a:solidFill>
            <a:prstDash val="solid"/>
          </a:ln>
        </p:spPr>
        <p:txBody>
          <a:bodyPr/>
          <a:lstStyle/>
          <a:p>
            <a:endParaRPr lang="en-IN"/>
          </a:p>
        </p:txBody>
      </p:sp>
      <p:sp>
        <p:nvSpPr>
          <p:cNvPr id="111" name="Text 49"/>
          <p:cNvSpPr/>
          <p:nvPr/>
        </p:nvSpPr>
        <p:spPr>
          <a:xfrm>
            <a:off x="3216075" y="4078224"/>
            <a:ext cx="2487168" cy="713232"/>
          </a:xfrm>
          <a:prstGeom prst="rect">
            <a:avLst/>
          </a:prstGeom>
          <a:noFill/>
          <a:ln/>
        </p:spPr>
        <p:txBody>
          <a:bodyPr wrap="square" lIns="0" tIns="0" rIns="0" bIns="0" rtlCol="0" anchor="t"/>
          <a:lstStyle/>
          <a:p>
            <a:pPr marL="0" indent="0">
              <a:buNone/>
            </a:pPr>
            <a:r>
              <a:rPr lang="en-US" sz="850" dirty="0">
                <a:solidFill>
                  <a:srgbClr val="94A3B8"/>
                </a:solidFill>
                <a:latin typeface="Calibri" pitchFamily="34" charset="0"/>
                <a:ea typeface="Calibri" pitchFamily="34" charset="-122"/>
                <a:cs typeface="Calibri" pitchFamily="34" charset="-120"/>
              </a:rPr>
              <a:t>Most bots play identically regardless of who sees the card. Separate strategies for "we have info" vs "they have info" extracts value others leave on the table.</a:t>
            </a:r>
            <a:endParaRPr lang="en-US" sz="850" dirty="0"/>
          </a:p>
        </p:txBody>
      </p:sp>
      <p:sp>
        <p:nvSpPr>
          <p:cNvPr id="112" name="Shape 50"/>
          <p:cNvSpPr/>
          <p:nvPr/>
        </p:nvSpPr>
        <p:spPr>
          <a:xfrm>
            <a:off x="5940987" y="3584448"/>
            <a:ext cx="2743200" cy="1335024"/>
          </a:xfrm>
          <a:prstGeom prst="rect">
            <a:avLst/>
          </a:prstGeom>
          <a:solidFill>
            <a:srgbClr val="1A2744"/>
          </a:solidFill>
          <a:ln w="5080">
            <a:solidFill>
              <a:srgbClr val="A78BFA"/>
            </a:solidFill>
            <a:prstDash val="solid"/>
          </a:ln>
        </p:spPr>
        <p:txBody>
          <a:bodyPr/>
          <a:lstStyle/>
          <a:p>
            <a:endParaRPr lang="en-IN"/>
          </a:p>
        </p:txBody>
      </p:sp>
      <p:sp>
        <p:nvSpPr>
          <p:cNvPr id="113" name="Shape 51"/>
          <p:cNvSpPr/>
          <p:nvPr/>
        </p:nvSpPr>
        <p:spPr>
          <a:xfrm>
            <a:off x="5940987" y="3584448"/>
            <a:ext cx="2743200" cy="36576"/>
          </a:xfrm>
          <a:prstGeom prst="rect">
            <a:avLst/>
          </a:prstGeom>
          <a:solidFill>
            <a:srgbClr val="A78BFA"/>
          </a:solidFill>
          <a:ln/>
        </p:spPr>
        <p:txBody>
          <a:bodyPr/>
          <a:lstStyle/>
          <a:p>
            <a:endParaRPr lang="en-IN"/>
          </a:p>
        </p:txBody>
      </p:sp>
      <p:pic>
        <p:nvPicPr>
          <p:cNvPr id="114" name="Image 8" descr="preencoded.png"/>
          <p:cNvPicPr>
            <a:picLocks noChangeAspect="1"/>
          </p:cNvPicPr>
          <p:nvPr/>
        </p:nvPicPr>
        <p:blipFill>
          <a:blip r:embed="rId11"/>
          <a:stretch>
            <a:fillRect/>
          </a:stretch>
        </p:blipFill>
        <p:spPr>
          <a:xfrm>
            <a:off x="6069003" y="3712464"/>
            <a:ext cx="256032" cy="256032"/>
          </a:xfrm>
          <a:prstGeom prst="rect">
            <a:avLst/>
          </a:prstGeom>
        </p:spPr>
      </p:pic>
      <p:sp>
        <p:nvSpPr>
          <p:cNvPr id="115" name="Text 52"/>
          <p:cNvSpPr/>
          <p:nvPr/>
        </p:nvSpPr>
        <p:spPr>
          <a:xfrm>
            <a:off x="6398187" y="3694176"/>
            <a:ext cx="2157984" cy="274320"/>
          </a:xfrm>
          <a:prstGeom prst="rect">
            <a:avLst/>
          </a:prstGeom>
          <a:noFill/>
          <a:ln/>
        </p:spPr>
        <p:txBody>
          <a:bodyPr wrap="square" lIns="0" tIns="0" rIns="0" bIns="0" rtlCol="0" anchor="ctr"/>
          <a:lstStyle/>
          <a:p>
            <a:pPr marL="0" indent="0">
              <a:buNone/>
            </a:pPr>
            <a:r>
              <a:rPr lang="en-US" sz="1300" b="1" dirty="0">
                <a:solidFill>
                  <a:srgbClr val="A78BFA"/>
                </a:solidFill>
                <a:latin typeface="Calibri" pitchFamily="34" charset="0"/>
                <a:ea typeface="Calibri" pitchFamily="34" charset="-122"/>
                <a:cs typeface="Calibri" pitchFamily="34" charset="-120"/>
              </a:rPr>
              <a:t>Adapt fast, degrade gracefully</a:t>
            </a:r>
            <a:endParaRPr lang="en-US" sz="1300" dirty="0"/>
          </a:p>
        </p:txBody>
      </p:sp>
      <p:sp>
        <p:nvSpPr>
          <p:cNvPr id="116" name="Shape 53"/>
          <p:cNvSpPr/>
          <p:nvPr/>
        </p:nvSpPr>
        <p:spPr>
          <a:xfrm>
            <a:off x="6069003" y="4023360"/>
            <a:ext cx="2487168" cy="0"/>
          </a:xfrm>
          <a:prstGeom prst="line">
            <a:avLst/>
          </a:prstGeom>
          <a:noFill/>
          <a:ln w="3810">
            <a:solidFill>
              <a:srgbClr val="475569"/>
            </a:solidFill>
            <a:prstDash val="solid"/>
          </a:ln>
        </p:spPr>
        <p:txBody>
          <a:bodyPr/>
          <a:lstStyle/>
          <a:p>
            <a:endParaRPr lang="en-IN"/>
          </a:p>
        </p:txBody>
      </p:sp>
      <p:sp>
        <p:nvSpPr>
          <p:cNvPr id="117" name="Text 54"/>
          <p:cNvSpPr/>
          <p:nvPr/>
        </p:nvSpPr>
        <p:spPr>
          <a:xfrm>
            <a:off x="6069003" y="4078224"/>
            <a:ext cx="2487168" cy="713232"/>
          </a:xfrm>
          <a:prstGeom prst="rect">
            <a:avLst/>
          </a:prstGeom>
          <a:noFill/>
          <a:ln/>
        </p:spPr>
        <p:txBody>
          <a:bodyPr wrap="square" lIns="0" tIns="0" rIns="0" bIns="0" rtlCol="0" anchor="t"/>
          <a:lstStyle/>
          <a:p>
            <a:pPr marL="0" indent="0">
              <a:buNone/>
            </a:pPr>
            <a:r>
              <a:rPr lang="en-US" sz="850" dirty="0">
                <a:solidFill>
                  <a:srgbClr val="94A3B8"/>
                </a:solidFill>
                <a:latin typeface="Calibri" pitchFamily="34" charset="0"/>
                <a:ea typeface="Calibri" pitchFamily="34" charset="-122"/>
                <a:cs typeface="Calibri" pitchFamily="34" charset="-120"/>
              </a:rPr>
              <a:t>With 20s across 1,000 rounds, every millisecond counts. A 3-tier equity engine (table → MC → exhaustive) gives the right precision while staying under budget.</a:t>
            </a:r>
            <a:endParaRPr lang="en-US" sz="850" dirty="0"/>
          </a:p>
        </p:txBody>
      </p:sp>
      <p:sp>
        <p:nvSpPr>
          <p:cNvPr id="3" name="TextBox 2">
            <a:extLst>
              <a:ext uri="{FF2B5EF4-FFF2-40B4-BE49-F238E27FC236}">
                <a16:creationId xmlns:a16="http://schemas.microsoft.com/office/drawing/2014/main" id="{FCC1B33D-0F3F-33C9-4A28-227B1ACBB609}"/>
              </a:ext>
            </a:extLst>
          </p:cNvPr>
          <p:cNvSpPr txBox="1"/>
          <p:nvPr/>
        </p:nvSpPr>
        <p:spPr>
          <a:xfrm>
            <a:off x="4022017" y="719686"/>
            <a:ext cx="4841132" cy="369332"/>
          </a:xfrm>
          <a:prstGeom prst="rect">
            <a:avLst/>
          </a:prstGeom>
          <a:noFill/>
        </p:spPr>
        <p:txBody>
          <a:bodyPr wrap="square" rtlCol="0">
            <a:spAutoFit/>
          </a:bodyPr>
          <a:lstStyle/>
          <a:p>
            <a:r>
              <a:rPr lang="en-US" sz="900" b="1" i="1" dirty="0" err="1">
                <a:solidFill>
                  <a:srgbClr val="7C899F"/>
                </a:solidFill>
              </a:rPr>
              <a:t>DominatorBot</a:t>
            </a:r>
            <a:r>
              <a:rPr lang="en-US" sz="900" b="1" i="1" dirty="0">
                <a:solidFill>
                  <a:srgbClr val="7C899F"/>
                </a:solidFill>
              </a:rPr>
              <a:t> excels through precise hand reading, aggressive information control, and a robust architecture that adapts quickly while remaining stable under pressure.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1F90135-DA05-4B76-A226-116F391109BC}">
  <we:reference id="wa200010001" version="1.0.0.1" store="en-US" storeType="OMEX"/>
  <we:alternateReferences>
    <we:reference id="WA200010001" version="1.0.0.1" store="WA20001000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1350</TotalTime>
  <Words>4656</Words>
  <Application>Microsoft Office PowerPoint</Application>
  <PresentationFormat>On-screen Show (16:9)</PresentationFormat>
  <Paragraphs>525</Paragraphs>
  <Slides>20</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Arial Black</vt:lpstr>
      <vt:lpstr>Bahnschrift</vt:lpstr>
      <vt:lpstr>Calibri</vt:lpstr>
      <vt:lpstr>Cambria Math</vt:lpstr>
      <vt:lpstr>Consolas</vt:lpstr>
      <vt:lpstr>Courier New</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IIT Pokerbots 2026 — Team NOTATO</dc:title>
  <dc:subject>PptxGenJS Presentation</dc:subject>
  <dc:creator>PptxGenJS</dc:creator>
  <cp:lastModifiedBy>Anant Jain</cp:lastModifiedBy>
  <cp:revision>8</cp:revision>
  <dcterms:created xsi:type="dcterms:W3CDTF">2026-03-22T03:35:05Z</dcterms:created>
  <dcterms:modified xsi:type="dcterms:W3CDTF">2026-06-18T21:13:02Z</dcterms:modified>
</cp:coreProperties>
</file>